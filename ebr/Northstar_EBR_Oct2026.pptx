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sults" id="{94b35f01-40dd-06fa-b70f-2b19c4551b67}">
          <p14:sldIdLst>
            <p14:sldId id="256"/>
            <p14:sldId id="257"/>
            <p14:sldId id="258"/>
          </p14:sldIdLst>
        </p14:section>
        <p14:section name="Expansion" id="{2b3fcfbd-308e-abef-01fe-4664299a3d7b}">
          <p14:sldIdLst>
            <p14:sldId id="259"/>
            <p14:sldId id="260"/>
            <p14:sldId id="261"/>
          </p14:sldIdLst>
        </p14:section>
        <p14:section name="Decision" id="{eb3d59db-1b5b-ad09-0897-c7d45138365d}">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Grounded answers (92.2% → 96.0%)</c:v>
                </c:pt>
              </c:strCache>
            </c:strRef>
          </c:tx>
          <c:spPr>
            <a:solidFill>
              <a:srgbClr val="6720FF"/>
            </a:solidFill>
            <a:ln w="31750" cap="flat">
              <a:solidFill>
                <a:srgbClr val="6720F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6720FF"/>
              </a:solidFill>
              <a:ln w="9525" cap="flat">
                <a:solidFill>
                  <a:srgbClr val="6720FF"/>
                </a:solidFill>
                <a:prstDash val="solid"/>
                <a:round/>
              </a:ln>
              <a:effectLst/>
            </c:spPr>
          </c:marker>
          <c:cat>
            <c:multiLvlStrRef>
              <c:f>Sheet1!$A$2:$A$5</c:f>
              <c:multiLvlStrCache>
                <c:ptCount val="4"/>
                <c:lvl>
                  <c:pt idx="0">
                    <c:v>Week 1</c:v>
                  </c:pt>
                  <c:pt idx="1">
                    <c:v>Week 2</c:v>
                  </c:pt>
                  <c:pt idx="2">
                    <c:v>Week 3</c:v>
                  </c:pt>
                  <c:pt idx="3">
                    <c:v>Final week</c:v>
                  </c:pt>
                </c:lvl>
              </c:multiLvlStrCache>
            </c:multiLvlStrRef>
          </c:cat>
          <c:val>
            <c:numRef>
              <c:f>Sheet1!$B$2:$B$5</c:f>
              <c:numCache>
                <c:formatCode>General</c:formatCode>
                <c:ptCount val="4"/>
                <c:pt idx="0">
                  <c:v>92.2</c:v>
                </c:pt>
                <c:pt idx="1">
                  <c:v>93</c:v>
                </c:pt>
                <c:pt idx="2">
                  <c:v>94</c:v>
                </c:pt>
                <c:pt idx="3">
                  <c:v>96</c:v>
                </c:pt>
              </c:numCache>
            </c:numRef>
          </c:val>
          <c:smooth val="0"/>
        </c:ser>
        <c:ser>
          <c:idx val="1"/>
          <c:order val="1"/>
          <c:tx>
            <c:strRef>
              <c:f>Sheet1!$C$1</c:f>
              <c:strCache>
                <c:ptCount val="1"/>
                <c:pt idx="0">
                  <c:v>Eval pass rate (91.4% → 94.8%)</c:v>
                </c:pt>
              </c:strCache>
            </c:strRef>
          </c:tx>
          <c:spPr>
            <a:solidFill>
              <a:srgbClr val="1DA28F"/>
            </a:solidFill>
            <a:ln w="31750" cap="flat">
              <a:solidFill>
                <a:srgbClr val="1DA2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1DA28F"/>
              </a:solidFill>
              <a:ln w="9525" cap="flat">
                <a:solidFill>
                  <a:srgbClr val="1DA28F"/>
                </a:solidFill>
                <a:prstDash val="solid"/>
                <a:round/>
              </a:ln>
              <a:effectLst/>
            </c:spPr>
          </c:marker>
          <c:cat>
            <c:multiLvlStrRef>
              <c:f>Sheet1!$A$2:$A$5</c:f>
              <c:multiLvlStrCache>
                <c:ptCount val="4"/>
                <c:lvl>
                  <c:pt idx="0">
                    <c:v>Week 1</c:v>
                  </c:pt>
                  <c:pt idx="1">
                    <c:v>Week 2</c:v>
                  </c:pt>
                  <c:pt idx="2">
                    <c:v>Week 3</c:v>
                  </c:pt>
                  <c:pt idx="3">
                    <c:v>Final week</c:v>
                  </c:pt>
                </c:lvl>
              </c:multiLvlStrCache>
            </c:multiLvlStrRef>
          </c:cat>
          <c:val>
            <c:numRef>
              <c:f>Sheet1!$C$2:$C$5</c:f>
              <c:numCache>
                <c:formatCode>General</c:formatCode>
                <c:ptCount val="4"/>
                <c:pt idx="0">
                  <c:v>91.4</c:v>
                </c:pt>
                <c:pt idx="1">
                  <c:v>92.3</c:v>
                </c:pt>
                <c:pt idx="2">
                  <c:v>93.4</c:v>
                </c:pt>
                <c:pt idx="3">
                  <c:v>94.8</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A5E63"/>
                </a:solidFill>
                <a:latin typeface="+mn-lt"/>
              </a:defRPr>
            </a:pPr>
            <a:endParaRPr lang="en-US"/>
          </a:p>
        </c:txPr>
        <c:crossAx val="2094734552"/>
        <c:crosses val="autoZero"/>
        <c:auto val="1"/>
        <c:lblAlgn val="ctr"/>
        <c:noMultiLvlLbl val="1"/>
      </c:catAx>
      <c:valAx>
        <c:axId val="2094734552"/>
        <c:scaling>
          <c:orientation val="minMax"/>
          <c:max val="98"/>
          <c:min val="88"/>
        </c:scaling>
        <c:delete val="0"/>
        <c:axPos val="l"/>
        <c:majorGridlines>
          <c:spPr>
            <a:ln w="9525" cap="flat">
              <a:solidFill>
                <a:srgbClr val="E6EAF4"/>
              </a:solidFill>
              <a:prstDash val="solid"/>
              <a:round/>
            </a:ln>
          </c:spPr>
        </c:majorGridlines>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A5E63"/>
                </a:solidFill>
                <a:latin typeface="+mn-lt"/>
              </a:defRPr>
            </a:pPr>
            <a:endParaRPr lang="en-US"/>
          </a:p>
        </c:txPr>
        <c:crossAx val="2094734554"/>
        <c:crosses val="autoZero"/>
        <c:crossBetween val="between"/>
        <c:majorUnit val="2"/>
      </c:valAx>
      <c:spPr>
        <a:noFill/>
        <a:ln>
          <a:noFill/>
        </a:ln>
        <a:effectLst/>
      </c:spPr>
    </c:plotArea>
    <c:legend>
      <c:legendPos val="b"/>
      <c:overlay val="0"/>
      <c:txPr>
        <a:bodyPr/>
        <a:lstStyle/>
        <a:p>
          <a:pPr>
            <a:defRPr sz="1100">
              <a:solidFill>
                <a:schemeClr val="tx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outcome, and give the caveat in the same breath. 70% of Tier-1 volume is the month-end figure: the August average is 67.9%, and 70% was first reached on 27 Aug. Handle time and CSAT improved within the month; the headline −35% and +12 points depend on Northstar’s own pre-launch baselines, which we will validate together. Availability was 99.85%, with two named dips: the catalogue sync on 9 Aug and the promotion traffic on 21 Aug.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moved in one direction all month: grounding 92.2% to 96.0%, eval pass 91.4% to 94.8%, escalations 14.2% to 11.5%. Automation is still climbing, so the 70% is not a ceiling. Two honest flags: availability met 99.9% on only 4 days, which the next slide addresses, and requests per ticket rose from 4.6 to 6.2. That second one is for a joint review: it could be longer conversations, repeat contacts or traffic that isn’t tied to a ticket.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about what we know. Availability averaged 99.85% and missed 99.9% on 27 of 31 days, 25 of them outside the two incidents, so this is not just the burst days. At 19,000 to 31,000 requests a day Atlas is unlikely to sit idle at zero for long, so we should not assume cold starts are the cause. The next step is the deployment telemetry: scale-up events and error codes by hour. Meanwhile we retune scale-up thresholds and pre-warm before planned promotions. Always-on capacity for Atlas alone would cost about $5.8k a month, $8.8k with EU-only placement; we would only recommend it if the telemetry shows scale-up is driving the misses. On the shared deployment the same capacity is about $1.2k to $1.8k per brand.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one open-weight base model on a shared deployment, one adapter per brand for tone and policy, and a separate knowledge index and system prompt per brand. Atlas’s adapter moves over unchanged. Data isolation sits where it matters, in each brand’s index and adapter. Halden, the largest brand, can move to its own deployment once its volume keeps capacity busy. Why not reuse Atlas with a new prompt: its tone and return policies are learned and would leak. Why not five separate models: five deployments to run and retrain, and the smaller brands don’t have enough transcripts.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pilot is designed so the cheapest option gets a fair test. Arm A uses no brand-specific training; if it clears every criterion, we skip the adapter. Arm B adds a Ridgeline adapter. Both run for four weeks against criteria we agree today. We also capture Ridgeline’s baselines before launch, so we can measure the uplift directly rather than rely on supplied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Sequence: agree the sponsor and dependencies this month, stand up the shared deployment and prove Atlas parity in November, run the Ridgeline pilot through December, read out in January, then Halden and Polar in Q1 and Harbour &amp; Hide in Q2. Budget: the shared deployment runs at about $5.8k a month, $8.8k with EU-only placement, during the pilot; training cost is immaterial. In steady state one deployment is shared by four brands, with a second for Halden when its volume justifies it. The overlap while Atlas moves is budgeted in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 risk that matters: if group sponsorship doesn’t happen, the rollout stays with Atlas and the shared capacity never pays for itself. Ask for three things: a named group sponsor, joint agreement on the Ridgeline criteria, and shared capacity sized alongside a second brand, based on what the telemetry shows. Then land the five messages.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566928"/>
            <a:ext cx="82296" cy="82296"/>
          </a:xfrm>
          <a:prstGeom prst="rect">
            <a:avLst/>
          </a:prstGeom>
          <a:solidFill>
            <a:srgbClr val="501BC4"/>
          </a:solidFill>
          <a:ln/>
        </p:spPr>
      </p:sp>
      <p:sp>
        <p:nvSpPr>
          <p:cNvPr id="3" name="Text 1"/>
          <p:cNvSpPr/>
          <p:nvPr>
            <p:ph idx="101" type="body" hasCustomPrompt="1"/>
          </p:nvPr>
        </p:nvSpPr>
        <p:spPr>
          <a:xfrm>
            <a:off x="704088" y="457200"/>
            <a:ext cx="8229600" cy="292608"/>
          </a:xfrm>
          <a:prstGeom prst="rect">
            <a:avLst/>
          </a:prstGeom>
          <a:noFill/>
          <a:ln/>
        </p:spPr>
        <p:txBody>
          <a:bodyPr wrap="square" rtlCol="0"/>
          <a:lstStyle>
            <a:lvl1pPr indent="0" marL="0">
              <a:buNone/>
              <a:defRPr lang="en-US" sz="1200" b="1" spc="150" kern="0" dirty="0">
                <a:solidFill>
                  <a:schemeClr val="tx1"/>
                </a:solidFill>
              </a:defRPr>
            </a:lvl1pPr>
          </a:lstStyle>
          <a:p>
            <a:pPr indent="0" marL="0">
              <a:buNone/>
            </a:pPr>
            <a:endParaRPr lang="en-US" sz="1200" dirty="0"/>
          </a:p>
        </p:txBody>
      </p:sp>
      <p:sp>
        <p:nvSpPr>
          <p:cNvPr id="4" name="Text 1"/>
          <p:cNvSpPr/>
          <p:nvPr>
            <p:ph idx="102" type="title" hasCustomPrompt="1"/>
          </p:nvPr>
        </p:nvSpPr>
        <p:spPr>
          <a:xfrm>
            <a:off x="548640" y="804672"/>
            <a:ext cx="11094415" cy="82296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pic>
        <p:nvPicPr>
          <p:cNvPr id="5" name="Image 0" descr="preencoded.png">    </p:cNvPr>
          <p:cNvPicPr>
            <a:picLocks noChangeAspect="1"/>
          </p:cNvPicPr>
          <p:nvPr/>
        </p:nvPicPr>
        <p:blipFill>
          <a:blip r:embed="rId1"/>
          <a:stretch>
            <a:fillRect/>
          </a:stretch>
        </p:blipFill>
        <p:spPr>
          <a:xfrm>
            <a:off x="548640" y="6336792"/>
            <a:ext cx="1353312" cy="173736"/>
          </a:xfrm>
          <a:prstGeom prst="rect">
            <a:avLst/>
          </a:prstGeom>
        </p:spPr>
      </p:pic>
      <p:sp>
        <p:nvSpPr>
          <p:cNvPr id="6" name="Text 1"/>
          <p:cNvSpPr/>
          <p:nvPr/>
        </p:nvSpPr>
        <p:spPr>
          <a:xfrm>
            <a:off x="3840480" y="6291072"/>
            <a:ext cx="7223760" cy="274320"/>
          </a:xfrm>
          <a:prstGeom prst="rect">
            <a:avLst/>
          </a:prstGeom>
          <a:noFill/>
          <a:ln/>
        </p:spPr>
        <p:txBody>
          <a:bodyPr wrap="square" lIns="0" tIns="0" rIns="0" bIns="0" rtlCol="0" anchor="ctr"/>
          <a:lstStyle/>
          <a:p>
            <a:pPr algn="r" indent="0" marL="0">
              <a:buNone/>
            </a:pPr>
            <a:r>
              <a:rPr lang="en-US" sz="1000" dirty="0">
                <a:solidFill>
                  <a:srgbClr val="5A5E63"/>
                </a:solidFill>
              </a:rPr>
              <a:t>Northstar Retail Group · Executive Business Review · October 2026</a:t>
            </a:r>
            <a:endParaRPr lang="en-US" sz="10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E63"/>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0052"/>
        </a:solidFill>
      </p:bgPr>
    </p:bg>
    <p:spTree>
      <p:nvGrpSpPr>
        <p:cNvPr id="1" name=""/>
        <p:cNvGrpSpPr/>
        <p:nvPr/>
      </p:nvGrpSpPr>
      <p:grpSpPr>
        <a:xfrm>
          <a:off x="0" y="0"/>
          <a:ext cx="0" cy="0"/>
          <a:chOff x="0" y="0"/>
          <a:chExt cx="0" cy="0"/>
        </a:xfrm>
      </p:grpSpPr>
      <p:sp>
        <p:nvSpPr>
          <p:cNvPr id="2" name="Shape 0"/>
          <p:cNvSpPr/>
          <p:nvPr/>
        </p:nvSpPr>
        <p:spPr>
          <a:xfrm>
            <a:off x="548640" y="566928"/>
            <a:ext cx="82296" cy="82296"/>
          </a:xfrm>
          <a:prstGeom prst="rect">
            <a:avLst/>
          </a:prstGeom>
          <a:solidFill>
            <a:srgbClr val="CEB4FF"/>
          </a:solidFill>
          <a:ln/>
        </p:spPr>
      </p:sp>
      <p:sp>
        <p:nvSpPr>
          <p:cNvPr id="3" name="Text 1"/>
          <p:cNvSpPr/>
          <p:nvPr>
            <p:ph idx="101" type="body" hasCustomPrompt="1"/>
          </p:nvPr>
        </p:nvSpPr>
        <p:spPr>
          <a:xfrm>
            <a:off x="704088" y="457200"/>
            <a:ext cx="8229600" cy="292608"/>
          </a:xfrm>
          <a:prstGeom prst="rect">
            <a:avLst/>
          </a:prstGeom>
          <a:noFill/>
          <a:ln/>
        </p:spPr>
        <p:txBody>
          <a:bodyPr wrap="square" rtlCol="0"/>
          <a:lstStyle>
            <a:lvl1pPr indent="0" marL="0">
              <a:buNone/>
              <a:defRPr lang="en-US" sz="1200" b="1" spc="150" kern="0" dirty="0">
                <a:solidFill>
                  <a:srgbClr val="CEB4FF"/>
                </a:solidFill>
              </a:defRPr>
            </a:lvl1pPr>
          </a:lstStyle>
          <a:p>
            <a:pPr indent="0" marL="0">
              <a:buNone/>
            </a:pPr>
            <a:endParaRPr lang="en-US" sz="1200" dirty="0"/>
          </a:p>
        </p:txBody>
      </p:sp>
      <p:sp>
        <p:nvSpPr>
          <p:cNvPr id="4" name="Text 1"/>
          <p:cNvSpPr/>
          <p:nvPr>
            <p:ph idx="102" type="title" hasCustomPrompt="1"/>
          </p:nvPr>
        </p:nvSpPr>
        <p:spPr>
          <a:xfrm>
            <a:off x="548640" y="804672"/>
            <a:ext cx="11094415" cy="82296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5" name="Image 0" descr="preencoded.png">    </p:cNvPr>
          <p:cNvPicPr>
            <a:picLocks noChangeAspect="1"/>
          </p:cNvPicPr>
          <p:nvPr/>
        </p:nvPicPr>
        <p:blipFill>
          <a:blip r:embed="rId1"/>
          <a:stretch>
            <a:fillRect/>
          </a:stretch>
        </p:blipFill>
        <p:spPr>
          <a:xfrm>
            <a:off x="548640" y="6336792"/>
            <a:ext cx="1353312" cy="173736"/>
          </a:xfrm>
          <a:prstGeom prst="rect">
            <a:avLst/>
          </a:prstGeom>
        </p:spPr>
      </p:pic>
      <p:sp>
        <p:nvSpPr>
          <p:cNvPr id="6" name="Text 1"/>
          <p:cNvSpPr/>
          <p:nvPr/>
        </p:nvSpPr>
        <p:spPr>
          <a:xfrm>
            <a:off x="3840480" y="6291072"/>
            <a:ext cx="7223760" cy="274320"/>
          </a:xfrm>
          <a:prstGeom prst="rect">
            <a:avLst/>
          </a:prstGeom>
          <a:noFill/>
          <a:ln/>
        </p:spPr>
        <p:txBody>
          <a:bodyPr wrap="square" lIns="0" tIns="0" rIns="0" bIns="0" rtlCol="0" anchor="ctr"/>
          <a:lstStyle/>
          <a:p>
            <a:pPr algn="r" indent="0" marL="0">
              <a:buNone/>
            </a:pPr>
            <a:r>
              <a:rPr lang="en-US" sz="1000" dirty="0">
                <a:solidFill>
                  <a:srgbClr val="CEB4FF"/>
                </a:solidFill>
              </a:rPr>
              <a:t>Northstar Retail Group · Executive Business Review · October 2026</a:t>
            </a:r>
            <a:endParaRPr lang="en-US" sz="10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EB4F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E6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body" hasCustomPrompt="1"/>
          </p:nvPr>
        </p:nvSpPr>
        <p:spPr>
          <a:xfrm>
            <a:off x="704088" y="457200"/>
            <a:ext cx="8229600" cy="292608"/>
          </a:xfrm>
          <a:prstGeom prst="rect">
            <a:avLst/>
          </a:prstGeom>
          <a:noFill/>
          <a:ln/>
        </p:spPr>
        <p:txBody>
          <a:bodyPr wrap="square" lIns="0" tIns="0" rIns="0" bIns="0" rtlCol="0" anchor="ctr"/>
          <a:lstStyle/>
          <a:p>
            <a:pPr indent="0" marL="0">
              <a:buNone/>
            </a:pPr>
            <a:r>
              <a:rPr lang="en-US" sz="1200" b="1" spc="150" kern="0" dirty="0">
                <a:solidFill>
                  <a:srgbClr val="CEB4FF"/>
                </a:solidFill>
              </a:rPr>
              <a:t>01 · MONTH ONE ON ATLAS</a:t>
            </a:r>
            <a:endParaRPr lang="en-US" sz="1200" dirty="0"/>
          </a:p>
        </p:txBody>
      </p:sp>
      <p:sp>
        <p:nvSpPr>
          <p:cNvPr id="3" name="Text 1"/>
          <p:cNvSpPr/>
          <p:nvPr>
            <p:ph idx="102" type="title" hasCustomPrompt="1"/>
          </p:nvPr>
        </p:nvSpPr>
        <p:spPr>
          <a:xfrm>
            <a:off x="548640" y="804672"/>
            <a:ext cx="11094415" cy="822960"/>
          </a:xfrm>
          <a:prstGeom prst="rect">
            <a:avLst/>
          </a:prstGeom>
          <a:noFill/>
          <a:ln/>
        </p:spPr>
        <p:txBody>
          <a:bodyPr wrap="square" lIns="0" tIns="0" rIns="0" bIns="0" rtlCol="0" anchor="t"/>
          <a:lstStyle/>
          <a:p>
            <a:pPr algn="l" indent="0" marL="0">
              <a:buNone/>
            </a:pPr>
            <a:r>
              <a:rPr lang="en-US" sz="3400" b="1" dirty="0">
                <a:solidFill>
                  <a:schemeClr val="bg1"/>
                </a:solidFill>
              </a:rPr>
              <a:t>Atlas automated 70% of Tier-1 support by month end</a:t>
            </a:r>
            <a:endParaRPr lang="en-US" sz="3400" dirty="0"/>
          </a:p>
        </p:txBody>
      </p:sp>
      <p:sp>
        <p:nvSpPr>
          <p:cNvPr id="4" name="Shape 2"/>
          <p:cNvSpPr/>
          <p:nvPr/>
        </p:nvSpPr>
        <p:spPr>
          <a:xfrm>
            <a:off x="548640" y="2057400"/>
            <a:ext cx="2567864" cy="3246120"/>
          </a:xfrm>
          <a:prstGeom prst="roundRect">
            <a:avLst>
              <a:gd name="adj" fmla="val 2849"/>
            </a:avLst>
          </a:prstGeom>
          <a:solidFill>
            <a:srgbClr val="2A0A78"/>
          </a:solidFill>
          <a:ln w="9525">
            <a:solidFill>
              <a:srgbClr val="2A0A78"/>
            </a:solidFill>
            <a:prstDash val="solid"/>
          </a:ln>
        </p:spPr>
      </p:sp>
      <p:sp>
        <p:nvSpPr>
          <p:cNvPr id="5" name="Shape 3"/>
          <p:cNvSpPr/>
          <p:nvPr/>
        </p:nvSpPr>
        <p:spPr>
          <a:xfrm>
            <a:off x="822960" y="2377440"/>
            <a:ext cx="118872" cy="118872"/>
          </a:xfrm>
          <a:prstGeom prst="rect">
            <a:avLst/>
          </a:prstGeom>
          <a:solidFill>
            <a:srgbClr val="00E6CC"/>
          </a:solidFill>
          <a:ln w="12700">
            <a:solidFill>
              <a:srgbClr val="00E6CC"/>
            </a:solidFill>
            <a:prstDash val="solid"/>
          </a:ln>
        </p:spPr>
      </p:sp>
      <p:sp>
        <p:nvSpPr>
          <p:cNvPr id="6" name="stat-0"/>
          <p:cNvSpPr txBox="1"/>
          <p:nvPr/>
        </p:nvSpPr>
        <p:spPr>
          <a:xfrm>
            <a:off x="822960" y="2697480"/>
            <a:ext cx="2019224" cy="868680"/>
          </a:xfrm>
          <a:prstGeom prst="rect">
            <a:avLst/>
          </a:prstGeom>
          <a:noFill/>
          <a:ln/>
        </p:spPr>
        <p:txBody>
          <a:bodyPr wrap="square" lIns="0" tIns="0" rIns="0" bIns="0" rtlCol="0" anchor="ctr">
            <a:normAutofit/>
          </a:bodyPr>
          <a:lstStyle/>
          <a:p>
            <a:pPr indent="0" marL="0">
              <a:buNone/>
            </a:pPr>
            <a:r>
              <a:rPr lang="en-US" sz="3600" b="1" dirty="0">
                <a:solidFill>
                  <a:schemeClr val="bg1"/>
                </a:solidFill>
              </a:rPr>
              <a:t>70.1%</a:t>
            </a:r>
            <a:endParaRPr lang="en-US" sz="3600" dirty="0"/>
          </a:p>
        </p:txBody>
      </p:sp>
      <p:sp>
        <p:nvSpPr>
          <p:cNvPr id="7" name="Text 5"/>
          <p:cNvSpPr txBox="1"/>
          <p:nvPr/>
        </p:nvSpPr>
        <p:spPr>
          <a:xfrm>
            <a:off x="822960" y="3611880"/>
            <a:ext cx="2019224" cy="457200"/>
          </a:xfrm>
          <a:prstGeom prst="rect">
            <a:avLst/>
          </a:prstGeom>
          <a:noFill/>
          <a:ln/>
        </p:spPr>
        <p:txBody>
          <a:bodyPr wrap="square" lIns="0" tIns="0" rIns="0" bIns="0" rtlCol="0" anchor="ctr"/>
          <a:lstStyle/>
          <a:p>
            <a:pPr indent="0" marL="0">
              <a:buNone/>
            </a:pPr>
            <a:r>
              <a:rPr lang="en-US" sz="1400" b="1" dirty="0">
                <a:solidFill>
                  <a:schemeClr val="bg1"/>
                </a:solidFill>
              </a:rPr>
              <a:t>Tier-1 automation, final week</a:t>
            </a:r>
            <a:endParaRPr lang="en-US" sz="1400" dirty="0"/>
          </a:p>
        </p:txBody>
      </p:sp>
      <p:sp>
        <p:nvSpPr>
          <p:cNvPr id="8" name="Text 6"/>
          <p:cNvSpPr txBox="1"/>
          <p:nvPr/>
        </p:nvSpPr>
        <p:spPr>
          <a:xfrm>
            <a:off x="822960" y="4114800"/>
            <a:ext cx="2019224" cy="1005840"/>
          </a:xfrm>
          <a:prstGeom prst="rect">
            <a:avLst/>
          </a:prstGeom>
          <a:noFill/>
          <a:ln/>
        </p:spPr>
        <p:txBody>
          <a:bodyPr wrap="square" lIns="0" tIns="0" rIns="0" bIns="0" rtlCol="0" anchor="t"/>
          <a:lstStyle/>
          <a:p>
            <a:pPr indent="0" marL="0">
              <a:buNone/>
            </a:pPr>
            <a:r>
              <a:rPr lang="en-US" sz="1300" dirty="0">
                <a:solidFill>
                  <a:srgbClr val="CEB4FF"/>
                </a:solidFill>
              </a:rPr>
              <a:t>67.9% August average; 70% reached from 27 Aug</a:t>
            </a:r>
            <a:endParaRPr lang="en-US" sz="1300" dirty="0"/>
          </a:p>
        </p:txBody>
      </p:sp>
      <p:sp>
        <p:nvSpPr>
          <p:cNvPr id="9" name="Shape 7"/>
          <p:cNvSpPr/>
          <p:nvPr/>
        </p:nvSpPr>
        <p:spPr>
          <a:xfrm>
            <a:off x="3390824" y="2057400"/>
            <a:ext cx="2567864" cy="3246120"/>
          </a:xfrm>
          <a:prstGeom prst="roundRect">
            <a:avLst>
              <a:gd name="adj" fmla="val 2849"/>
            </a:avLst>
          </a:prstGeom>
          <a:solidFill>
            <a:srgbClr val="2A0A78"/>
          </a:solidFill>
          <a:ln w="9525">
            <a:solidFill>
              <a:srgbClr val="2A0A78"/>
            </a:solidFill>
            <a:prstDash val="solid"/>
          </a:ln>
        </p:spPr>
      </p:sp>
      <p:sp>
        <p:nvSpPr>
          <p:cNvPr id="10" name="Shape 8"/>
          <p:cNvSpPr/>
          <p:nvPr/>
        </p:nvSpPr>
        <p:spPr>
          <a:xfrm>
            <a:off x="3665144" y="2377440"/>
            <a:ext cx="118872" cy="118872"/>
          </a:xfrm>
          <a:prstGeom prst="rect">
            <a:avLst/>
          </a:prstGeom>
          <a:solidFill>
            <a:srgbClr val="00E6CC"/>
          </a:solidFill>
          <a:ln w="12700">
            <a:solidFill>
              <a:srgbClr val="00E6CC"/>
            </a:solidFill>
            <a:prstDash val="solid"/>
          </a:ln>
        </p:spPr>
      </p:sp>
      <p:sp>
        <p:nvSpPr>
          <p:cNvPr id="11" name="stat-1"/>
          <p:cNvSpPr txBox="1"/>
          <p:nvPr/>
        </p:nvSpPr>
        <p:spPr>
          <a:xfrm>
            <a:off x="3665144" y="2697480"/>
            <a:ext cx="2019224" cy="868680"/>
          </a:xfrm>
          <a:prstGeom prst="rect">
            <a:avLst/>
          </a:prstGeom>
          <a:noFill/>
          <a:ln/>
        </p:spPr>
        <p:txBody>
          <a:bodyPr wrap="square" lIns="0" tIns="0" rIns="0" bIns="0" rtlCol="0" anchor="ctr">
            <a:normAutofit/>
          </a:bodyPr>
          <a:lstStyle/>
          <a:p>
            <a:pPr indent="0" marL="0">
              <a:buNone/>
            </a:pPr>
            <a:r>
              <a:rPr lang="en-US" sz="3600" b="1" dirty="0">
                <a:solidFill>
                  <a:schemeClr val="bg1"/>
                </a:solidFill>
              </a:rPr>
              <a:t>7.41 min</a:t>
            </a:r>
            <a:endParaRPr lang="en-US" sz="3600" dirty="0"/>
          </a:p>
        </p:txBody>
      </p:sp>
      <p:sp>
        <p:nvSpPr>
          <p:cNvPr id="12" name="Text 10"/>
          <p:cNvSpPr txBox="1"/>
          <p:nvPr/>
        </p:nvSpPr>
        <p:spPr>
          <a:xfrm>
            <a:off x="3665144" y="3611880"/>
            <a:ext cx="2019224" cy="457200"/>
          </a:xfrm>
          <a:prstGeom prst="rect">
            <a:avLst/>
          </a:prstGeom>
          <a:noFill/>
          <a:ln/>
        </p:spPr>
        <p:txBody>
          <a:bodyPr wrap="square" lIns="0" tIns="0" rIns="0" bIns="0" rtlCol="0" anchor="ctr"/>
          <a:lstStyle/>
          <a:p>
            <a:pPr indent="0" marL="0">
              <a:buNone/>
            </a:pPr>
            <a:r>
              <a:rPr lang="en-US" sz="1400" b="1" dirty="0">
                <a:solidFill>
                  <a:schemeClr val="bg1"/>
                </a:solidFill>
              </a:rPr>
              <a:t>Avg handle time, final week</a:t>
            </a:r>
            <a:endParaRPr lang="en-US" sz="1400" dirty="0"/>
          </a:p>
        </p:txBody>
      </p:sp>
      <p:sp>
        <p:nvSpPr>
          <p:cNvPr id="13" name="Text 11"/>
          <p:cNvSpPr txBox="1"/>
          <p:nvPr/>
        </p:nvSpPr>
        <p:spPr>
          <a:xfrm>
            <a:off x="3665144" y="4114800"/>
            <a:ext cx="2019224" cy="1005840"/>
          </a:xfrm>
          <a:prstGeom prst="rect">
            <a:avLst/>
          </a:prstGeom>
          <a:noFill/>
          <a:ln/>
        </p:spPr>
        <p:txBody>
          <a:bodyPr wrap="square" lIns="0" tIns="0" rIns="0" bIns="0" rtlCol="0" anchor="t"/>
          <a:lstStyle/>
          <a:p>
            <a:pPr indent="0" marL="0">
              <a:buNone/>
            </a:pPr>
            <a:r>
              <a:rPr lang="en-US" sz="1300" dirty="0">
                <a:solidFill>
                  <a:srgbClr val="CEB4FF"/>
                </a:solidFill>
              </a:rPr>
              <a:t>8.05 min in week 1; −35% vs Northstar’s pre-launch baseline</a:t>
            </a:r>
            <a:endParaRPr lang="en-US" sz="1300" dirty="0"/>
          </a:p>
        </p:txBody>
      </p:sp>
      <p:sp>
        <p:nvSpPr>
          <p:cNvPr id="14" name="Shape 12"/>
          <p:cNvSpPr/>
          <p:nvPr/>
        </p:nvSpPr>
        <p:spPr>
          <a:xfrm>
            <a:off x="6233008" y="2057400"/>
            <a:ext cx="2567864" cy="3246120"/>
          </a:xfrm>
          <a:prstGeom prst="roundRect">
            <a:avLst>
              <a:gd name="adj" fmla="val 2849"/>
            </a:avLst>
          </a:prstGeom>
          <a:solidFill>
            <a:srgbClr val="2A0A78"/>
          </a:solidFill>
          <a:ln w="9525">
            <a:solidFill>
              <a:srgbClr val="2A0A78"/>
            </a:solidFill>
            <a:prstDash val="solid"/>
          </a:ln>
        </p:spPr>
      </p:sp>
      <p:sp>
        <p:nvSpPr>
          <p:cNvPr id="15" name="Shape 13"/>
          <p:cNvSpPr/>
          <p:nvPr/>
        </p:nvSpPr>
        <p:spPr>
          <a:xfrm>
            <a:off x="6507328" y="2377440"/>
            <a:ext cx="118872" cy="118872"/>
          </a:xfrm>
          <a:prstGeom prst="rect">
            <a:avLst/>
          </a:prstGeom>
          <a:solidFill>
            <a:srgbClr val="00E6CC"/>
          </a:solidFill>
          <a:ln w="12700">
            <a:solidFill>
              <a:srgbClr val="00E6CC"/>
            </a:solidFill>
            <a:prstDash val="solid"/>
          </a:ln>
        </p:spPr>
      </p:sp>
      <p:sp>
        <p:nvSpPr>
          <p:cNvPr id="16" name="stat-2"/>
          <p:cNvSpPr txBox="1"/>
          <p:nvPr/>
        </p:nvSpPr>
        <p:spPr>
          <a:xfrm>
            <a:off x="6507328" y="2697480"/>
            <a:ext cx="2019224" cy="868680"/>
          </a:xfrm>
          <a:prstGeom prst="rect">
            <a:avLst/>
          </a:prstGeom>
          <a:noFill/>
          <a:ln/>
        </p:spPr>
        <p:txBody>
          <a:bodyPr wrap="square" lIns="0" tIns="0" rIns="0" bIns="0" rtlCol="0" anchor="ctr">
            <a:normAutofit/>
          </a:bodyPr>
          <a:lstStyle/>
          <a:p>
            <a:pPr indent="0" marL="0">
              <a:buNone/>
            </a:pPr>
            <a:r>
              <a:rPr lang="en-US" sz="3600" b="1" dirty="0">
                <a:solidFill>
                  <a:schemeClr val="bg1"/>
                </a:solidFill>
              </a:rPr>
              <a:t>83.7</a:t>
            </a:r>
            <a:endParaRPr lang="en-US" sz="3600" dirty="0"/>
          </a:p>
        </p:txBody>
      </p:sp>
      <p:sp>
        <p:nvSpPr>
          <p:cNvPr id="17" name="Text 15"/>
          <p:cNvSpPr txBox="1"/>
          <p:nvPr/>
        </p:nvSpPr>
        <p:spPr>
          <a:xfrm>
            <a:off x="6507328" y="3611880"/>
            <a:ext cx="2019224" cy="457200"/>
          </a:xfrm>
          <a:prstGeom prst="rect">
            <a:avLst/>
          </a:prstGeom>
          <a:noFill/>
          <a:ln/>
        </p:spPr>
        <p:txBody>
          <a:bodyPr wrap="square" lIns="0" tIns="0" rIns="0" bIns="0" rtlCol="0" anchor="ctr"/>
          <a:lstStyle/>
          <a:p>
            <a:pPr indent="0" marL="0">
              <a:buNone/>
            </a:pPr>
            <a:r>
              <a:rPr lang="en-US" sz="1400" b="1" dirty="0">
                <a:solidFill>
                  <a:schemeClr val="bg1"/>
                </a:solidFill>
              </a:rPr>
              <a:t>CSAT, final week</a:t>
            </a:r>
            <a:endParaRPr lang="en-US" sz="1400" dirty="0"/>
          </a:p>
        </p:txBody>
      </p:sp>
      <p:sp>
        <p:nvSpPr>
          <p:cNvPr id="18" name="Text 16"/>
          <p:cNvSpPr txBox="1"/>
          <p:nvPr/>
        </p:nvSpPr>
        <p:spPr>
          <a:xfrm>
            <a:off x="6507328" y="4114800"/>
            <a:ext cx="2019224" cy="1005840"/>
          </a:xfrm>
          <a:prstGeom prst="rect">
            <a:avLst/>
          </a:prstGeom>
          <a:noFill/>
          <a:ln/>
        </p:spPr>
        <p:txBody>
          <a:bodyPr wrap="square" lIns="0" tIns="0" rIns="0" bIns="0" rtlCol="0" anchor="t"/>
          <a:lstStyle/>
          <a:p>
            <a:pPr indent="0" marL="0">
              <a:buNone/>
            </a:pPr>
            <a:r>
              <a:rPr lang="en-US" sz="1300" dirty="0">
                <a:solidFill>
                  <a:srgbClr val="CEB4FF"/>
                </a:solidFill>
              </a:rPr>
              <a:t>80.8 in week 1; +12 pts vs Northstar’s pre-launch baseline</a:t>
            </a:r>
            <a:endParaRPr lang="en-US" sz="1300" dirty="0"/>
          </a:p>
        </p:txBody>
      </p:sp>
      <p:sp>
        <p:nvSpPr>
          <p:cNvPr id="19" name="Shape 17"/>
          <p:cNvSpPr/>
          <p:nvPr/>
        </p:nvSpPr>
        <p:spPr>
          <a:xfrm>
            <a:off x="9075191" y="2057400"/>
            <a:ext cx="2567864" cy="3246120"/>
          </a:xfrm>
          <a:prstGeom prst="roundRect">
            <a:avLst>
              <a:gd name="adj" fmla="val 2849"/>
            </a:avLst>
          </a:prstGeom>
          <a:solidFill>
            <a:srgbClr val="2A0A78"/>
          </a:solidFill>
          <a:ln w="9525">
            <a:solidFill>
              <a:srgbClr val="2A0A78"/>
            </a:solidFill>
            <a:prstDash val="solid"/>
          </a:ln>
        </p:spPr>
      </p:sp>
      <p:sp>
        <p:nvSpPr>
          <p:cNvPr id="20" name="Shape 18"/>
          <p:cNvSpPr/>
          <p:nvPr/>
        </p:nvSpPr>
        <p:spPr>
          <a:xfrm>
            <a:off x="9349511" y="2377440"/>
            <a:ext cx="118872" cy="118872"/>
          </a:xfrm>
          <a:prstGeom prst="rect">
            <a:avLst/>
          </a:prstGeom>
          <a:solidFill>
            <a:srgbClr val="E3A53A"/>
          </a:solidFill>
          <a:ln w="12700">
            <a:solidFill>
              <a:srgbClr val="E3A53A"/>
            </a:solidFill>
            <a:prstDash val="solid"/>
          </a:ln>
        </p:spPr>
      </p:sp>
      <p:sp>
        <p:nvSpPr>
          <p:cNvPr id="21" name="stat-3"/>
          <p:cNvSpPr txBox="1"/>
          <p:nvPr/>
        </p:nvSpPr>
        <p:spPr>
          <a:xfrm>
            <a:off x="9349511" y="2697480"/>
            <a:ext cx="2019224" cy="868680"/>
          </a:xfrm>
          <a:prstGeom prst="rect">
            <a:avLst/>
          </a:prstGeom>
          <a:noFill/>
          <a:ln/>
        </p:spPr>
        <p:txBody>
          <a:bodyPr wrap="square" lIns="0" tIns="0" rIns="0" bIns="0" rtlCol="0" anchor="ctr">
            <a:normAutofit/>
          </a:bodyPr>
          <a:lstStyle/>
          <a:p>
            <a:pPr indent="0" marL="0">
              <a:buNone/>
            </a:pPr>
            <a:r>
              <a:rPr lang="en-US" sz="3600" b="1" dirty="0">
                <a:solidFill>
                  <a:schemeClr val="bg1"/>
                </a:solidFill>
              </a:rPr>
              <a:t>99.85%</a:t>
            </a:r>
            <a:endParaRPr lang="en-US" sz="3600" dirty="0"/>
          </a:p>
        </p:txBody>
      </p:sp>
      <p:sp>
        <p:nvSpPr>
          <p:cNvPr id="22" name="Text 20"/>
          <p:cNvSpPr txBox="1"/>
          <p:nvPr/>
        </p:nvSpPr>
        <p:spPr>
          <a:xfrm>
            <a:off x="9349511" y="3611880"/>
            <a:ext cx="2019224" cy="457200"/>
          </a:xfrm>
          <a:prstGeom prst="rect">
            <a:avLst/>
          </a:prstGeom>
          <a:noFill/>
          <a:ln/>
        </p:spPr>
        <p:txBody>
          <a:bodyPr wrap="square" lIns="0" tIns="0" rIns="0" bIns="0" rtlCol="0" anchor="ctr"/>
          <a:lstStyle/>
          <a:p>
            <a:pPr indent="0" marL="0">
              <a:buNone/>
            </a:pPr>
            <a:r>
              <a:rPr lang="en-US" sz="1400" b="1" dirty="0">
                <a:solidFill>
                  <a:schemeClr val="bg1"/>
                </a:solidFill>
              </a:rPr>
              <a:t>Availability, August</a:t>
            </a:r>
            <a:endParaRPr lang="en-US" sz="1400" dirty="0"/>
          </a:p>
        </p:txBody>
      </p:sp>
      <p:sp>
        <p:nvSpPr>
          <p:cNvPr id="23" name="Text 21"/>
          <p:cNvSpPr txBox="1"/>
          <p:nvPr/>
        </p:nvSpPr>
        <p:spPr>
          <a:xfrm>
            <a:off x="9349511" y="4114800"/>
            <a:ext cx="2019224" cy="1005840"/>
          </a:xfrm>
          <a:prstGeom prst="rect">
            <a:avLst/>
          </a:prstGeom>
          <a:noFill/>
          <a:ln/>
        </p:spPr>
        <p:txBody>
          <a:bodyPr wrap="square" lIns="0" tIns="0" rIns="0" bIns="0" rtlCol="0" anchor="t"/>
          <a:lstStyle/>
          <a:p>
            <a:pPr indent="0" marL="0">
              <a:buNone/>
            </a:pPr>
            <a:r>
              <a:rPr lang="en-US" sz="1300" dirty="0">
                <a:solidFill>
                  <a:srgbClr val="CEB4FF"/>
                </a:solidFill>
              </a:rPr>
              <a:t>Dips on 9 Aug (catalogue sync) and 21 Aug (promotion traffic)</a:t>
            </a:r>
            <a:endParaRPr lang="en-US" sz="1300" dirty="0"/>
          </a:p>
        </p:txBody>
      </p:sp>
      <p:sp>
        <p:nvSpPr>
          <p:cNvPr id="24" name="Text 22"/>
          <p:cNvSpPr txBox="1"/>
          <p:nvPr/>
        </p:nvSpPr>
        <p:spPr>
          <a:xfrm>
            <a:off x="548640" y="5532120"/>
            <a:ext cx="11094415" cy="502920"/>
          </a:xfrm>
          <a:prstGeom prst="rect">
            <a:avLst/>
          </a:prstGeom>
          <a:noFill/>
          <a:ln/>
        </p:spPr>
        <p:txBody>
          <a:bodyPr wrap="square" lIns="0" tIns="0" rIns="0" bIns="0" rtlCol="0" anchor="ctr"/>
          <a:lstStyle/>
          <a:p>
            <a:pPr indent="0" marL="0">
              <a:buNone/>
            </a:pPr>
            <a:r>
              <a:rPr lang="en-US" sz="1100" dirty="0">
                <a:solidFill>
                  <a:srgbClr val="CEB4FF"/>
                </a:solidFill>
              </a:rPr>
              <a:t>In-month figures are measured from August data (week 1 = 1–7 Aug; final week = 25–31 Aug). The −35% and +12-point figures compare against Northstar’s pre-launch baselines, which are not in the August dataset.</a:t>
            </a:r>
            <a:endParaRPr lang="en-US" sz="11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EB4FF"/>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704088" y="457200"/>
            <a:ext cx="8229600" cy="292608"/>
          </a:xfrm>
          <a:prstGeom prst="rect">
            <a:avLst/>
          </a:prstGeom>
          <a:noFill/>
          <a:ln/>
        </p:spPr>
        <p:txBody>
          <a:bodyPr wrap="square" lIns="0" tIns="0" rIns="0" bIns="0" rtlCol="0" anchor="ctr"/>
          <a:lstStyle/>
          <a:p>
            <a:pPr indent="0" marL="0">
              <a:buNone/>
            </a:pPr>
            <a:r>
              <a:rPr lang="en-US" sz="1200" b="1" spc="150" kern="0" dirty="0">
                <a:solidFill>
                  <a:schemeClr val="tx1"/>
                </a:solidFill>
              </a:rPr>
              <a:t>02 · WHAT THE NUMBERS MEAN</a:t>
            </a:r>
            <a:endParaRPr lang="en-US" sz="1200" dirty="0"/>
          </a:p>
        </p:txBody>
      </p:sp>
      <p:sp>
        <p:nvSpPr>
          <p:cNvPr id="3" name="Text 1"/>
          <p:cNvSpPr/>
          <p:nvPr>
            <p:ph idx="102" type="title" hasCustomPrompt="1"/>
          </p:nvPr>
        </p:nvSpPr>
        <p:spPr>
          <a:xfrm>
            <a:off x="548640" y="804672"/>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Quality improved every week; adoption is still rising</a:t>
            </a:r>
            <a:endParaRPr lang="en-US" sz="3400" dirty="0"/>
          </a:p>
        </p:txBody>
      </p:sp>
      <p:sp>
        <p:nvSpPr>
          <p:cNvPr id="4" name="Shape 2"/>
          <p:cNvSpPr/>
          <p:nvPr/>
        </p:nvSpPr>
        <p:spPr>
          <a:xfrm>
            <a:off x="548640" y="1874520"/>
            <a:ext cx="6035040" cy="4160520"/>
          </a:xfrm>
          <a:prstGeom prst="roundRect">
            <a:avLst>
              <a:gd name="adj" fmla="val 1758"/>
            </a:avLst>
          </a:prstGeom>
          <a:solidFill>
            <a:srgbClr val="FAF7FF"/>
          </a:solidFill>
          <a:ln w="9525">
            <a:solidFill>
              <a:srgbClr val="E6EAF4"/>
            </a:solidFill>
            <a:prstDash val="solid"/>
          </a:ln>
        </p:spPr>
      </p:sp>
      <p:sp>
        <p:nvSpPr>
          <p:cNvPr id="5" name="Text 3"/>
          <p:cNvSpPr txBox="1"/>
          <p:nvPr/>
        </p:nvSpPr>
        <p:spPr>
          <a:xfrm>
            <a:off x="822960" y="2057400"/>
            <a:ext cx="5486400" cy="320040"/>
          </a:xfrm>
          <a:prstGeom prst="rect">
            <a:avLst/>
          </a:prstGeom>
          <a:noFill/>
          <a:ln/>
        </p:spPr>
        <p:txBody>
          <a:bodyPr wrap="square" lIns="0" tIns="0" rIns="0" bIns="0" rtlCol="0" anchor="ctr"/>
          <a:lstStyle/>
          <a:p>
            <a:pPr indent="0" marL="0">
              <a:buNone/>
            </a:pPr>
            <a:r>
              <a:rPr lang="en-US" sz="1500" b="1" dirty="0">
                <a:solidFill>
                  <a:schemeClr val="tx1"/>
                </a:solidFill>
              </a:rPr>
              <a:t>Answer quality by week</a:t>
            </a:r>
            <a:endParaRPr lang="en-US" sz="1500" dirty="0"/>
          </a:p>
        </p:txBody>
      </p:sp>
      <p:graphicFrame>
        <p:nvGraphicFramePr>
          <p:cNvPr id="6" name="Chart 0" descr=""/>
          <p:cNvGraphicFramePr/>
          <p:nvPr/>
        </p:nvGraphicFramePr>
        <p:xfrm>
          <a:off x="685800" y="2423160"/>
          <a:ext cx="5760720" cy="34747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903720" y="1993392"/>
            <a:ext cx="146304" cy="146304"/>
          </a:xfrm>
          <a:prstGeom prst="rect">
            <a:avLst/>
          </a:prstGeom>
          <a:solidFill>
            <a:srgbClr val="6720FF"/>
          </a:solidFill>
          <a:ln w="12700">
            <a:solidFill>
              <a:srgbClr val="6720FF"/>
            </a:solidFill>
            <a:prstDash val="solid"/>
          </a:ln>
        </p:spPr>
      </p:sp>
      <p:sp>
        <p:nvSpPr>
          <p:cNvPr id="8" name="Text 5"/>
          <p:cNvSpPr txBox="1"/>
          <p:nvPr/>
        </p:nvSpPr>
        <p:spPr>
          <a:xfrm>
            <a:off x="7223760" y="1920240"/>
            <a:ext cx="4419295" cy="301752"/>
          </a:xfrm>
          <a:prstGeom prst="rect">
            <a:avLst/>
          </a:prstGeom>
          <a:noFill/>
          <a:ln/>
        </p:spPr>
        <p:txBody>
          <a:bodyPr wrap="square" lIns="0" tIns="0" rIns="0" bIns="0" rtlCol="0" anchor="ctr"/>
          <a:lstStyle/>
          <a:p>
            <a:pPr indent="0" marL="0">
              <a:buNone/>
            </a:pPr>
            <a:r>
              <a:rPr lang="en-US" sz="1500" b="1" dirty="0">
                <a:solidFill>
                  <a:schemeClr val="tx1"/>
                </a:solidFill>
              </a:rPr>
              <a:t>Adoption is still rising</a:t>
            </a:r>
            <a:endParaRPr lang="en-US" sz="1500" dirty="0"/>
          </a:p>
        </p:txBody>
      </p:sp>
      <p:sp>
        <p:nvSpPr>
          <p:cNvPr id="9" name="Text 6"/>
          <p:cNvSpPr txBox="1"/>
          <p:nvPr/>
        </p:nvSpPr>
        <p:spPr>
          <a:xfrm>
            <a:off x="7223760" y="2249424"/>
            <a:ext cx="4419295" cy="603504"/>
          </a:xfrm>
          <a:prstGeom prst="rect">
            <a:avLst/>
          </a:prstGeom>
          <a:noFill/>
          <a:ln/>
        </p:spPr>
        <p:txBody>
          <a:bodyPr wrap="square" lIns="0" tIns="0" rIns="0" bIns="0" rtlCol="0" anchor="t"/>
          <a:lstStyle/>
          <a:p>
            <a:pPr indent="0" marL="0">
              <a:buNone/>
            </a:pPr>
            <a:r>
              <a:rPr lang="en-US" sz="1300" dirty="0">
                <a:solidFill>
                  <a:srgbClr val="5A5E63"/>
                </a:solidFill>
              </a:rPr>
              <a:t>Automation 65.8% → 70.1% from week 1 to the final week, with no plateau yet.</a:t>
            </a:r>
            <a:endParaRPr lang="en-US" sz="1300" dirty="0"/>
          </a:p>
        </p:txBody>
      </p:sp>
      <p:sp>
        <p:nvSpPr>
          <p:cNvPr id="10" name="Shape 7"/>
          <p:cNvSpPr/>
          <p:nvPr/>
        </p:nvSpPr>
        <p:spPr>
          <a:xfrm>
            <a:off x="6903720" y="3017520"/>
            <a:ext cx="146304" cy="146304"/>
          </a:xfrm>
          <a:prstGeom prst="rect">
            <a:avLst/>
          </a:prstGeom>
          <a:solidFill>
            <a:srgbClr val="1DA28F"/>
          </a:solidFill>
          <a:ln w="12700">
            <a:solidFill>
              <a:srgbClr val="1DA28F"/>
            </a:solidFill>
            <a:prstDash val="solid"/>
          </a:ln>
        </p:spPr>
      </p:sp>
      <p:sp>
        <p:nvSpPr>
          <p:cNvPr id="11" name="Text 8"/>
          <p:cNvSpPr txBox="1"/>
          <p:nvPr/>
        </p:nvSpPr>
        <p:spPr>
          <a:xfrm>
            <a:off x="7223760" y="2944368"/>
            <a:ext cx="4419295" cy="301752"/>
          </a:xfrm>
          <a:prstGeom prst="rect">
            <a:avLst/>
          </a:prstGeom>
          <a:noFill/>
          <a:ln/>
        </p:spPr>
        <p:txBody>
          <a:bodyPr wrap="square" lIns="0" tIns="0" rIns="0" bIns="0" rtlCol="0" anchor="ctr"/>
          <a:lstStyle/>
          <a:p>
            <a:pPr indent="0" marL="0">
              <a:buNone/>
            </a:pPr>
            <a:r>
              <a:rPr lang="en-US" sz="1500" b="1" dirty="0">
                <a:solidFill>
                  <a:schemeClr val="tx1"/>
                </a:solidFill>
              </a:rPr>
              <a:t>Fewer handoffs to agents</a:t>
            </a:r>
            <a:endParaRPr lang="en-US" sz="1500" dirty="0"/>
          </a:p>
        </p:txBody>
      </p:sp>
      <p:sp>
        <p:nvSpPr>
          <p:cNvPr id="12" name="Text 9"/>
          <p:cNvSpPr txBox="1"/>
          <p:nvPr/>
        </p:nvSpPr>
        <p:spPr>
          <a:xfrm>
            <a:off x="7223760" y="3273552"/>
            <a:ext cx="4419295" cy="603504"/>
          </a:xfrm>
          <a:prstGeom prst="rect">
            <a:avLst/>
          </a:prstGeom>
          <a:noFill/>
          <a:ln/>
        </p:spPr>
        <p:txBody>
          <a:bodyPr wrap="square" lIns="0" tIns="0" rIns="0" bIns="0" rtlCol="0" anchor="t"/>
          <a:lstStyle/>
          <a:p>
            <a:pPr indent="0" marL="0">
              <a:buNone/>
            </a:pPr>
            <a:r>
              <a:rPr lang="en-US" sz="1300" dirty="0">
                <a:solidFill>
                  <a:srgbClr val="5A5E63"/>
                </a:solidFill>
              </a:rPr>
              <a:t>Escalations 14.2% → 11.5% as grounding improved after the 24 Aug knowledge refresh.</a:t>
            </a:r>
            <a:endParaRPr lang="en-US" sz="1300" dirty="0"/>
          </a:p>
        </p:txBody>
      </p:sp>
      <p:sp>
        <p:nvSpPr>
          <p:cNvPr id="13" name="Shape 10"/>
          <p:cNvSpPr/>
          <p:nvPr/>
        </p:nvSpPr>
        <p:spPr>
          <a:xfrm>
            <a:off x="6903720" y="4041648"/>
            <a:ext cx="146304" cy="146304"/>
          </a:xfrm>
          <a:prstGeom prst="rect">
            <a:avLst/>
          </a:prstGeom>
          <a:solidFill>
            <a:srgbClr val="E3A53A"/>
          </a:solidFill>
          <a:ln w="12700">
            <a:solidFill>
              <a:srgbClr val="E3A53A"/>
            </a:solidFill>
            <a:prstDash val="solid"/>
          </a:ln>
        </p:spPr>
      </p:sp>
      <p:sp>
        <p:nvSpPr>
          <p:cNvPr id="14" name="Text 11"/>
          <p:cNvSpPr txBox="1"/>
          <p:nvPr/>
        </p:nvSpPr>
        <p:spPr>
          <a:xfrm>
            <a:off x="7223760" y="3968496"/>
            <a:ext cx="4419295" cy="301752"/>
          </a:xfrm>
          <a:prstGeom prst="rect">
            <a:avLst/>
          </a:prstGeom>
          <a:noFill/>
          <a:ln/>
        </p:spPr>
        <p:txBody>
          <a:bodyPr wrap="square" lIns="0" tIns="0" rIns="0" bIns="0" rtlCol="0" anchor="ctr"/>
          <a:lstStyle/>
          <a:p>
            <a:pPr indent="0" marL="0">
              <a:buNone/>
            </a:pPr>
            <a:r>
              <a:rPr lang="en-US" sz="1500" b="1" dirty="0">
                <a:solidFill>
                  <a:schemeClr val="tx1"/>
                </a:solidFill>
              </a:rPr>
              <a:t>Availability missed 99.9% most days</a:t>
            </a:r>
            <a:endParaRPr lang="en-US" sz="1500" dirty="0"/>
          </a:p>
        </p:txBody>
      </p:sp>
      <p:sp>
        <p:nvSpPr>
          <p:cNvPr id="15" name="Text 12"/>
          <p:cNvSpPr txBox="1"/>
          <p:nvPr/>
        </p:nvSpPr>
        <p:spPr>
          <a:xfrm>
            <a:off x="7223760" y="4297680"/>
            <a:ext cx="4419295" cy="603504"/>
          </a:xfrm>
          <a:prstGeom prst="rect">
            <a:avLst/>
          </a:prstGeom>
          <a:noFill/>
          <a:ln/>
        </p:spPr>
        <p:txBody>
          <a:bodyPr wrap="square" lIns="0" tIns="0" rIns="0" bIns="0" rtlCol="0" anchor="t"/>
          <a:lstStyle/>
          <a:p>
            <a:pPr indent="0" marL="0">
              <a:buNone/>
            </a:pPr>
            <a:r>
              <a:rPr lang="en-US" sz="1300" dirty="0">
                <a:solidFill>
                  <a:srgbClr val="5A5E63"/>
                </a:solidFill>
              </a:rPr>
              <a:t>Met on 4 of 31 days, all in the final week. Cause under review (next slide).</a:t>
            </a:r>
            <a:endParaRPr lang="en-US" sz="1300" dirty="0"/>
          </a:p>
        </p:txBody>
      </p:sp>
      <p:sp>
        <p:nvSpPr>
          <p:cNvPr id="16" name="Shape 13"/>
          <p:cNvSpPr/>
          <p:nvPr/>
        </p:nvSpPr>
        <p:spPr>
          <a:xfrm>
            <a:off x="6903720" y="5065776"/>
            <a:ext cx="146304" cy="146304"/>
          </a:xfrm>
          <a:prstGeom prst="rect">
            <a:avLst/>
          </a:prstGeom>
          <a:solidFill>
            <a:srgbClr val="5A5E63"/>
          </a:solidFill>
          <a:ln w="12700">
            <a:solidFill>
              <a:srgbClr val="5A5E63"/>
            </a:solidFill>
            <a:prstDash val="solid"/>
          </a:ln>
        </p:spPr>
      </p:sp>
      <p:sp>
        <p:nvSpPr>
          <p:cNvPr id="17" name="Text 14"/>
          <p:cNvSpPr txBox="1"/>
          <p:nvPr/>
        </p:nvSpPr>
        <p:spPr>
          <a:xfrm>
            <a:off x="7223760" y="4992624"/>
            <a:ext cx="4419295" cy="301752"/>
          </a:xfrm>
          <a:prstGeom prst="rect">
            <a:avLst/>
          </a:prstGeom>
          <a:noFill/>
          <a:ln/>
        </p:spPr>
        <p:txBody>
          <a:bodyPr wrap="square" lIns="0" tIns="0" rIns="0" bIns="0" rtlCol="0" anchor="ctr"/>
          <a:lstStyle/>
          <a:p>
            <a:pPr indent="0" marL="0">
              <a:buNone/>
            </a:pPr>
            <a:r>
              <a:rPr lang="en-US" sz="1500" b="1" dirty="0">
                <a:solidFill>
                  <a:schemeClr val="tx1"/>
                </a:solidFill>
              </a:rPr>
              <a:t>Requests per ticket 4.6 → 6.2</a:t>
            </a:r>
            <a:endParaRPr lang="en-US" sz="1500" dirty="0"/>
          </a:p>
        </p:txBody>
      </p:sp>
      <p:sp>
        <p:nvSpPr>
          <p:cNvPr id="18" name="Text 15"/>
          <p:cNvSpPr txBox="1"/>
          <p:nvPr/>
        </p:nvSpPr>
        <p:spPr>
          <a:xfrm>
            <a:off x="7223760" y="5321808"/>
            <a:ext cx="4419295" cy="603504"/>
          </a:xfrm>
          <a:prstGeom prst="rect">
            <a:avLst/>
          </a:prstGeom>
          <a:noFill/>
          <a:ln/>
        </p:spPr>
        <p:txBody>
          <a:bodyPr wrap="square" lIns="0" tIns="0" rIns="0" bIns="0" rtlCol="0" anchor="t"/>
          <a:lstStyle/>
          <a:p>
            <a:pPr indent="0" marL="0">
              <a:buNone/>
            </a:pPr>
            <a:r>
              <a:rPr lang="en-US" sz="1300" dirty="0">
                <a:solidFill>
                  <a:srgbClr val="5A5E63"/>
                </a:solidFill>
              </a:rPr>
              <a:t>Worth a joint review, not an alarm: longer conversations, repeat contacts or non-ticket traffic.</a:t>
            </a:r>
            <a:endParaRPr lang="en-US" sz="13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E6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704088" y="457200"/>
            <a:ext cx="8229600" cy="292608"/>
          </a:xfrm>
          <a:prstGeom prst="rect">
            <a:avLst/>
          </a:prstGeom>
          <a:noFill/>
          <a:ln/>
        </p:spPr>
        <p:txBody>
          <a:bodyPr wrap="square" lIns="0" tIns="0" rIns="0" bIns="0" rtlCol="0" anchor="ctr"/>
          <a:lstStyle/>
          <a:p>
            <a:pPr indent="0" marL="0">
              <a:buNone/>
            </a:pPr>
            <a:r>
              <a:rPr lang="en-US" sz="1200" b="1" spc="150" kern="0" dirty="0">
                <a:solidFill>
                  <a:schemeClr val="tx1"/>
                </a:solidFill>
              </a:rPr>
              <a:t>03 · RELIABILITY AND COST</a:t>
            </a:r>
            <a:endParaRPr lang="en-US" sz="1200" dirty="0"/>
          </a:p>
        </p:txBody>
      </p:sp>
      <p:sp>
        <p:nvSpPr>
          <p:cNvPr id="3" name="Text 1"/>
          <p:cNvSpPr/>
          <p:nvPr>
            <p:ph idx="102" type="title" hasCustomPrompt="1"/>
          </p:nvPr>
        </p:nvSpPr>
        <p:spPr>
          <a:xfrm>
            <a:off x="548640" y="804672"/>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Find the cause before buying capacity</a:t>
            </a:r>
            <a:endParaRPr lang="en-US" sz="3400" dirty="0"/>
          </a:p>
        </p:txBody>
      </p:sp>
      <p:sp>
        <p:nvSpPr>
          <p:cNvPr id="4" name="Text 2"/>
          <p:cNvSpPr txBox="1"/>
          <p:nvPr/>
        </p:nvSpPr>
        <p:spPr>
          <a:xfrm>
            <a:off x="548640" y="1783080"/>
            <a:ext cx="11094415" cy="594360"/>
          </a:xfrm>
          <a:prstGeom prst="rect">
            <a:avLst/>
          </a:prstGeom>
          <a:noFill/>
          <a:ln/>
        </p:spPr>
        <p:txBody>
          <a:bodyPr wrap="square" lIns="0" tIns="0" rIns="0" bIns="0" rtlCol="0" anchor="ctr"/>
          <a:lstStyle/>
          <a:p>
            <a:pPr indent="0" marL="0">
              <a:buNone/>
            </a:pPr>
            <a:r>
              <a:rPr lang="en-US" sz="1500" dirty="0">
                <a:solidFill>
                  <a:schemeClr val="tx1"/>
                </a:solidFill>
              </a:rPr>
              <a:t>Availability averaged 99.85% and fell short of 99.9% on 27 of 31 days, not only on the two incident days. Daily metrics can’t show why, so we diagnose from deployment telemetry before changing capacity.</a:t>
            </a:r>
            <a:endParaRPr lang="en-US" sz="1500" dirty="0"/>
          </a:p>
        </p:txBody>
      </p:sp>
      <p:sp>
        <p:nvSpPr>
          <p:cNvPr id="5" name="Shape 3"/>
          <p:cNvSpPr/>
          <p:nvPr/>
        </p:nvSpPr>
        <p:spPr>
          <a:xfrm>
            <a:off x="548640" y="2606040"/>
            <a:ext cx="3515258" cy="3246120"/>
          </a:xfrm>
          <a:prstGeom prst="roundRect">
            <a:avLst>
              <a:gd name="adj" fmla="val 2254"/>
            </a:avLst>
          </a:prstGeom>
          <a:solidFill>
            <a:srgbClr val="FFFFFF"/>
          </a:solidFill>
          <a:ln w="9525">
            <a:solidFill>
              <a:srgbClr val="E6EAF4"/>
            </a:solidFill>
            <a:prstDash val="solid"/>
          </a:ln>
        </p:spPr>
      </p:sp>
      <p:sp>
        <p:nvSpPr>
          <p:cNvPr id="6" name="Shape 4"/>
          <p:cNvSpPr/>
          <p:nvPr/>
        </p:nvSpPr>
        <p:spPr>
          <a:xfrm>
            <a:off x="822960" y="2880360"/>
            <a:ext cx="118872" cy="118872"/>
          </a:xfrm>
          <a:prstGeom prst="rect">
            <a:avLst/>
          </a:prstGeom>
          <a:solidFill>
            <a:srgbClr val="1DA28F"/>
          </a:solidFill>
          <a:ln w="12700">
            <a:solidFill>
              <a:srgbClr val="1DA28F"/>
            </a:solidFill>
            <a:prstDash val="solid"/>
          </a:ln>
        </p:spPr>
      </p:sp>
      <p:sp>
        <p:nvSpPr>
          <p:cNvPr id="7" name="Text 5"/>
          <p:cNvSpPr txBox="1"/>
          <p:nvPr/>
        </p:nvSpPr>
        <p:spPr>
          <a:xfrm>
            <a:off x="1033272" y="2816352"/>
            <a:ext cx="2783738" cy="256032"/>
          </a:xfrm>
          <a:prstGeom prst="rect">
            <a:avLst/>
          </a:prstGeom>
          <a:noFill/>
          <a:ln/>
        </p:spPr>
        <p:txBody>
          <a:bodyPr wrap="square" lIns="0" tIns="0" rIns="0" bIns="0" rtlCol="0" anchor="ctr"/>
          <a:lstStyle/>
          <a:p>
            <a:pPr indent="0" marL="0">
              <a:buNone/>
            </a:pPr>
            <a:r>
              <a:rPr lang="en-US" sz="1100" b="1" spc="150" kern="0" dirty="0">
                <a:solidFill>
                  <a:srgbClr val="1DA28F"/>
                </a:solidFill>
              </a:rPr>
              <a:t>RECOMMENDED NOW</a:t>
            </a:r>
            <a:endParaRPr lang="en-US" sz="1100" dirty="0"/>
          </a:p>
        </p:txBody>
      </p:sp>
      <p:sp>
        <p:nvSpPr>
          <p:cNvPr id="8" name="Text 6"/>
          <p:cNvSpPr txBox="1"/>
          <p:nvPr/>
        </p:nvSpPr>
        <p:spPr>
          <a:xfrm>
            <a:off x="822960" y="3200400"/>
            <a:ext cx="2966618" cy="685800"/>
          </a:xfrm>
          <a:prstGeom prst="rect">
            <a:avLst/>
          </a:prstGeom>
          <a:noFill/>
          <a:ln/>
        </p:spPr>
        <p:txBody>
          <a:bodyPr wrap="square" lIns="0" tIns="0" rIns="0" bIns="0" rtlCol="0" anchor="t"/>
          <a:lstStyle/>
          <a:p>
            <a:pPr indent="0" marL="0">
              <a:buNone/>
            </a:pPr>
            <a:r>
              <a:rPr lang="en-US" sz="1800" b="1" dirty="0">
                <a:solidFill>
                  <a:schemeClr val="tx1"/>
                </a:solidFill>
              </a:rPr>
              <a:t>Diagnose and tune</a:t>
            </a:r>
            <a:endParaRPr lang="en-US" sz="1800" dirty="0"/>
          </a:p>
        </p:txBody>
      </p:sp>
      <p:sp>
        <p:nvSpPr>
          <p:cNvPr id="9" name="Text 7"/>
          <p:cNvSpPr txBox="1"/>
          <p:nvPr/>
        </p:nvSpPr>
        <p:spPr>
          <a:xfrm>
            <a:off x="822960" y="3931920"/>
            <a:ext cx="2966618" cy="960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Review deployment telemetry together</a:t>
            </a:r>
            <a:endParaRPr lang="en-US" sz="1400" dirty="0"/>
          </a:p>
          <a:p>
            <a:pPr marL="342900" indent="-342900">
              <a:spcAft>
                <a:spcPts val="600"/>
              </a:spcAft>
              <a:buSzPct val="100000"/>
              <a:buChar char="•"/>
            </a:pPr>
            <a:r>
              <a:rPr lang="en-US" sz="1400" dirty="0">
                <a:solidFill>
                  <a:schemeClr val="tx1"/>
                </a:solidFill>
              </a:rPr>
              <a:t>Retune scale-up; pre-warm before promotions</a:t>
            </a:r>
            <a:endParaRPr lang="en-US" sz="1400" dirty="0"/>
          </a:p>
        </p:txBody>
      </p:sp>
      <p:sp>
        <p:nvSpPr>
          <p:cNvPr id="10" name="Text 8"/>
          <p:cNvSpPr txBox="1"/>
          <p:nvPr/>
        </p:nvSpPr>
        <p:spPr>
          <a:xfrm>
            <a:off x="822960" y="4983480"/>
            <a:ext cx="2966618" cy="685800"/>
          </a:xfrm>
          <a:prstGeom prst="rect">
            <a:avLst/>
          </a:prstGeom>
          <a:noFill/>
          <a:ln/>
        </p:spPr>
        <p:txBody>
          <a:bodyPr wrap="square" lIns="0" tIns="0" rIns="0" bIns="0" rtlCol="0" anchor="t"/>
          <a:lstStyle/>
          <a:p>
            <a:pPr indent="0" marL="0">
              <a:buNone/>
            </a:pPr>
            <a:r>
              <a:rPr lang="en-US" sz="1300" dirty="0">
                <a:solidFill>
                  <a:srgbClr val="5A5E63"/>
                </a:solidFill>
              </a:rPr>
              <a:t>Bill stays ~$1.4k/month at current traffic</a:t>
            </a:r>
            <a:endParaRPr lang="en-US" sz="1300" dirty="0"/>
          </a:p>
        </p:txBody>
      </p:sp>
      <p:sp>
        <p:nvSpPr>
          <p:cNvPr id="11" name="Shape 9"/>
          <p:cNvSpPr/>
          <p:nvPr/>
        </p:nvSpPr>
        <p:spPr>
          <a:xfrm>
            <a:off x="4338218" y="2606040"/>
            <a:ext cx="3515258" cy="3246120"/>
          </a:xfrm>
          <a:prstGeom prst="roundRect">
            <a:avLst>
              <a:gd name="adj" fmla="val 2254"/>
            </a:avLst>
          </a:prstGeom>
          <a:solidFill>
            <a:srgbClr val="FFFFFF"/>
          </a:solidFill>
          <a:ln w="9525">
            <a:solidFill>
              <a:srgbClr val="E6EAF4"/>
            </a:solidFill>
            <a:prstDash val="solid"/>
          </a:ln>
        </p:spPr>
      </p:sp>
      <p:sp>
        <p:nvSpPr>
          <p:cNvPr id="12" name="Shape 10"/>
          <p:cNvSpPr/>
          <p:nvPr/>
        </p:nvSpPr>
        <p:spPr>
          <a:xfrm>
            <a:off x="4612538" y="2880360"/>
            <a:ext cx="118872" cy="118872"/>
          </a:xfrm>
          <a:prstGeom prst="rect">
            <a:avLst/>
          </a:prstGeom>
          <a:solidFill>
            <a:srgbClr val="F14539"/>
          </a:solidFill>
          <a:ln w="12700">
            <a:solidFill>
              <a:srgbClr val="F14539"/>
            </a:solidFill>
            <a:prstDash val="solid"/>
          </a:ln>
        </p:spPr>
      </p:sp>
      <p:sp>
        <p:nvSpPr>
          <p:cNvPr id="13" name="Text 11"/>
          <p:cNvSpPr txBox="1"/>
          <p:nvPr/>
        </p:nvSpPr>
        <p:spPr>
          <a:xfrm>
            <a:off x="4822850" y="2816352"/>
            <a:ext cx="2783738" cy="256032"/>
          </a:xfrm>
          <a:prstGeom prst="rect">
            <a:avLst/>
          </a:prstGeom>
          <a:noFill/>
          <a:ln/>
        </p:spPr>
        <p:txBody>
          <a:bodyPr wrap="square" lIns="0" tIns="0" rIns="0" bIns="0" rtlCol="0" anchor="ctr"/>
          <a:lstStyle/>
          <a:p>
            <a:pPr indent="0" marL="0">
              <a:buNone/>
            </a:pPr>
            <a:r>
              <a:rPr lang="en-US" sz="1100" b="1" spc="150" kern="0" dirty="0">
                <a:solidFill>
                  <a:srgbClr val="F14539"/>
                </a:solidFill>
              </a:rPr>
              <a:t>ONLY IF THE DATA SHOWS IT</a:t>
            </a:r>
            <a:endParaRPr lang="en-US" sz="1100" dirty="0"/>
          </a:p>
        </p:txBody>
      </p:sp>
      <p:sp>
        <p:nvSpPr>
          <p:cNvPr id="14" name="Text 12"/>
          <p:cNvSpPr txBox="1"/>
          <p:nvPr/>
        </p:nvSpPr>
        <p:spPr>
          <a:xfrm>
            <a:off x="4612538" y="3200400"/>
            <a:ext cx="2966618" cy="685800"/>
          </a:xfrm>
          <a:prstGeom prst="rect">
            <a:avLst/>
          </a:prstGeom>
          <a:noFill/>
          <a:ln/>
        </p:spPr>
        <p:txBody>
          <a:bodyPr wrap="square" lIns="0" tIns="0" rIns="0" bIns="0" rtlCol="0" anchor="t"/>
          <a:lstStyle/>
          <a:p>
            <a:pPr indent="0" marL="0">
              <a:buNone/>
            </a:pPr>
            <a:r>
              <a:rPr lang="en-US" sz="1800" b="1" dirty="0">
                <a:solidFill>
                  <a:schemeClr val="tx1"/>
                </a:solidFill>
              </a:rPr>
              <a:t>Always-on capacity for Atlas alone</a:t>
            </a:r>
            <a:endParaRPr lang="en-US" sz="1800" dirty="0"/>
          </a:p>
        </p:txBody>
      </p:sp>
      <p:sp>
        <p:nvSpPr>
          <p:cNvPr id="15" name="Text 13"/>
          <p:cNvSpPr txBox="1"/>
          <p:nvPr/>
        </p:nvSpPr>
        <p:spPr>
          <a:xfrm>
            <a:off x="4612538" y="3931920"/>
            <a:ext cx="2966618" cy="960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~$5.8k/month</a:t>
            </a:r>
            <a:endParaRPr lang="en-US" sz="1400" dirty="0"/>
          </a:p>
          <a:p>
            <a:pPr marL="342900" indent="-342900">
              <a:spcAft>
                <a:spcPts val="600"/>
              </a:spcAft>
              <a:buSzPct val="100000"/>
              <a:buChar char="•"/>
            </a:pPr>
            <a:r>
              <a:rPr lang="en-US" sz="1400" dirty="0">
                <a:solidFill>
                  <a:schemeClr val="tx1"/>
                </a:solidFill>
              </a:rPr>
              <a:t>~$8.8k/month with EU-only placement</a:t>
            </a:r>
            <a:endParaRPr lang="en-US" sz="1400" dirty="0"/>
          </a:p>
        </p:txBody>
      </p:sp>
      <p:sp>
        <p:nvSpPr>
          <p:cNvPr id="16" name="Text 14"/>
          <p:cNvSpPr txBox="1"/>
          <p:nvPr/>
        </p:nvSpPr>
        <p:spPr>
          <a:xfrm>
            <a:off x="4612538" y="4983480"/>
            <a:ext cx="2966618" cy="685800"/>
          </a:xfrm>
          <a:prstGeom prst="rect">
            <a:avLst/>
          </a:prstGeom>
          <a:noFill/>
          <a:ln/>
        </p:spPr>
        <p:txBody>
          <a:bodyPr wrap="square" lIns="0" tIns="0" rIns="0" bIns="0" rtlCol="0" anchor="t"/>
          <a:lstStyle/>
          <a:p>
            <a:pPr indent="0" marL="0">
              <a:buNone/>
            </a:pPr>
            <a:r>
              <a:rPr lang="en-US" sz="1300" dirty="0">
                <a:solidFill>
                  <a:srgbClr val="5A5E63"/>
                </a:solidFill>
              </a:rPr>
              <a:t>Justified only if scale-up is driving the misses</a:t>
            </a:r>
            <a:endParaRPr lang="en-US" sz="1300" dirty="0"/>
          </a:p>
        </p:txBody>
      </p:sp>
      <p:sp>
        <p:nvSpPr>
          <p:cNvPr id="17" name="Shape 15"/>
          <p:cNvSpPr/>
          <p:nvPr/>
        </p:nvSpPr>
        <p:spPr>
          <a:xfrm>
            <a:off x="8127797" y="2606040"/>
            <a:ext cx="3515258" cy="3246120"/>
          </a:xfrm>
          <a:prstGeom prst="roundRect">
            <a:avLst>
              <a:gd name="adj" fmla="val 2254"/>
            </a:avLst>
          </a:prstGeom>
          <a:solidFill>
            <a:srgbClr val="FAF7FF"/>
          </a:solidFill>
          <a:ln w="9525">
            <a:solidFill>
              <a:srgbClr val="9D72FE"/>
            </a:solidFill>
            <a:prstDash val="solid"/>
          </a:ln>
        </p:spPr>
      </p:sp>
      <p:sp>
        <p:nvSpPr>
          <p:cNvPr id="18" name="Shape 16"/>
          <p:cNvSpPr/>
          <p:nvPr/>
        </p:nvSpPr>
        <p:spPr>
          <a:xfrm>
            <a:off x="8402117" y="2880360"/>
            <a:ext cx="118872" cy="118872"/>
          </a:xfrm>
          <a:prstGeom prst="rect">
            <a:avLst/>
          </a:prstGeom>
          <a:solidFill>
            <a:srgbClr val="6720FF"/>
          </a:solidFill>
          <a:ln w="12700">
            <a:solidFill>
              <a:srgbClr val="6720FF"/>
            </a:solidFill>
            <a:prstDash val="solid"/>
          </a:ln>
        </p:spPr>
      </p:sp>
      <p:sp>
        <p:nvSpPr>
          <p:cNvPr id="19" name="Text 17"/>
          <p:cNvSpPr txBox="1"/>
          <p:nvPr/>
        </p:nvSpPr>
        <p:spPr>
          <a:xfrm>
            <a:off x="8612429" y="2816352"/>
            <a:ext cx="2783738" cy="256032"/>
          </a:xfrm>
          <a:prstGeom prst="rect">
            <a:avLst/>
          </a:prstGeom>
          <a:noFill/>
          <a:ln/>
        </p:spPr>
        <p:txBody>
          <a:bodyPr wrap="square" lIns="0" tIns="0" rIns="0" bIns="0" rtlCol="0" anchor="ctr"/>
          <a:lstStyle/>
          <a:p>
            <a:pPr indent="0" marL="0">
              <a:buNone/>
            </a:pPr>
            <a:r>
              <a:rPr lang="en-US" sz="1100" b="1" spc="150" kern="0" dirty="0">
                <a:solidFill>
                  <a:srgbClr val="6720FF"/>
                </a:solidFill>
              </a:rPr>
              <a:t>WITH EXPANSION</a:t>
            </a:r>
            <a:endParaRPr lang="en-US" sz="1100" dirty="0"/>
          </a:p>
        </p:txBody>
      </p:sp>
      <p:sp>
        <p:nvSpPr>
          <p:cNvPr id="20" name="Text 18"/>
          <p:cNvSpPr txBox="1"/>
          <p:nvPr/>
        </p:nvSpPr>
        <p:spPr>
          <a:xfrm>
            <a:off x="8402117" y="3200400"/>
            <a:ext cx="2966618" cy="685800"/>
          </a:xfrm>
          <a:prstGeom prst="rect">
            <a:avLst/>
          </a:prstGeom>
          <a:noFill/>
          <a:ln/>
        </p:spPr>
        <p:txBody>
          <a:bodyPr wrap="square" lIns="0" tIns="0" rIns="0" bIns="0" rtlCol="0" anchor="t"/>
          <a:lstStyle/>
          <a:p>
            <a:pPr indent="0" marL="0">
              <a:buNone/>
            </a:pPr>
            <a:r>
              <a:rPr lang="en-US" sz="1800" b="1" dirty="0">
                <a:solidFill>
                  <a:schemeClr val="tx1"/>
                </a:solidFill>
              </a:rPr>
              <a:t>Shared five-brand deployment</a:t>
            </a:r>
            <a:endParaRPr lang="en-US" sz="1800" dirty="0"/>
          </a:p>
        </p:txBody>
      </p:sp>
      <p:sp>
        <p:nvSpPr>
          <p:cNvPr id="21" name="Text 19"/>
          <p:cNvSpPr txBox="1"/>
          <p:nvPr/>
        </p:nvSpPr>
        <p:spPr>
          <a:xfrm>
            <a:off x="8402117" y="3931920"/>
            <a:ext cx="2966618" cy="9601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Always-on capacity shared by five brands</a:t>
            </a:r>
            <a:endParaRPr lang="en-US" sz="1400" dirty="0"/>
          </a:p>
          <a:p>
            <a:pPr marL="342900" indent="-342900">
              <a:spcAft>
                <a:spcPts val="600"/>
              </a:spcAft>
              <a:buSzPct val="100000"/>
              <a:buChar char="•"/>
            </a:pPr>
            <a:r>
              <a:rPr lang="en-US" sz="1400" dirty="0">
                <a:solidFill>
                  <a:schemeClr val="tx1"/>
                </a:solidFill>
              </a:rPr>
              <a:t>~$1.2k–1.8k per brand per month</a:t>
            </a:r>
            <a:endParaRPr lang="en-US" sz="1400" dirty="0"/>
          </a:p>
        </p:txBody>
      </p:sp>
      <p:sp>
        <p:nvSpPr>
          <p:cNvPr id="22" name="Text 20"/>
          <p:cNvSpPr txBox="1"/>
          <p:nvPr/>
        </p:nvSpPr>
        <p:spPr>
          <a:xfrm>
            <a:off x="8402117" y="4983480"/>
            <a:ext cx="2966618" cy="685800"/>
          </a:xfrm>
          <a:prstGeom prst="rect">
            <a:avLst/>
          </a:prstGeom>
          <a:noFill/>
          <a:ln/>
        </p:spPr>
        <p:txBody>
          <a:bodyPr wrap="square" lIns="0" tIns="0" rIns="0" bIns="0" rtlCol="0" anchor="t"/>
          <a:lstStyle/>
          <a:p>
            <a:pPr indent="0" marL="0">
              <a:buNone/>
            </a:pPr>
            <a:r>
              <a:rPr lang="en-US" sz="1300" dirty="0">
                <a:solidFill>
                  <a:srgbClr val="5A5E63"/>
                </a:solidFill>
              </a:rPr>
              <a:t>Baseline capacity is affordable once shared</a:t>
            </a:r>
            <a:endParaRPr lang="en-US" sz="1300" dirty="0"/>
          </a:p>
        </p:txBody>
      </p:sp>
      <p:sp>
        <p:nvSpPr>
          <p:cNvPr id="23" name="Text 21"/>
          <p:cNvSpPr txBox="1"/>
          <p:nvPr/>
        </p:nvSpPr>
        <p:spPr>
          <a:xfrm>
            <a:off x="548640" y="5925312"/>
            <a:ext cx="11094415" cy="256032"/>
          </a:xfrm>
          <a:prstGeom prst="rect">
            <a:avLst/>
          </a:prstGeom>
          <a:noFill/>
          <a:ln/>
        </p:spPr>
        <p:txBody>
          <a:bodyPr wrap="square" lIns="0" tIns="0" rIns="0" bIns="0" rtlCol="0" anchor="ctr"/>
          <a:lstStyle/>
          <a:p>
            <a:pPr indent="0" marL="0">
              <a:buNone/>
            </a:pPr>
            <a:r>
              <a:rPr lang="en-US" sz="1000" dirty="0">
                <a:solidFill>
                  <a:srgbClr val="5A5E63"/>
                </a:solidFill>
              </a:rPr>
              <a:t>Capacity figures at Fireworks list rates as of 5 Oct 2026; contracted terms may differ.</a:t>
            </a:r>
            <a:endParaRPr lang="en-US" sz="10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E6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704088" y="457200"/>
            <a:ext cx="8229600" cy="292608"/>
          </a:xfrm>
          <a:prstGeom prst="rect">
            <a:avLst/>
          </a:prstGeom>
          <a:noFill/>
          <a:ln/>
        </p:spPr>
        <p:txBody>
          <a:bodyPr wrap="square" lIns="0" tIns="0" rIns="0" bIns="0" rtlCol="0" anchor="ctr"/>
          <a:lstStyle/>
          <a:p>
            <a:pPr indent="0" marL="0">
              <a:buNone/>
            </a:pPr>
            <a:r>
              <a:rPr lang="en-US" sz="1200" b="1" spc="150" kern="0" dirty="0">
                <a:solidFill>
                  <a:schemeClr val="tx1"/>
                </a:solidFill>
              </a:rPr>
              <a:t>04 · EXPAND, AND HOW</a:t>
            </a:r>
            <a:endParaRPr lang="en-US" sz="1200" dirty="0"/>
          </a:p>
        </p:txBody>
      </p:sp>
      <p:sp>
        <p:nvSpPr>
          <p:cNvPr id="3" name="Text 1"/>
          <p:cNvSpPr/>
          <p:nvPr>
            <p:ph idx="102" type="title" hasCustomPrompt="1"/>
          </p:nvPr>
        </p:nvSpPr>
        <p:spPr>
          <a:xfrm>
            <a:off x="548640" y="804672"/>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One base, one adapter per brand, data kept apart</a:t>
            </a:r>
            <a:endParaRPr lang="en-US" sz="3400" dirty="0"/>
          </a:p>
        </p:txBody>
      </p:sp>
      <p:sp>
        <p:nvSpPr>
          <p:cNvPr id="4" name="Shape 2"/>
          <p:cNvSpPr/>
          <p:nvPr/>
        </p:nvSpPr>
        <p:spPr>
          <a:xfrm>
            <a:off x="548640" y="1828800"/>
            <a:ext cx="7818120" cy="4206240"/>
          </a:xfrm>
          <a:prstGeom prst="roundRect">
            <a:avLst>
              <a:gd name="adj" fmla="val 1739"/>
            </a:avLst>
          </a:prstGeom>
          <a:solidFill>
            <a:srgbClr val="FAF7FF"/>
          </a:solidFill>
          <a:ln w="9525">
            <a:solidFill>
              <a:srgbClr val="E6EAF4"/>
            </a:solidFill>
            <a:prstDash val="solid"/>
          </a:ln>
        </p:spPr>
      </p:sp>
      <p:sp>
        <p:nvSpPr>
          <p:cNvPr id="5" name="Text 3"/>
          <p:cNvSpPr txBox="1"/>
          <p:nvPr/>
        </p:nvSpPr>
        <p:spPr>
          <a:xfrm>
            <a:off x="822960" y="2029968"/>
            <a:ext cx="3657600" cy="256032"/>
          </a:xfrm>
          <a:prstGeom prst="rect">
            <a:avLst/>
          </a:prstGeom>
          <a:noFill/>
          <a:ln/>
        </p:spPr>
        <p:txBody>
          <a:bodyPr wrap="square" lIns="0" tIns="0" rIns="0" bIns="0" rtlCol="0" anchor="ctr"/>
          <a:lstStyle/>
          <a:p>
            <a:pPr indent="0" marL="0">
              <a:buNone/>
            </a:pPr>
            <a:r>
              <a:rPr lang="en-US" sz="1100" b="1" spc="150" kern="0" dirty="0">
                <a:solidFill>
                  <a:srgbClr val="501BC4"/>
                </a:solidFill>
              </a:rPr>
              <a:t>SHARED DEPLOYMENT</a:t>
            </a:r>
            <a:endParaRPr lang="en-US" sz="1100" dirty="0"/>
          </a:p>
        </p:txBody>
      </p:sp>
      <p:sp>
        <p:nvSpPr>
          <p:cNvPr id="6" name="Shape 4"/>
          <p:cNvSpPr/>
          <p:nvPr/>
        </p:nvSpPr>
        <p:spPr>
          <a:xfrm>
            <a:off x="822960" y="2377440"/>
            <a:ext cx="7269480" cy="548640"/>
          </a:xfrm>
          <a:prstGeom prst="roundRect">
            <a:avLst>
              <a:gd name="adj" fmla="val 10000"/>
            </a:avLst>
          </a:prstGeom>
          <a:solidFill>
            <a:srgbClr val="6720FF"/>
          </a:solidFill>
          <a:ln w="12700">
            <a:solidFill>
              <a:srgbClr val="6720FF"/>
            </a:solidFill>
            <a:prstDash val="solid"/>
          </a:ln>
        </p:spPr>
      </p:sp>
      <p:sp>
        <p:nvSpPr>
          <p:cNvPr id="7" name="Text 5"/>
          <p:cNvSpPr txBox="1"/>
          <p:nvPr/>
        </p:nvSpPr>
        <p:spPr>
          <a:xfrm>
            <a:off x="822960" y="2377440"/>
            <a:ext cx="7269480" cy="548640"/>
          </a:xfrm>
          <a:prstGeom prst="rect">
            <a:avLst/>
          </a:prstGeom>
          <a:noFill/>
          <a:ln/>
        </p:spPr>
        <p:txBody>
          <a:bodyPr wrap="square" lIns="0" tIns="0" rIns="0" bIns="0" rtlCol="0" anchor="ctr"/>
          <a:lstStyle/>
          <a:p>
            <a:pPr algn="ctr" indent="0" marL="0">
              <a:buNone/>
            </a:pPr>
            <a:r>
              <a:rPr lang="en-US" sz="1600" b="1" dirty="0">
                <a:solidFill>
                  <a:schemeClr val="bg1"/>
                </a:solidFill>
              </a:rPr>
              <a:t>Open-weight base model</a:t>
            </a:r>
            <a:endParaRPr lang="en-US" sz="1600" dirty="0"/>
          </a:p>
        </p:txBody>
      </p:sp>
      <p:sp>
        <p:nvSpPr>
          <p:cNvPr id="8" name="Shape 6"/>
          <p:cNvSpPr/>
          <p:nvPr/>
        </p:nvSpPr>
        <p:spPr>
          <a:xfrm>
            <a:off x="822960" y="3108960"/>
            <a:ext cx="1344168" cy="2697480"/>
          </a:xfrm>
          <a:prstGeom prst="roundRect">
            <a:avLst>
              <a:gd name="adj" fmla="val 5442"/>
            </a:avLst>
          </a:prstGeom>
          <a:solidFill>
            <a:srgbClr val="FFFFFF"/>
          </a:solidFill>
          <a:ln w="9525">
            <a:solidFill>
              <a:srgbClr val="E6EAF4"/>
            </a:solidFill>
            <a:prstDash val="solid"/>
          </a:ln>
        </p:spPr>
      </p:sp>
      <p:sp>
        <p:nvSpPr>
          <p:cNvPr id="9" name="Text 7"/>
          <p:cNvSpPr txBox="1"/>
          <p:nvPr/>
        </p:nvSpPr>
        <p:spPr>
          <a:xfrm>
            <a:off x="932688" y="3236976"/>
            <a:ext cx="1124712" cy="292608"/>
          </a:xfrm>
          <a:prstGeom prst="rect">
            <a:avLst/>
          </a:prstGeom>
          <a:noFill/>
          <a:ln/>
        </p:spPr>
        <p:txBody>
          <a:bodyPr wrap="square" lIns="0" tIns="0" rIns="0" bIns="0" rtlCol="0" anchor="ctr">
            <a:normAutofit/>
          </a:bodyPr>
          <a:lstStyle/>
          <a:p>
            <a:pPr indent="0" marL="0">
              <a:buNone/>
            </a:pPr>
            <a:r>
              <a:rPr lang="en-US" sz="1300" b="1" dirty="0">
                <a:solidFill>
                  <a:schemeClr val="tx1"/>
                </a:solidFill>
              </a:rPr>
              <a:t>Atlas</a:t>
            </a:r>
            <a:endParaRPr lang="en-US" sz="1300" dirty="0"/>
          </a:p>
        </p:txBody>
      </p:sp>
      <p:sp>
        <p:nvSpPr>
          <p:cNvPr id="10" name="Text 8"/>
          <p:cNvSpPr txBox="1"/>
          <p:nvPr/>
        </p:nvSpPr>
        <p:spPr>
          <a:xfrm>
            <a:off x="932688" y="3547872"/>
            <a:ext cx="1124712" cy="658368"/>
          </a:xfrm>
          <a:prstGeom prst="rect">
            <a:avLst/>
          </a:prstGeom>
          <a:noFill/>
          <a:ln/>
        </p:spPr>
        <p:txBody>
          <a:bodyPr wrap="square" lIns="0" tIns="0" rIns="0" bIns="0" rtlCol="0" anchor="t"/>
          <a:lstStyle/>
          <a:p>
            <a:pPr indent="0" marL="0">
              <a:buNone/>
            </a:pPr>
            <a:r>
              <a:rPr lang="en-US" sz="1100" dirty="0">
                <a:solidFill>
                  <a:srgbClr val="5A5E63"/>
                </a:solidFill>
              </a:rPr>
              <a:t>Existing adapter, unchanged</a:t>
            </a:r>
            <a:endParaRPr lang="en-US" sz="1100" dirty="0"/>
          </a:p>
        </p:txBody>
      </p:sp>
      <p:sp>
        <p:nvSpPr>
          <p:cNvPr id="11" name="Shape 9"/>
          <p:cNvSpPr/>
          <p:nvPr/>
        </p:nvSpPr>
        <p:spPr>
          <a:xfrm>
            <a:off x="932688" y="4297680"/>
            <a:ext cx="1124712" cy="384048"/>
          </a:xfrm>
          <a:prstGeom prst="rect">
            <a:avLst/>
          </a:prstGeom>
          <a:solidFill>
            <a:srgbClr val="EFE7FF"/>
          </a:solidFill>
          <a:ln w="9525">
            <a:solidFill>
              <a:srgbClr val="9D72FE"/>
            </a:solidFill>
            <a:prstDash val="solid"/>
          </a:ln>
        </p:spPr>
      </p:sp>
      <p:sp>
        <p:nvSpPr>
          <p:cNvPr id="12" name="Text 10"/>
          <p:cNvSpPr txBox="1"/>
          <p:nvPr/>
        </p:nvSpPr>
        <p:spPr>
          <a:xfrm>
            <a:off x="932688" y="4297680"/>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Brand adapter</a:t>
            </a:r>
            <a:endParaRPr lang="en-US" sz="1100" dirty="0"/>
          </a:p>
        </p:txBody>
      </p:sp>
      <p:sp>
        <p:nvSpPr>
          <p:cNvPr id="13" name="Shape 11"/>
          <p:cNvSpPr/>
          <p:nvPr/>
        </p:nvSpPr>
        <p:spPr>
          <a:xfrm>
            <a:off x="932688" y="4773168"/>
            <a:ext cx="1124712" cy="384048"/>
          </a:xfrm>
          <a:prstGeom prst="rect">
            <a:avLst/>
          </a:prstGeom>
          <a:solidFill>
            <a:srgbClr val="FAF7FF"/>
          </a:solidFill>
          <a:ln w="9525">
            <a:solidFill>
              <a:srgbClr val="E6EAF4"/>
            </a:solidFill>
            <a:prstDash val="solid"/>
          </a:ln>
        </p:spPr>
      </p:sp>
      <p:sp>
        <p:nvSpPr>
          <p:cNvPr id="14" name="Text 12"/>
          <p:cNvSpPr txBox="1"/>
          <p:nvPr/>
        </p:nvSpPr>
        <p:spPr>
          <a:xfrm>
            <a:off x="932688" y="4773168"/>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Knowledge index</a:t>
            </a:r>
            <a:endParaRPr lang="en-US" sz="1100" dirty="0"/>
          </a:p>
        </p:txBody>
      </p:sp>
      <p:sp>
        <p:nvSpPr>
          <p:cNvPr id="15" name="Shape 13"/>
          <p:cNvSpPr/>
          <p:nvPr/>
        </p:nvSpPr>
        <p:spPr>
          <a:xfrm>
            <a:off x="932688" y="5248656"/>
            <a:ext cx="1124712" cy="384048"/>
          </a:xfrm>
          <a:prstGeom prst="rect">
            <a:avLst/>
          </a:prstGeom>
          <a:solidFill>
            <a:srgbClr val="FAF7FF"/>
          </a:solidFill>
          <a:ln w="9525">
            <a:solidFill>
              <a:srgbClr val="E6EAF4"/>
            </a:solidFill>
            <a:prstDash val="solid"/>
          </a:ln>
        </p:spPr>
      </p:sp>
      <p:sp>
        <p:nvSpPr>
          <p:cNvPr id="16" name="Text 14"/>
          <p:cNvSpPr txBox="1"/>
          <p:nvPr/>
        </p:nvSpPr>
        <p:spPr>
          <a:xfrm>
            <a:off x="932688" y="5248656"/>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System prompt</a:t>
            </a:r>
            <a:endParaRPr lang="en-US" sz="1100" dirty="0"/>
          </a:p>
        </p:txBody>
      </p:sp>
      <p:sp>
        <p:nvSpPr>
          <p:cNvPr id="17" name="Shape 15"/>
          <p:cNvSpPr/>
          <p:nvPr/>
        </p:nvSpPr>
        <p:spPr>
          <a:xfrm>
            <a:off x="2304288" y="3108960"/>
            <a:ext cx="1344168" cy="2697480"/>
          </a:xfrm>
          <a:prstGeom prst="roundRect">
            <a:avLst>
              <a:gd name="adj" fmla="val 5442"/>
            </a:avLst>
          </a:prstGeom>
          <a:solidFill>
            <a:srgbClr val="FFFFFF"/>
          </a:solidFill>
          <a:ln w="9525">
            <a:solidFill>
              <a:srgbClr val="E6EAF4"/>
            </a:solidFill>
            <a:prstDash val="solid"/>
          </a:ln>
        </p:spPr>
      </p:sp>
      <p:sp>
        <p:nvSpPr>
          <p:cNvPr id="18" name="Text 16"/>
          <p:cNvSpPr txBox="1"/>
          <p:nvPr/>
        </p:nvSpPr>
        <p:spPr>
          <a:xfrm>
            <a:off x="2414016" y="3236976"/>
            <a:ext cx="1124712" cy="292608"/>
          </a:xfrm>
          <a:prstGeom prst="rect">
            <a:avLst/>
          </a:prstGeom>
          <a:noFill/>
          <a:ln/>
        </p:spPr>
        <p:txBody>
          <a:bodyPr wrap="square" lIns="0" tIns="0" rIns="0" bIns="0" rtlCol="0" anchor="ctr">
            <a:normAutofit/>
          </a:bodyPr>
          <a:lstStyle/>
          <a:p>
            <a:pPr indent="0" marL="0">
              <a:buNone/>
            </a:pPr>
            <a:r>
              <a:rPr lang="en-US" sz="1300" b="1" dirty="0">
                <a:solidFill>
                  <a:schemeClr val="tx1"/>
                </a:solidFill>
              </a:rPr>
              <a:t>Ridgeline</a:t>
            </a:r>
            <a:endParaRPr lang="en-US" sz="1300" dirty="0"/>
          </a:p>
        </p:txBody>
      </p:sp>
      <p:sp>
        <p:nvSpPr>
          <p:cNvPr id="19" name="Text 17"/>
          <p:cNvSpPr txBox="1"/>
          <p:nvPr/>
        </p:nvSpPr>
        <p:spPr>
          <a:xfrm>
            <a:off x="2414016" y="3547872"/>
            <a:ext cx="1124712" cy="658368"/>
          </a:xfrm>
          <a:prstGeom prst="rect">
            <a:avLst/>
          </a:prstGeom>
          <a:noFill/>
          <a:ln/>
        </p:spPr>
        <p:txBody>
          <a:bodyPr wrap="square" lIns="0" tIns="0" rIns="0" bIns="0" rtlCol="0" anchor="t"/>
          <a:lstStyle/>
          <a:p>
            <a:pPr indent="0" marL="0">
              <a:buNone/>
            </a:pPr>
            <a:r>
              <a:rPr lang="en-US" sz="1100" dirty="0">
                <a:solidFill>
                  <a:srgbClr val="5A5E63"/>
                </a:solidFill>
              </a:rPr>
              <a:t>New adapter (pilot)</a:t>
            </a:r>
            <a:endParaRPr lang="en-US" sz="1100" dirty="0"/>
          </a:p>
        </p:txBody>
      </p:sp>
      <p:sp>
        <p:nvSpPr>
          <p:cNvPr id="20" name="Shape 18"/>
          <p:cNvSpPr/>
          <p:nvPr/>
        </p:nvSpPr>
        <p:spPr>
          <a:xfrm>
            <a:off x="2414016" y="4297680"/>
            <a:ext cx="1124712" cy="384048"/>
          </a:xfrm>
          <a:prstGeom prst="rect">
            <a:avLst/>
          </a:prstGeom>
          <a:solidFill>
            <a:srgbClr val="EFE7FF"/>
          </a:solidFill>
          <a:ln w="9525">
            <a:solidFill>
              <a:srgbClr val="9D72FE"/>
            </a:solidFill>
            <a:prstDash val="solid"/>
          </a:ln>
        </p:spPr>
      </p:sp>
      <p:sp>
        <p:nvSpPr>
          <p:cNvPr id="21" name="Text 19"/>
          <p:cNvSpPr txBox="1"/>
          <p:nvPr/>
        </p:nvSpPr>
        <p:spPr>
          <a:xfrm>
            <a:off x="2414016" y="4297680"/>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Brand adapter</a:t>
            </a:r>
            <a:endParaRPr lang="en-US" sz="1100" dirty="0"/>
          </a:p>
        </p:txBody>
      </p:sp>
      <p:sp>
        <p:nvSpPr>
          <p:cNvPr id="22" name="Shape 20"/>
          <p:cNvSpPr/>
          <p:nvPr/>
        </p:nvSpPr>
        <p:spPr>
          <a:xfrm>
            <a:off x="2414016" y="4773168"/>
            <a:ext cx="1124712" cy="384048"/>
          </a:xfrm>
          <a:prstGeom prst="rect">
            <a:avLst/>
          </a:prstGeom>
          <a:solidFill>
            <a:srgbClr val="FAF7FF"/>
          </a:solidFill>
          <a:ln w="9525">
            <a:solidFill>
              <a:srgbClr val="E6EAF4"/>
            </a:solidFill>
            <a:prstDash val="solid"/>
          </a:ln>
        </p:spPr>
      </p:sp>
      <p:sp>
        <p:nvSpPr>
          <p:cNvPr id="23" name="Text 21"/>
          <p:cNvSpPr txBox="1"/>
          <p:nvPr/>
        </p:nvSpPr>
        <p:spPr>
          <a:xfrm>
            <a:off x="2414016" y="4773168"/>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Knowledge index</a:t>
            </a:r>
            <a:endParaRPr lang="en-US" sz="1100" dirty="0"/>
          </a:p>
        </p:txBody>
      </p:sp>
      <p:sp>
        <p:nvSpPr>
          <p:cNvPr id="24" name="Shape 22"/>
          <p:cNvSpPr/>
          <p:nvPr/>
        </p:nvSpPr>
        <p:spPr>
          <a:xfrm>
            <a:off x="2414016" y="5248656"/>
            <a:ext cx="1124712" cy="384048"/>
          </a:xfrm>
          <a:prstGeom prst="rect">
            <a:avLst/>
          </a:prstGeom>
          <a:solidFill>
            <a:srgbClr val="FAF7FF"/>
          </a:solidFill>
          <a:ln w="9525">
            <a:solidFill>
              <a:srgbClr val="E6EAF4"/>
            </a:solidFill>
            <a:prstDash val="solid"/>
          </a:ln>
        </p:spPr>
      </p:sp>
      <p:sp>
        <p:nvSpPr>
          <p:cNvPr id="25" name="Text 23"/>
          <p:cNvSpPr txBox="1"/>
          <p:nvPr/>
        </p:nvSpPr>
        <p:spPr>
          <a:xfrm>
            <a:off x="2414016" y="5248656"/>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System prompt</a:t>
            </a:r>
            <a:endParaRPr lang="en-US" sz="1100" dirty="0"/>
          </a:p>
        </p:txBody>
      </p:sp>
      <p:sp>
        <p:nvSpPr>
          <p:cNvPr id="26" name="Shape 24"/>
          <p:cNvSpPr/>
          <p:nvPr/>
        </p:nvSpPr>
        <p:spPr>
          <a:xfrm>
            <a:off x="3785616" y="3108960"/>
            <a:ext cx="1344168" cy="2697480"/>
          </a:xfrm>
          <a:prstGeom prst="roundRect">
            <a:avLst>
              <a:gd name="adj" fmla="val 5442"/>
            </a:avLst>
          </a:prstGeom>
          <a:solidFill>
            <a:srgbClr val="FFFFFF"/>
          </a:solidFill>
          <a:ln w="9525">
            <a:solidFill>
              <a:srgbClr val="E6EAF4"/>
            </a:solidFill>
            <a:prstDash val="solid"/>
          </a:ln>
        </p:spPr>
      </p:sp>
      <p:sp>
        <p:nvSpPr>
          <p:cNvPr id="27" name="Text 25"/>
          <p:cNvSpPr txBox="1"/>
          <p:nvPr/>
        </p:nvSpPr>
        <p:spPr>
          <a:xfrm>
            <a:off x="3895344" y="3236976"/>
            <a:ext cx="1124712" cy="292608"/>
          </a:xfrm>
          <a:prstGeom prst="rect">
            <a:avLst/>
          </a:prstGeom>
          <a:noFill/>
          <a:ln/>
        </p:spPr>
        <p:txBody>
          <a:bodyPr wrap="square" lIns="0" tIns="0" rIns="0" bIns="0" rtlCol="0" anchor="ctr">
            <a:normAutofit/>
          </a:bodyPr>
          <a:lstStyle/>
          <a:p>
            <a:pPr indent="0" marL="0">
              <a:buNone/>
            </a:pPr>
            <a:r>
              <a:rPr lang="en-US" sz="1300" b="1" dirty="0">
                <a:solidFill>
                  <a:schemeClr val="tx1"/>
                </a:solidFill>
              </a:rPr>
              <a:t>Halden</a:t>
            </a:r>
            <a:endParaRPr lang="en-US" sz="1300" dirty="0"/>
          </a:p>
        </p:txBody>
      </p:sp>
      <p:sp>
        <p:nvSpPr>
          <p:cNvPr id="28" name="Text 26"/>
          <p:cNvSpPr txBox="1"/>
          <p:nvPr/>
        </p:nvSpPr>
        <p:spPr>
          <a:xfrm>
            <a:off x="3895344" y="3547872"/>
            <a:ext cx="1124712" cy="658368"/>
          </a:xfrm>
          <a:prstGeom prst="rect">
            <a:avLst/>
          </a:prstGeom>
          <a:noFill/>
          <a:ln/>
        </p:spPr>
        <p:txBody>
          <a:bodyPr wrap="square" lIns="0" tIns="0" rIns="0" bIns="0" rtlCol="0" anchor="t"/>
          <a:lstStyle/>
          <a:p>
            <a:pPr indent="0" marL="0">
              <a:buNone/>
            </a:pPr>
            <a:r>
              <a:rPr lang="en-US" sz="1100" dirty="0">
                <a:solidFill>
                  <a:srgbClr val="5A5E63"/>
                </a:solidFill>
              </a:rPr>
              <a:t>New adapter; own deployment when volume justifies</a:t>
            </a:r>
            <a:endParaRPr lang="en-US" sz="1100" dirty="0"/>
          </a:p>
        </p:txBody>
      </p:sp>
      <p:sp>
        <p:nvSpPr>
          <p:cNvPr id="29" name="Shape 27"/>
          <p:cNvSpPr/>
          <p:nvPr/>
        </p:nvSpPr>
        <p:spPr>
          <a:xfrm>
            <a:off x="3895344" y="4297680"/>
            <a:ext cx="1124712" cy="384048"/>
          </a:xfrm>
          <a:prstGeom prst="rect">
            <a:avLst/>
          </a:prstGeom>
          <a:solidFill>
            <a:srgbClr val="EFE7FF"/>
          </a:solidFill>
          <a:ln w="9525">
            <a:solidFill>
              <a:srgbClr val="9D72FE"/>
            </a:solidFill>
            <a:prstDash val="solid"/>
          </a:ln>
        </p:spPr>
      </p:sp>
      <p:sp>
        <p:nvSpPr>
          <p:cNvPr id="30" name="Text 28"/>
          <p:cNvSpPr txBox="1"/>
          <p:nvPr/>
        </p:nvSpPr>
        <p:spPr>
          <a:xfrm>
            <a:off x="3895344" y="4297680"/>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Brand adapter</a:t>
            </a:r>
            <a:endParaRPr lang="en-US" sz="1100" dirty="0"/>
          </a:p>
        </p:txBody>
      </p:sp>
      <p:sp>
        <p:nvSpPr>
          <p:cNvPr id="31" name="Shape 29"/>
          <p:cNvSpPr/>
          <p:nvPr/>
        </p:nvSpPr>
        <p:spPr>
          <a:xfrm>
            <a:off x="3895344" y="4773168"/>
            <a:ext cx="1124712" cy="384048"/>
          </a:xfrm>
          <a:prstGeom prst="rect">
            <a:avLst/>
          </a:prstGeom>
          <a:solidFill>
            <a:srgbClr val="FAF7FF"/>
          </a:solidFill>
          <a:ln w="9525">
            <a:solidFill>
              <a:srgbClr val="E6EAF4"/>
            </a:solidFill>
            <a:prstDash val="solid"/>
          </a:ln>
        </p:spPr>
      </p:sp>
      <p:sp>
        <p:nvSpPr>
          <p:cNvPr id="32" name="Text 30"/>
          <p:cNvSpPr txBox="1"/>
          <p:nvPr/>
        </p:nvSpPr>
        <p:spPr>
          <a:xfrm>
            <a:off x="3895344" y="4773168"/>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Knowledge index</a:t>
            </a:r>
            <a:endParaRPr lang="en-US" sz="1100" dirty="0"/>
          </a:p>
        </p:txBody>
      </p:sp>
      <p:sp>
        <p:nvSpPr>
          <p:cNvPr id="33" name="Shape 31"/>
          <p:cNvSpPr/>
          <p:nvPr/>
        </p:nvSpPr>
        <p:spPr>
          <a:xfrm>
            <a:off x="3895344" y="5248656"/>
            <a:ext cx="1124712" cy="384048"/>
          </a:xfrm>
          <a:prstGeom prst="rect">
            <a:avLst/>
          </a:prstGeom>
          <a:solidFill>
            <a:srgbClr val="FAF7FF"/>
          </a:solidFill>
          <a:ln w="9525">
            <a:solidFill>
              <a:srgbClr val="E6EAF4"/>
            </a:solidFill>
            <a:prstDash val="solid"/>
          </a:ln>
        </p:spPr>
      </p:sp>
      <p:sp>
        <p:nvSpPr>
          <p:cNvPr id="34" name="Text 32"/>
          <p:cNvSpPr txBox="1"/>
          <p:nvPr/>
        </p:nvSpPr>
        <p:spPr>
          <a:xfrm>
            <a:off x="3895344" y="5248656"/>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System prompt</a:t>
            </a:r>
            <a:endParaRPr lang="en-US" sz="1100" dirty="0"/>
          </a:p>
        </p:txBody>
      </p:sp>
      <p:sp>
        <p:nvSpPr>
          <p:cNvPr id="35" name="Shape 33"/>
          <p:cNvSpPr/>
          <p:nvPr/>
        </p:nvSpPr>
        <p:spPr>
          <a:xfrm>
            <a:off x="5266944" y="3108960"/>
            <a:ext cx="1344168" cy="2697480"/>
          </a:xfrm>
          <a:prstGeom prst="roundRect">
            <a:avLst>
              <a:gd name="adj" fmla="val 5442"/>
            </a:avLst>
          </a:prstGeom>
          <a:solidFill>
            <a:srgbClr val="FFFFFF"/>
          </a:solidFill>
          <a:ln w="9525">
            <a:solidFill>
              <a:srgbClr val="E6EAF4"/>
            </a:solidFill>
            <a:prstDash val="solid"/>
          </a:ln>
        </p:spPr>
      </p:sp>
      <p:sp>
        <p:nvSpPr>
          <p:cNvPr id="36" name="Text 34"/>
          <p:cNvSpPr txBox="1"/>
          <p:nvPr/>
        </p:nvSpPr>
        <p:spPr>
          <a:xfrm>
            <a:off x="5376672" y="3236976"/>
            <a:ext cx="1124712" cy="292608"/>
          </a:xfrm>
          <a:prstGeom prst="rect">
            <a:avLst/>
          </a:prstGeom>
          <a:noFill/>
          <a:ln/>
        </p:spPr>
        <p:txBody>
          <a:bodyPr wrap="square" lIns="0" tIns="0" rIns="0" bIns="0" rtlCol="0" anchor="ctr">
            <a:normAutofit/>
          </a:bodyPr>
          <a:lstStyle/>
          <a:p>
            <a:pPr indent="0" marL="0">
              <a:buNone/>
            </a:pPr>
            <a:r>
              <a:rPr lang="en-US" sz="1300" b="1" dirty="0">
                <a:solidFill>
                  <a:schemeClr val="tx1"/>
                </a:solidFill>
              </a:rPr>
              <a:t>Polar</a:t>
            </a:r>
            <a:endParaRPr lang="en-US" sz="1300" dirty="0"/>
          </a:p>
        </p:txBody>
      </p:sp>
      <p:sp>
        <p:nvSpPr>
          <p:cNvPr id="37" name="Text 35"/>
          <p:cNvSpPr txBox="1"/>
          <p:nvPr/>
        </p:nvSpPr>
        <p:spPr>
          <a:xfrm>
            <a:off x="5376672" y="3547872"/>
            <a:ext cx="1124712" cy="658368"/>
          </a:xfrm>
          <a:prstGeom prst="rect">
            <a:avLst/>
          </a:prstGeom>
          <a:noFill/>
          <a:ln/>
        </p:spPr>
        <p:txBody>
          <a:bodyPr wrap="square" lIns="0" tIns="0" rIns="0" bIns="0" rtlCol="0" anchor="t"/>
          <a:lstStyle/>
          <a:p>
            <a:pPr indent="0" marL="0">
              <a:buNone/>
            </a:pPr>
            <a:r>
              <a:rPr lang="en-US" sz="1100" dirty="0">
                <a:solidFill>
                  <a:srgbClr val="5A5E63"/>
                </a:solidFill>
              </a:rPr>
              <a:t>New adapter</a:t>
            </a:r>
            <a:endParaRPr lang="en-US" sz="1100" dirty="0"/>
          </a:p>
        </p:txBody>
      </p:sp>
      <p:sp>
        <p:nvSpPr>
          <p:cNvPr id="38" name="Shape 36"/>
          <p:cNvSpPr/>
          <p:nvPr/>
        </p:nvSpPr>
        <p:spPr>
          <a:xfrm>
            <a:off x="5376672" y="4297680"/>
            <a:ext cx="1124712" cy="384048"/>
          </a:xfrm>
          <a:prstGeom prst="rect">
            <a:avLst/>
          </a:prstGeom>
          <a:solidFill>
            <a:srgbClr val="EFE7FF"/>
          </a:solidFill>
          <a:ln w="9525">
            <a:solidFill>
              <a:srgbClr val="9D72FE"/>
            </a:solidFill>
            <a:prstDash val="solid"/>
          </a:ln>
        </p:spPr>
      </p:sp>
      <p:sp>
        <p:nvSpPr>
          <p:cNvPr id="39" name="Text 37"/>
          <p:cNvSpPr txBox="1"/>
          <p:nvPr/>
        </p:nvSpPr>
        <p:spPr>
          <a:xfrm>
            <a:off x="5376672" y="4297680"/>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Brand adapter</a:t>
            </a:r>
            <a:endParaRPr lang="en-US" sz="1100" dirty="0"/>
          </a:p>
        </p:txBody>
      </p:sp>
      <p:sp>
        <p:nvSpPr>
          <p:cNvPr id="40" name="Shape 38"/>
          <p:cNvSpPr/>
          <p:nvPr/>
        </p:nvSpPr>
        <p:spPr>
          <a:xfrm>
            <a:off x="5376672" y="4773168"/>
            <a:ext cx="1124712" cy="384048"/>
          </a:xfrm>
          <a:prstGeom prst="rect">
            <a:avLst/>
          </a:prstGeom>
          <a:solidFill>
            <a:srgbClr val="FAF7FF"/>
          </a:solidFill>
          <a:ln w="9525">
            <a:solidFill>
              <a:srgbClr val="E6EAF4"/>
            </a:solidFill>
            <a:prstDash val="solid"/>
          </a:ln>
        </p:spPr>
      </p:sp>
      <p:sp>
        <p:nvSpPr>
          <p:cNvPr id="41" name="Text 39"/>
          <p:cNvSpPr txBox="1"/>
          <p:nvPr/>
        </p:nvSpPr>
        <p:spPr>
          <a:xfrm>
            <a:off x="5376672" y="4773168"/>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Knowledge index</a:t>
            </a:r>
            <a:endParaRPr lang="en-US" sz="1100" dirty="0"/>
          </a:p>
        </p:txBody>
      </p:sp>
      <p:sp>
        <p:nvSpPr>
          <p:cNvPr id="42" name="Shape 40"/>
          <p:cNvSpPr/>
          <p:nvPr/>
        </p:nvSpPr>
        <p:spPr>
          <a:xfrm>
            <a:off x="5376672" y="5248656"/>
            <a:ext cx="1124712" cy="384048"/>
          </a:xfrm>
          <a:prstGeom prst="rect">
            <a:avLst/>
          </a:prstGeom>
          <a:solidFill>
            <a:srgbClr val="FAF7FF"/>
          </a:solidFill>
          <a:ln w="9525">
            <a:solidFill>
              <a:srgbClr val="E6EAF4"/>
            </a:solidFill>
            <a:prstDash val="solid"/>
          </a:ln>
        </p:spPr>
      </p:sp>
      <p:sp>
        <p:nvSpPr>
          <p:cNvPr id="43" name="Text 41"/>
          <p:cNvSpPr txBox="1"/>
          <p:nvPr/>
        </p:nvSpPr>
        <p:spPr>
          <a:xfrm>
            <a:off x="5376672" y="5248656"/>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System prompt</a:t>
            </a:r>
            <a:endParaRPr lang="en-US" sz="1100" dirty="0"/>
          </a:p>
        </p:txBody>
      </p:sp>
      <p:sp>
        <p:nvSpPr>
          <p:cNvPr id="44" name="Shape 42"/>
          <p:cNvSpPr/>
          <p:nvPr/>
        </p:nvSpPr>
        <p:spPr>
          <a:xfrm>
            <a:off x="6748272" y="3108960"/>
            <a:ext cx="1344168" cy="2697480"/>
          </a:xfrm>
          <a:prstGeom prst="roundRect">
            <a:avLst>
              <a:gd name="adj" fmla="val 5442"/>
            </a:avLst>
          </a:prstGeom>
          <a:solidFill>
            <a:srgbClr val="FFFFFF"/>
          </a:solidFill>
          <a:ln w="9525">
            <a:solidFill>
              <a:srgbClr val="E6EAF4"/>
            </a:solidFill>
            <a:prstDash val="solid"/>
          </a:ln>
        </p:spPr>
      </p:sp>
      <p:sp>
        <p:nvSpPr>
          <p:cNvPr id="45" name="Text 43"/>
          <p:cNvSpPr txBox="1"/>
          <p:nvPr/>
        </p:nvSpPr>
        <p:spPr>
          <a:xfrm>
            <a:off x="6858000" y="3236976"/>
            <a:ext cx="1124712" cy="292608"/>
          </a:xfrm>
          <a:prstGeom prst="rect">
            <a:avLst/>
          </a:prstGeom>
          <a:noFill/>
          <a:ln/>
        </p:spPr>
        <p:txBody>
          <a:bodyPr wrap="square" lIns="0" tIns="0" rIns="0" bIns="0" rtlCol="0" anchor="ctr">
            <a:normAutofit/>
          </a:bodyPr>
          <a:lstStyle/>
          <a:p>
            <a:pPr indent="0" marL="0">
              <a:buNone/>
            </a:pPr>
            <a:r>
              <a:rPr lang="en-US" sz="1300" b="1" dirty="0">
                <a:solidFill>
                  <a:schemeClr val="tx1"/>
                </a:solidFill>
              </a:rPr>
              <a:t>Harbour &amp; Hide</a:t>
            </a:r>
            <a:endParaRPr lang="en-US" sz="1300" dirty="0"/>
          </a:p>
        </p:txBody>
      </p:sp>
      <p:sp>
        <p:nvSpPr>
          <p:cNvPr id="46" name="Text 44"/>
          <p:cNvSpPr txBox="1"/>
          <p:nvPr/>
        </p:nvSpPr>
        <p:spPr>
          <a:xfrm>
            <a:off x="6858000" y="3547872"/>
            <a:ext cx="1124712" cy="658368"/>
          </a:xfrm>
          <a:prstGeom prst="rect">
            <a:avLst/>
          </a:prstGeom>
          <a:noFill/>
          <a:ln/>
        </p:spPr>
        <p:txBody>
          <a:bodyPr wrap="square" lIns="0" tIns="0" rIns="0" bIns="0" rtlCol="0" anchor="t"/>
          <a:lstStyle/>
          <a:p>
            <a:pPr indent="0" marL="0">
              <a:buNone/>
            </a:pPr>
            <a:r>
              <a:rPr lang="en-US" sz="1100" dirty="0">
                <a:solidFill>
                  <a:srgbClr val="5A5E63"/>
                </a:solidFill>
              </a:rPr>
              <a:t>New adapter</a:t>
            </a:r>
            <a:endParaRPr lang="en-US" sz="1100" dirty="0"/>
          </a:p>
        </p:txBody>
      </p:sp>
      <p:sp>
        <p:nvSpPr>
          <p:cNvPr id="47" name="Shape 45"/>
          <p:cNvSpPr/>
          <p:nvPr/>
        </p:nvSpPr>
        <p:spPr>
          <a:xfrm>
            <a:off x="6858000" y="4297680"/>
            <a:ext cx="1124712" cy="384048"/>
          </a:xfrm>
          <a:prstGeom prst="rect">
            <a:avLst/>
          </a:prstGeom>
          <a:solidFill>
            <a:srgbClr val="EFE7FF"/>
          </a:solidFill>
          <a:ln w="9525">
            <a:solidFill>
              <a:srgbClr val="9D72FE"/>
            </a:solidFill>
            <a:prstDash val="solid"/>
          </a:ln>
        </p:spPr>
      </p:sp>
      <p:sp>
        <p:nvSpPr>
          <p:cNvPr id="48" name="Text 46"/>
          <p:cNvSpPr txBox="1"/>
          <p:nvPr/>
        </p:nvSpPr>
        <p:spPr>
          <a:xfrm>
            <a:off x="6858000" y="4297680"/>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Brand adapter</a:t>
            </a:r>
            <a:endParaRPr lang="en-US" sz="1100" dirty="0"/>
          </a:p>
        </p:txBody>
      </p:sp>
      <p:sp>
        <p:nvSpPr>
          <p:cNvPr id="49" name="Shape 47"/>
          <p:cNvSpPr/>
          <p:nvPr/>
        </p:nvSpPr>
        <p:spPr>
          <a:xfrm>
            <a:off x="6858000" y="4773168"/>
            <a:ext cx="1124712" cy="384048"/>
          </a:xfrm>
          <a:prstGeom prst="rect">
            <a:avLst/>
          </a:prstGeom>
          <a:solidFill>
            <a:srgbClr val="FAF7FF"/>
          </a:solidFill>
          <a:ln w="9525">
            <a:solidFill>
              <a:srgbClr val="E6EAF4"/>
            </a:solidFill>
            <a:prstDash val="solid"/>
          </a:ln>
        </p:spPr>
      </p:sp>
      <p:sp>
        <p:nvSpPr>
          <p:cNvPr id="50" name="Text 48"/>
          <p:cNvSpPr txBox="1"/>
          <p:nvPr/>
        </p:nvSpPr>
        <p:spPr>
          <a:xfrm>
            <a:off x="6858000" y="4773168"/>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Knowledge index</a:t>
            </a:r>
            <a:endParaRPr lang="en-US" sz="1100" dirty="0"/>
          </a:p>
        </p:txBody>
      </p:sp>
      <p:sp>
        <p:nvSpPr>
          <p:cNvPr id="51" name="Shape 49"/>
          <p:cNvSpPr/>
          <p:nvPr/>
        </p:nvSpPr>
        <p:spPr>
          <a:xfrm>
            <a:off x="6858000" y="5248656"/>
            <a:ext cx="1124712" cy="384048"/>
          </a:xfrm>
          <a:prstGeom prst="rect">
            <a:avLst/>
          </a:prstGeom>
          <a:solidFill>
            <a:srgbClr val="FAF7FF"/>
          </a:solidFill>
          <a:ln w="9525">
            <a:solidFill>
              <a:srgbClr val="E6EAF4"/>
            </a:solidFill>
            <a:prstDash val="solid"/>
          </a:ln>
        </p:spPr>
      </p:sp>
      <p:sp>
        <p:nvSpPr>
          <p:cNvPr id="52" name="Text 50"/>
          <p:cNvSpPr txBox="1"/>
          <p:nvPr/>
        </p:nvSpPr>
        <p:spPr>
          <a:xfrm>
            <a:off x="6858000" y="5248656"/>
            <a:ext cx="1124712" cy="384048"/>
          </a:xfrm>
          <a:prstGeom prst="rect">
            <a:avLst/>
          </a:prstGeom>
          <a:noFill/>
          <a:ln/>
        </p:spPr>
        <p:txBody>
          <a:bodyPr wrap="square" lIns="0" tIns="0" rIns="0" bIns="0" rtlCol="0" anchor="ctr"/>
          <a:lstStyle/>
          <a:p>
            <a:pPr algn="ctr" indent="0" marL="0">
              <a:buNone/>
            </a:pPr>
            <a:r>
              <a:rPr lang="en-US" sz="1100" dirty="0">
                <a:solidFill>
                  <a:schemeClr val="tx1"/>
                </a:solidFill>
              </a:rPr>
              <a:t>System prompt</a:t>
            </a:r>
            <a:endParaRPr lang="en-US" sz="1100" dirty="0"/>
          </a:p>
        </p:txBody>
      </p:sp>
      <p:sp>
        <p:nvSpPr>
          <p:cNvPr id="53" name="Shape 51"/>
          <p:cNvSpPr/>
          <p:nvPr/>
        </p:nvSpPr>
        <p:spPr>
          <a:xfrm>
            <a:off x="8686800" y="1938528"/>
            <a:ext cx="128016" cy="128016"/>
          </a:xfrm>
          <a:prstGeom prst="rect">
            <a:avLst/>
          </a:prstGeom>
          <a:solidFill>
            <a:srgbClr val="1DA28F"/>
          </a:solidFill>
          <a:ln w="12700">
            <a:solidFill>
              <a:srgbClr val="1DA28F"/>
            </a:solidFill>
            <a:prstDash val="solid"/>
          </a:ln>
        </p:spPr>
      </p:sp>
      <p:sp>
        <p:nvSpPr>
          <p:cNvPr id="54" name="Text 52"/>
          <p:cNvSpPr txBox="1"/>
          <p:nvPr/>
        </p:nvSpPr>
        <p:spPr>
          <a:xfrm>
            <a:off x="8961120" y="1874520"/>
            <a:ext cx="2681935" cy="128016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Data isolation</a:t>
            </a:r>
            <a:endParaRPr lang="en-US" sz="1400" dirty="0"/>
          </a:p>
          <a:p>
            <a:pPr indent="0" marL="0">
              <a:spcAft>
                <a:spcPts val="400"/>
              </a:spcAft>
              <a:buNone/>
            </a:pPr>
            <a:r>
              <a:rPr lang="en-US" sz="1300" dirty="0">
                <a:solidFill>
                  <a:srgbClr val="5A5E63"/>
                </a:solidFill>
              </a:rPr>
              <a:t>Each brand’s catalogue sits in its own knowledge index; each adapter is trained on that brand’s transcripts.</a:t>
            </a:r>
            <a:endParaRPr lang="en-US" sz="1400" dirty="0"/>
          </a:p>
        </p:txBody>
      </p:sp>
      <p:sp>
        <p:nvSpPr>
          <p:cNvPr id="55" name="Shape 53"/>
          <p:cNvSpPr/>
          <p:nvPr/>
        </p:nvSpPr>
        <p:spPr>
          <a:xfrm>
            <a:off x="8686800" y="3355848"/>
            <a:ext cx="128016" cy="128016"/>
          </a:xfrm>
          <a:prstGeom prst="rect">
            <a:avLst/>
          </a:prstGeom>
          <a:solidFill>
            <a:srgbClr val="6720FF"/>
          </a:solidFill>
          <a:ln w="12700">
            <a:solidFill>
              <a:srgbClr val="6720FF"/>
            </a:solidFill>
            <a:prstDash val="solid"/>
          </a:ln>
        </p:spPr>
      </p:sp>
      <p:sp>
        <p:nvSpPr>
          <p:cNvPr id="56" name="Text 54"/>
          <p:cNvSpPr txBox="1"/>
          <p:nvPr/>
        </p:nvSpPr>
        <p:spPr>
          <a:xfrm>
            <a:off x="8961120" y="3291840"/>
            <a:ext cx="2681935" cy="128016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Why not reuse Atlas with a new prompt?</a:t>
            </a:r>
            <a:endParaRPr lang="en-US" sz="1400" dirty="0"/>
          </a:p>
          <a:p>
            <a:pPr indent="0" marL="0">
              <a:spcAft>
                <a:spcPts val="400"/>
              </a:spcAft>
              <a:buNone/>
            </a:pPr>
            <a:r>
              <a:rPr lang="en-US" sz="1300" dirty="0">
                <a:solidFill>
                  <a:srgbClr val="5A5E63"/>
                </a:solidFill>
              </a:rPr>
              <a:t>Atlas’s tone and return policies are learned into its adapter and would leak into other brands.</a:t>
            </a:r>
            <a:endParaRPr lang="en-US" sz="1400" dirty="0"/>
          </a:p>
        </p:txBody>
      </p:sp>
      <p:sp>
        <p:nvSpPr>
          <p:cNvPr id="57" name="Shape 55"/>
          <p:cNvSpPr/>
          <p:nvPr/>
        </p:nvSpPr>
        <p:spPr>
          <a:xfrm>
            <a:off x="8686800" y="4773168"/>
            <a:ext cx="128016" cy="128016"/>
          </a:xfrm>
          <a:prstGeom prst="rect">
            <a:avLst/>
          </a:prstGeom>
          <a:solidFill>
            <a:srgbClr val="6720FF"/>
          </a:solidFill>
          <a:ln w="12700">
            <a:solidFill>
              <a:srgbClr val="6720FF"/>
            </a:solidFill>
            <a:prstDash val="solid"/>
          </a:ln>
        </p:spPr>
      </p:sp>
      <p:sp>
        <p:nvSpPr>
          <p:cNvPr id="58" name="Text 56"/>
          <p:cNvSpPr txBox="1"/>
          <p:nvPr/>
        </p:nvSpPr>
        <p:spPr>
          <a:xfrm>
            <a:off x="8961120" y="4709160"/>
            <a:ext cx="2681935" cy="128016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Why not five separate models?</a:t>
            </a:r>
            <a:endParaRPr lang="en-US" sz="1400" dirty="0"/>
          </a:p>
          <a:p>
            <a:pPr indent="0" marL="0">
              <a:spcAft>
                <a:spcPts val="400"/>
              </a:spcAft>
              <a:buNone/>
            </a:pPr>
            <a:r>
              <a:rPr lang="en-US" sz="1300" dirty="0">
                <a:solidFill>
                  <a:srgbClr val="5A5E63"/>
                </a:solidFill>
              </a:rPr>
              <a:t>Five deployments to run and retrain, and the smaller brands lack the data to train them well.</a:t>
            </a:r>
            <a:endParaRPr lang="en-US" sz="14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E6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704088" y="457200"/>
            <a:ext cx="8229600" cy="292608"/>
          </a:xfrm>
          <a:prstGeom prst="rect">
            <a:avLst/>
          </a:prstGeom>
          <a:noFill/>
          <a:ln/>
        </p:spPr>
        <p:txBody>
          <a:bodyPr wrap="square" lIns="0" tIns="0" rIns="0" bIns="0" rtlCol="0" anchor="ctr"/>
          <a:lstStyle/>
          <a:p>
            <a:pPr indent="0" marL="0">
              <a:buNone/>
            </a:pPr>
            <a:r>
              <a:rPr lang="en-US" sz="1200" b="1" spc="150" kern="0" dirty="0">
                <a:solidFill>
                  <a:schemeClr val="tx1"/>
                </a:solidFill>
              </a:rPr>
              <a:t>05 · PILOT</a:t>
            </a:r>
            <a:endParaRPr lang="en-US" sz="1200" dirty="0"/>
          </a:p>
        </p:txBody>
      </p:sp>
      <p:sp>
        <p:nvSpPr>
          <p:cNvPr id="3" name="Text 1"/>
          <p:cNvSpPr/>
          <p:nvPr>
            <p:ph idx="102" type="title" hasCustomPrompt="1"/>
          </p:nvPr>
        </p:nvSpPr>
        <p:spPr>
          <a:xfrm>
            <a:off x="548640" y="804672"/>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Ridgeline pilot: two arms, agreed criteria</a:t>
            </a:r>
            <a:endParaRPr lang="en-US" sz="3400" dirty="0"/>
          </a:p>
        </p:txBody>
      </p:sp>
      <p:sp>
        <p:nvSpPr>
          <p:cNvPr id="4" name="Text 2"/>
          <p:cNvSpPr txBox="1"/>
          <p:nvPr/>
        </p:nvSpPr>
        <p:spPr>
          <a:xfrm>
            <a:off x="548640" y="1783080"/>
            <a:ext cx="11094415" cy="594360"/>
          </a:xfrm>
          <a:prstGeom prst="rect">
            <a:avLst/>
          </a:prstGeom>
          <a:noFill/>
          <a:ln/>
        </p:spPr>
        <p:txBody>
          <a:bodyPr wrap="square" lIns="0" tIns="0" rIns="0" bIns="0" rtlCol="0" anchor="ctr"/>
          <a:lstStyle/>
          <a:p>
            <a:pPr indent="0" marL="0">
              <a:buNone/>
            </a:pPr>
            <a:r>
              <a:rPr lang="en-US" sz="1500" dirty="0">
                <a:solidFill>
                  <a:schemeClr val="tx1"/>
                </a:solidFill>
              </a:rPr>
              <a:t>Ridgeline is closest to Atlas in product and customer, uses the same Zendesk tooling and runs at moderate volume, so it tests tone and return-policy transfer with limited exposure.</a:t>
            </a:r>
            <a:endParaRPr lang="en-US" sz="1500" dirty="0"/>
          </a:p>
        </p:txBody>
      </p:sp>
      <p:sp>
        <p:nvSpPr>
          <p:cNvPr id="5" name="Shape 3"/>
          <p:cNvSpPr/>
          <p:nvPr/>
        </p:nvSpPr>
        <p:spPr>
          <a:xfrm>
            <a:off x="548640" y="2560320"/>
            <a:ext cx="5120640" cy="1554480"/>
          </a:xfrm>
          <a:prstGeom prst="roundRect">
            <a:avLst>
              <a:gd name="adj" fmla="val 4706"/>
            </a:avLst>
          </a:prstGeom>
          <a:solidFill>
            <a:srgbClr val="FFFFFF"/>
          </a:solidFill>
          <a:ln w="9525">
            <a:solidFill>
              <a:srgbClr val="E6EAF4"/>
            </a:solidFill>
            <a:prstDash val="solid"/>
          </a:ln>
        </p:spPr>
      </p:sp>
      <p:sp>
        <p:nvSpPr>
          <p:cNvPr id="6" name="Shape 4"/>
          <p:cNvSpPr/>
          <p:nvPr/>
        </p:nvSpPr>
        <p:spPr>
          <a:xfrm>
            <a:off x="822960" y="2834640"/>
            <a:ext cx="118872" cy="118872"/>
          </a:xfrm>
          <a:prstGeom prst="rect">
            <a:avLst/>
          </a:prstGeom>
          <a:solidFill>
            <a:srgbClr val="1DA28F"/>
          </a:solidFill>
          <a:ln w="12700">
            <a:solidFill>
              <a:srgbClr val="1DA28F"/>
            </a:solidFill>
            <a:prstDash val="solid"/>
          </a:ln>
        </p:spPr>
      </p:sp>
      <p:sp>
        <p:nvSpPr>
          <p:cNvPr id="7" name="Text 5"/>
          <p:cNvSpPr txBox="1"/>
          <p:nvPr/>
        </p:nvSpPr>
        <p:spPr>
          <a:xfrm>
            <a:off x="1033272" y="2761488"/>
            <a:ext cx="4389120" cy="256032"/>
          </a:xfrm>
          <a:prstGeom prst="rect">
            <a:avLst/>
          </a:prstGeom>
          <a:noFill/>
          <a:ln/>
        </p:spPr>
        <p:txBody>
          <a:bodyPr wrap="square" lIns="0" tIns="0" rIns="0" bIns="0" rtlCol="0" anchor="ctr"/>
          <a:lstStyle/>
          <a:p>
            <a:pPr indent="0" marL="0">
              <a:buNone/>
            </a:pPr>
            <a:r>
              <a:rPr lang="en-US" sz="1100" b="1" spc="150" kern="0" dirty="0">
                <a:solidFill>
                  <a:srgbClr val="1DA28F"/>
                </a:solidFill>
              </a:rPr>
              <a:t>ARM A · LOWEST COST</a:t>
            </a:r>
            <a:endParaRPr lang="en-US" sz="1100" dirty="0"/>
          </a:p>
        </p:txBody>
      </p:sp>
      <p:sp>
        <p:nvSpPr>
          <p:cNvPr id="8" name="Text 6"/>
          <p:cNvSpPr txBox="1"/>
          <p:nvPr/>
        </p:nvSpPr>
        <p:spPr>
          <a:xfrm>
            <a:off x="822960" y="3063240"/>
            <a:ext cx="4572000" cy="9601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Base model + Ridgeline prompt + Ridgeline knowledge index</a:t>
            </a:r>
            <a:endParaRPr lang="en-US" sz="1400" dirty="0"/>
          </a:p>
          <a:p>
            <a:pPr indent="0" marL="0">
              <a:spcAft>
                <a:spcPts val="400"/>
              </a:spcAft>
              <a:buNone/>
            </a:pPr>
            <a:r>
              <a:rPr lang="en-US" sz="1300" dirty="0">
                <a:solidFill>
                  <a:srgbClr val="5A5E63"/>
                </a:solidFill>
              </a:rPr>
              <a:t>No brand-specific training. If it clears every criterion, no adapter is needed.</a:t>
            </a:r>
            <a:endParaRPr lang="en-US" sz="1400" dirty="0"/>
          </a:p>
        </p:txBody>
      </p:sp>
      <p:sp>
        <p:nvSpPr>
          <p:cNvPr id="9" name="Shape 7"/>
          <p:cNvSpPr/>
          <p:nvPr/>
        </p:nvSpPr>
        <p:spPr>
          <a:xfrm>
            <a:off x="548640" y="4251960"/>
            <a:ext cx="5120640" cy="1554480"/>
          </a:xfrm>
          <a:prstGeom prst="roundRect">
            <a:avLst>
              <a:gd name="adj" fmla="val 4706"/>
            </a:avLst>
          </a:prstGeom>
          <a:solidFill>
            <a:srgbClr val="FAF7FF"/>
          </a:solidFill>
          <a:ln w="9525">
            <a:solidFill>
              <a:srgbClr val="9D72FE"/>
            </a:solidFill>
            <a:prstDash val="solid"/>
          </a:ln>
        </p:spPr>
      </p:sp>
      <p:sp>
        <p:nvSpPr>
          <p:cNvPr id="10" name="Shape 8"/>
          <p:cNvSpPr/>
          <p:nvPr/>
        </p:nvSpPr>
        <p:spPr>
          <a:xfrm>
            <a:off x="822960" y="4526280"/>
            <a:ext cx="118872" cy="118872"/>
          </a:xfrm>
          <a:prstGeom prst="rect">
            <a:avLst/>
          </a:prstGeom>
          <a:solidFill>
            <a:srgbClr val="6720FF"/>
          </a:solidFill>
          <a:ln w="12700">
            <a:solidFill>
              <a:srgbClr val="6720FF"/>
            </a:solidFill>
            <a:prstDash val="solid"/>
          </a:ln>
        </p:spPr>
      </p:sp>
      <p:sp>
        <p:nvSpPr>
          <p:cNvPr id="11" name="Text 9"/>
          <p:cNvSpPr txBox="1"/>
          <p:nvPr/>
        </p:nvSpPr>
        <p:spPr>
          <a:xfrm>
            <a:off x="1033272" y="4453128"/>
            <a:ext cx="4389120" cy="256032"/>
          </a:xfrm>
          <a:prstGeom prst="rect">
            <a:avLst/>
          </a:prstGeom>
          <a:noFill/>
          <a:ln/>
        </p:spPr>
        <p:txBody>
          <a:bodyPr wrap="square" lIns="0" tIns="0" rIns="0" bIns="0" rtlCol="0" anchor="ctr"/>
          <a:lstStyle/>
          <a:p>
            <a:pPr indent="0" marL="0">
              <a:buNone/>
            </a:pPr>
            <a:r>
              <a:rPr lang="en-US" sz="1100" b="1" spc="150" kern="0" dirty="0">
                <a:solidFill>
                  <a:srgbClr val="6720FF"/>
                </a:solidFill>
              </a:rPr>
              <a:t>ARM B · BRAND-TUNED</a:t>
            </a:r>
            <a:endParaRPr lang="en-US" sz="1100" dirty="0"/>
          </a:p>
        </p:txBody>
      </p:sp>
      <p:sp>
        <p:nvSpPr>
          <p:cNvPr id="12" name="Text 10"/>
          <p:cNvSpPr txBox="1"/>
          <p:nvPr/>
        </p:nvSpPr>
        <p:spPr>
          <a:xfrm>
            <a:off x="822960" y="4754880"/>
            <a:ext cx="4572000" cy="96012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Base model + Ridgeline adapter + prompt + knowledge index</a:t>
            </a:r>
            <a:endParaRPr lang="en-US" sz="1400" dirty="0"/>
          </a:p>
          <a:p>
            <a:pPr indent="0" marL="0">
              <a:spcAft>
                <a:spcPts val="400"/>
              </a:spcAft>
              <a:buNone/>
            </a:pPr>
            <a:r>
              <a:rPr lang="en-US" sz="1300" dirty="0">
                <a:solidFill>
                  <a:srgbClr val="5A5E63"/>
                </a:solidFill>
              </a:rPr>
              <a:t>Tone and policy learned from Ridgeline transcripts.</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35040" y="2606040"/>
          <a:ext cx="5608015" cy="914400"/>
        </p:xfrm>
        <a:graphic>
          <a:graphicData uri="http://schemas.openxmlformats.org/drawingml/2006/table">
            <a:tbl>
              <a:tblPr/>
              <a:tblGrid>
                <a:gridCol w="2691847"/>
                <a:gridCol w="2916168"/>
              </a:tblGrid>
              <a:tr h="457200">
                <a:tc>
                  <a:txBody>
                    <a:bodyPr/>
                    <a:lstStyle/>
                    <a:p>
                      <a:pPr indent="0" marL="0">
                        <a:buNone/>
                      </a:pPr>
                      <a:r>
                        <a:rPr lang="en-US" sz="1200" b="1" dirty="0">
                          <a:solidFill>
                            <a:schemeClr val="tx1"/>
                          </a:solidFill>
                        </a:rPr>
                        <a:t>Success criterion (four weeks)</a:t>
                      </a:r>
                      <a:endParaRPr lang="en-US" sz="12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solidFill>
                      <a:srgbClr val="FAF7FF"/>
                    </a:solidFill>
                  </a:tcPr>
                </a:tc>
                <a:tc>
                  <a:txBody>
                    <a:bodyPr/>
                    <a:lstStyle/>
                    <a:p>
                      <a:pPr indent="0" marL="0">
                        <a:buNone/>
                      </a:pPr>
                      <a:r>
                        <a:rPr lang="en-US" sz="1200" b="1" dirty="0">
                          <a:solidFill>
                            <a:schemeClr val="tx1"/>
                          </a:solidFill>
                        </a:rPr>
                        <a:t>Target</a:t>
                      </a:r>
                      <a:endParaRPr lang="en-US" sz="12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solidFill>
                      <a:srgbClr val="FAF7FF"/>
                    </a:solidFill>
                  </a:tcPr>
                </a:tc>
              </a:tr>
              <a:tr h="457200">
                <a:tc>
                  <a:txBody>
                    <a:bodyPr/>
                    <a:lstStyle/>
                    <a:p>
                      <a:pPr indent="0" marL="0">
                        <a:buNone/>
                      </a:pPr>
                      <a:r>
                        <a:rPr lang="en-US" sz="1400" dirty="0">
                          <a:solidFill>
                            <a:schemeClr val="tx1"/>
                          </a:solidFill>
                        </a:rPr>
                        <a:t>Grounded answers</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c>
                  <a:txBody>
                    <a:bodyPr/>
                    <a:lstStyle/>
                    <a:p>
                      <a:pPr indent="0" marL="0">
                        <a:buNone/>
                      </a:pPr>
                      <a:r>
                        <a:rPr lang="en-US" sz="1400" dirty="0">
                          <a:solidFill>
                            <a:schemeClr val="tx1"/>
                          </a:solidFill>
                        </a:rPr>
                        <a:t>≥ 95%</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r>
              <a:tr h="457200">
                <a:tc>
                  <a:txBody>
                    <a:bodyPr/>
                    <a:lstStyle/>
                    <a:p>
                      <a:pPr indent="0" marL="0">
                        <a:buNone/>
                      </a:pPr>
                      <a:r>
                        <a:rPr lang="en-US" sz="1400" dirty="0">
                          <a:solidFill>
                            <a:schemeClr val="tx1"/>
                          </a:solidFill>
                        </a:rPr>
                        <a:t>Eval pass rate</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c>
                  <a:txBody>
                    <a:bodyPr/>
                    <a:lstStyle/>
                    <a:p>
                      <a:pPr indent="0" marL="0">
                        <a:buNone/>
                      </a:pPr>
                      <a:r>
                        <a:rPr lang="en-US" sz="1400" dirty="0">
                          <a:solidFill>
                            <a:schemeClr val="tx1"/>
                          </a:solidFill>
                        </a:rPr>
                        <a:t>≥ 93%</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r>
              <a:tr h="457200">
                <a:tc>
                  <a:txBody>
                    <a:bodyPr/>
                    <a:lstStyle/>
                    <a:p>
                      <a:pPr indent="0" marL="0">
                        <a:buNone/>
                      </a:pPr>
                      <a:r>
                        <a:rPr lang="en-US" sz="1400" dirty="0">
                          <a:solidFill>
                            <a:schemeClr val="tx1"/>
                          </a:solidFill>
                        </a:rPr>
                        <a:t>Escalation rate</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c>
                  <a:txBody>
                    <a:bodyPr/>
                    <a:lstStyle/>
                    <a:p>
                      <a:pPr indent="0" marL="0">
                        <a:buNone/>
                      </a:pPr>
                      <a:r>
                        <a:rPr lang="en-US" sz="1400" dirty="0">
                          <a:solidFill>
                            <a:schemeClr val="tx1"/>
                          </a:solidFill>
                        </a:rPr>
                        <a:t>≤ 12%</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r>
              <a:tr h="457200">
                <a:tc>
                  <a:txBody>
                    <a:bodyPr/>
                    <a:lstStyle/>
                    <a:p>
                      <a:pPr indent="0" marL="0">
                        <a:buNone/>
                      </a:pPr>
                      <a:r>
                        <a:rPr lang="en-US" sz="1400" dirty="0">
                          <a:solidFill>
                            <a:schemeClr val="tx1"/>
                          </a:solidFill>
                        </a:rPr>
                        <a:t>CSAT</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c>
                  <a:txBody>
                    <a:bodyPr/>
                    <a:lstStyle/>
                    <a:p>
                      <a:pPr indent="0" marL="0">
                        <a:buNone/>
                      </a:pPr>
                      <a:r>
                        <a:rPr lang="en-US" sz="1400" dirty="0">
                          <a:solidFill>
                            <a:schemeClr val="tx1"/>
                          </a:solidFill>
                        </a:rPr>
                        <a:t>≥ Atlas final week (83.7)</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r>
              <a:tr h="457200">
                <a:tc>
                  <a:txBody>
                    <a:bodyPr/>
                    <a:lstStyle/>
                    <a:p>
                      <a:pPr indent="0" marL="0">
                        <a:buNone/>
                      </a:pPr>
                      <a:r>
                        <a:rPr lang="en-US" sz="1400" dirty="0">
                          <a:solidFill>
                            <a:schemeClr val="tx1"/>
                          </a:solidFill>
                        </a:rPr>
                        <a:t>P95 latency</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c>
                  <a:txBody>
                    <a:bodyPr/>
                    <a:lstStyle/>
                    <a:p>
                      <a:pPr indent="0" marL="0">
                        <a:buNone/>
                      </a:pPr>
                      <a:r>
                        <a:rPr lang="en-US" sz="1400" dirty="0">
                          <a:solidFill>
                            <a:schemeClr val="tx1"/>
                          </a:solidFill>
                        </a:rPr>
                        <a:t>≤ 1.3 s through one promotion peak</a:t>
                      </a:r>
                      <a:endParaRPr lang="en-US" sz="1400" dirty="0"/>
                    </a:p>
                  </a:txBody>
                  <a:tcPr marL="137160" marR="137160" marT="0" marB="0" anchor="ctr">
                    <a:lnL w="9525" cap="flat" cmpd="sng" algn="ctr">
                      <a:solidFill>
                        <a:srgbClr val="E6EAF4"/>
                      </a:solidFill>
                      <a:prstDash val="solid"/>
                      <a:round/>
                      <a:headEnd type="none" w="med" len="med"/>
                      <a:tailEnd type="none" w="med" len="med"/>
                    </a:lnL>
                    <a:lnR w="9525" cap="flat" cmpd="sng" algn="ctr">
                      <a:solidFill>
                        <a:srgbClr val="E6EAF4"/>
                      </a:solidFill>
                      <a:prstDash val="solid"/>
                      <a:round/>
                      <a:headEnd type="none" w="med" len="med"/>
                      <a:tailEnd type="none" w="med" len="med"/>
                    </a:lnR>
                    <a:lnT w="9525" cap="flat" cmpd="sng" algn="ctr">
                      <a:solidFill>
                        <a:srgbClr val="E6EAF4"/>
                      </a:solidFill>
                      <a:prstDash val="solid"/>
                      <a:round/>
                      <a:headEnd type="none" w="med" len="med"/>
                      <a:tailEnd type="none" w="med" len="med"/>
                    </a:lnT>
                    <a:lnB w="9525" cap="flat" cmpd="sng" algn="ctr">
                      <a:solidFill>
                        <a:srgbClr val="E6EAF4"/>
                      </a:solidFill>
                      <a:prstDash val="solid"/>
                      <a:round/>
                      <a:headEnd type="none" w="med" len="med"/>
                      <a:tailEnd type="none" w="med" len="med"/>
                    </a:lnB>
                  </a:tcPr>
                </a:tc>
              </a:tr>
            </a:tbl>
          </a:graphicData>
        </a:graphic>
      </p:graphicFrame>
      <p:sp>
        <p:nvSpPr>
          <p:cNvPr id="14" name="Text 11"/>
          <p:cNvSpPr txBox="1"/>
          <p:nvPr/>
        </p:nvSpPr>
        <p:spPr>
          <a:xfrm>
            <a:off x="6035040" y="5486400"/>
            <a:ext cx="5608015" cy="594360"/>
          </a:xfrm>
          <a:prstGeom prst="rect">
            <a:avLst/>
          </a:prstGeom>
          <a:noFill/>
          <a:ln/>
        </p:spPr>
        <p:txBody>
          <a:bodyPr wrap="square" lIns="0" tIns="0" rIns="0" bIns="0" rtlCol="0" anchor="t"/>
          <a:lstStyle/>
          <a:p>
            <a:pPr indent="0" marL="0">
              <a:buNone/>
            </a:pPr>
            <a:r>
              <a:rPr lang="en-US" sz="1200" dirty="0">
                <a:solidFill>
                  <a:srgbClr val="5A5E63"/>
                </a:solidFill>
              </a:rPr>
              <a:t>Evidence for wave 2: one arm clears every criterion, the arm is chosen on quality, and Ridgeline’s handle-time and CSAT baselines are captured before launch so the uplift is measured directly.</a:t>
            </a:r>
            <a:endParaRPr lang="en-US" sz="12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E6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704088" y="457200"/>
            <a:ext cx="8229600" cy="292608"/>
          </a:xfrm>
          <a:prstGeom prst="rect">
            <a:avLst/>
          </a:prstGeom>
          <a:noFill/>
          <a:ln/>
        </p:spPr>
        <p:txBody>
          <a:bodyPr wrap="square" lIns="0" tIns="0" rIns="0" bIns="0" rtlCol="0" anchor="ctr"/>
          <a:lstStyle/>
          <a:p>
            <a:pPr indent="0" marL="0">
              <a:buNone/>
            </a:pPr>
            <a:r>
              <a:rPr lang="en-US" sz="1200" b="1" spc="150" kern="0" dirty="0">
                <a:solidFill>
                  <a:schemeClr val="tx1"/>
                </a:solidFill>
              </a:rPr>
              <a:t>06 · SEQUENCE AND BUDGET</a:t>
            </a:r>
            <a:endParaRPr lang="en-US" sz="1200" dirty="0"/>
          </a:p>
        </p:txBody>
      </p:sp>
      <p:sp>
        <p:nvSpPr>
          <p:cNvPr id="3" name="Text 1"/>
          <p:cNvSpPr/>
          <p:nvPr>
            <p:ph idx="102" type="title" hasCustomPrompt="1"/>
          </p:nvPr>
        </p:nvSpPr>
        <p:spPr>
          <a:xfrm>
            <a:off x="548640" y="804672"/>
            <a:ext cx="11094415" cy="822960"/>
          </a:xfrm>
          <a:prstGeom prst="rect">
            <a:avLst/>
          </a:prstGeom>
          <a:noFill/>
          <a:ln/>
        </p:spPr>
        <p:txBody>
          <a:bodyPr wrap="square" lIns="0" tIns="0" rIns="0" bIns="0" rtlCol="0" anchor="t"/>
          <a:lstStyle/>
          <a:p>
            <a:pPr algn="l" indent="0" marL="0">
              <a:buNone/>
            </a:pPr>
            <a:r>
              <a:rPr lang="en-US" sz="3400" b="1" dirty="0">
                <a:solidFill>
                  <a:schemeClr val="tx1"/>
                </a:solidFill>
              </a:rPr>
              <a:t>From pilot to five brands by mid-2027</a:t>
            </a:r>
            <a:endParaRPr lang="en-US" sz="3400" dirty="0"/>
          </a:p>
        </p:txBody>
      </p:sp>
      <p:sp>
        <p:nvSpPr>
          <p:cNvPr id="4" name="Shape 2"/>
          <p:cNvSpPr/>
          <p:nvPr/>
        </p:nvSpPr>
        <p:spPr>
          <a:xfrm>
            <a:off x="640080" y="2148840"/>
            <a:ext cx="10911535" cy="0"/>
          </a:xfrm>
          <a:prstGeom prst="line">
            <a:avLst/>
          </a:prstGeom>
          <a:noFill/>
          <a:ln w="19050">
            <a:solidFill>
              <a:srgbClr val="9D72FE"/>
            </a:solidFill>
            <a:prstDash val="solid"/>
          </a:ln>
        </p:spPr>
      </p:sp>
      <p:sp>
        <p:nvSpPr>
          <p:cNvPr id="5" name="Shape 3"/>
          <p:cNvSpPr/>
          <p:nvPr/>
        </p:nvSpPr>
        <p:spPr>
          <a:xfrm>
            <a:off x="640080" y="2066544"/>
            <a:ext cx="164592" cy="164592"/>
          </a:xfrm>
          <a:prstGeom prst="rect">
            <a:avLst/>
          </a:prstGeom>
          <a:solidFill>
            <a:srgbClr val="6720FF"/>
          </a:solidFill>
          <a:ln w="12700">
            <a:solidFill>
              <a:srgbClr val="6720FF"/>
            </a:solidFill>
            <a:prstDash val="solid"/>
          </a:ln>
        </p:spPr>
      </p:sp>
      <p:sp>
        <p:nvSpPr>
          <p:cNvPr id="6" name="Text 4"/>
          <p:cNvSpPr txBox="1"/>
          <p:nvPr/>
        </p:nvSpPr>
        <p:spPr>
          <a:xfrm>
            <a:off x="640080" y="2404872"/>
            <a:ext cx="1620469" cy="292608"/>
          </a:xfrm>
          <a:prstGeom prst="rect">
            <a:avLst/>
          </a:prstGeom>
          <a:noFill/>
          <a:ln/>
        </p:spPr>
        <p:txBody>
          <a:bodyPr wrap="square" lIns="0" tIns="0" rIns="0" bIns="0" rtlCol="0" anchor="ctr"/>
          <a:lstStyle/>
          <a:p>
            <a:pPr indent="0" marL="0">
              <a:buNone/>
            </a:pPr>
            <a:r>
              <a:rPr lang="en-US" sz="1400" b="1" dirty="0">
                <a:solidFill>
                  <a:schemeClr val="tx1"/>
                </a:solidFill>
              </a:rPr>
              <a:t>Oct 2026</a:t>
            </a:r>
            <a:endParaRPr lang="en-US" sz="1400" dirty="0"/>
          </a:p>
        </p:txBody>
      </p:sp>
      <p:sp>
        <p:nvSpPr>
          <p:cNvPr id="7" name="Text 5"/>
          <p:cNvSpPr txBox="1"/>
          <p:nvPr/>
        </p:nvSpPr>
        <p:spPr>
          <a:xfrm>
            <a:off x="640080" y="2715768"/>
            <a:ext cx="1620469" cy="777240"/>
          </a:xfrm>
          <a:prstGeom prst="rect">
            <a:avLst/>
          </a:prstGeom>
          <a:noFill/>
          <a:ln/>
        </p:spPr>
        <p:txBody>
          <a:bodyPr wrap="square" lIns="0" tIns="0" rIns="0" bIns="0" rtlCol="0" anchor="t"/>
          <a:lstStyle/>
          <a:p>
            <a:pPr indent="0" marL="0">
              <a:buNone/>
            </a:pPr>
            <a:r>
              <a:rPr lang="en-US" sz="1300" dirty="0">
                <a:solidFill>
                  <a:srgbClr val="5A5E63"/>
                </a:solidFill>
              </a:rPr>
              <a:t>Executive review, sponsor, dependencies</a:t>
            </a:r>
            <a:endParaRPr lang="en-US" sz="1300" dirty="0"/>
          </a:p>
        </p:txBody>
      </p:sp>
      <p:sp>
        <p:nvSpPr>
          <p:cNvPr id="8" name="Shape 6"/>
          <p:cNvSpPr/>
          <p:nvPr/>
        </p:nvSpPr>
        <p:spPr>
          <a:xfrm>
            <a:off x="2489149" y="2066544"/>
            <a:ext cx="164592" cy="164592"/>
          </a:xfrm>
          <a:prstGeom prst="rect">
            <a:avLst/>
          </a:prstGeom>
          <a:solidFill>
            <a:srgbClr val="6720FF"/>
          </a:solidFill>
          <a:ln w="12700">
            <a:solidFill>
              <a:srgbClr val="6720FF"/>
            </a:solidFill>
            <a:prstDash val="solid"/>
          </a:ln>
        </p:spPr>
      </p:sp>
      <p:sp>
        <p:nvSpPr>
          <p:cNvPr id="9" name="Text 7"/>
          <p:cNvSpPr txBox="1"/>
          <p:nvPr/>
        </p:nvSpPr>
        <p:spPr>
          <a:xfrm>
            <a:off x="2489149" y="2404872"/>
            <a:ext cx="1620469" cy="292608"/>
          </a:xfrm>
          <a:prstGeom prst="rect">
            <a:avLst/>
          </a:prstGeom>
          <a:noFill/>
          <a:ln/>
        </p:spPr>
        <p:txBody>
          <a:bodyPr wrap="square" lIns="0" tIns="0" rIns="0" bIns="0" rtlCol="0" anchor="ctr"/>
          <a:lstStyle/>
          <a:p>
            <a:pPr indent="0" marL="0">
              <a:buNone/>
            </a:pPr>
            <a:r>
              <a:rPr lang="en-US" sz="1400" b="1" dirty="0">
                <a:solidFill>
                  <a:schemeClr val="tx1"/>
                </a:solidFill>
              </a:rPr>
              <a:t>Nov 2026</a:t>
            </a:r>
            <a:endParaRPr lang="en-US" sz="1400" dirty="0"/>
          </a:p>
        </p:txBody>
      </p:sp>
      <p:sp>
        <p:nvSpPr>
          <p:cNvPr id="10" name="Text 8"/>
          <p:cNvSpPr txBox="1"/>
          <p:nvPr/>
        </p:nvSpPr>
        <p:spPr>
          <a:xfrm>
            <a:off x="2489149" y="2715768"/>
            <a:ext cx="1620469" cy="777240"/>
          </a:xfrm>
          <a:prstGeom prst="rect">
            <a:avLst/>
          </a:prstGeom>
          <a:noFill/>
          <a:ln/>
        </p:spPr>
        <p:txBody>
          <a:bodyPr wrap="square" lIns="0" tIns="0" rIns="0" bIns="0" rtlCol="0" anchor="t"/>
          <a:lstStyle/>
          <a:p>
            <a:pPr indent="0" marL="0">
              <a:buNone/>
            </a:pPr>
            <a:r>
              <a:rPr lang="en-US" sz="1300" dirty="0">
                <a:solidFill>
                  <a:srgbClr val="5A5E63"/>
                </a:solidFill>
              </a:rPr>
              <a:t>Shared deployment live; Atlas parity; Ridgeline adapter</a:t>
            </a:r>
            <a:endParaRPr lang="en-US" sz="1300" dirty="0"/>
          </a:p>
        </p:txBody>
      </p:sp>
      <p:sp>
        <p:nvSpPr>
          <p:cNvPr id="11" name="Shape 9"/>
          <p:cNvSpPr/>
          <p:nvPr/>
        </p:nvSpPr>
        <p:spPr>
          <a:xfrm>
            <a:off x="4338218" y="2066544"/>
            <a:ext cx="164592" cy="164592"/>
          </a:xfrm>
          <a:prstGeom prst="rect">
            <a:avLst/>
          </a:prstGeom>
          <a:solidFill>
            <a:srgbClr val="6720FF"/>
          </a:solidFill>
          <a:ln w="12700">
            <a:solidFill>
              <a:srgbClr val="6720FF"/>
            </a:solidFill>
            <a:prstDash val="solid"/>
          </a:ln>
        </p:spPr>
      </p:sp>
      <p:sp>
        <p:nvSpPr>
          <p:cNvPr id="12" name="Text 10"/>
          <p:cNvSpPr txBox="1"/>
          <p:nvPr/>
        </p:nvSpPr>
        <p:spPr>
          <a:xfrm>
            <a:off x="4338218" y="2404872"/>
            <a:ext cx="1620469" cy="292608"/>
          </a:xfrm>
          <a:prstGeom prst="rect">
            <a:avLst/>
          </a:prstGeom>
          <a:noFill/>
          <a:ln/>
        </p:spPr>
        <p:txBody>
          <a:bodyPr wrap="square" lIns="0" tIns="0" rIns="0" bIns="0" rtlCol="0" anchor="ctr"/>
          <a:lstStyle/>
          <a:p>
            <a:pPr indent="0" marL="0">
              <a:buNone/>
            </a:pPr>
            <a:r>
              <a:rPr lang="en-US" sz="1400" b="1" dirty="0">
                <a:solidFill>
                  <a:schemeClr val="tx1"/>
                </a:solidFill>
              </a:rPr>
              <a:t>Nov–Dec</a:t>
            </a:r>
            <a:endParaRPr lang="en-US" sz="1400" dirty="0"/>
          </a:p>
        </p:txBody>
      </p:sp>
      <p:sp>
        <p:nvSpPr>
          <p:cNvPr id="13" name="Text 11"/>
          <p:cNvSpPr txBox="1"/>
          <p:nvPr/>
        </p:nvSpPr>
        <p:spPr>
          <a:xfrm>
            <a:off x="4338218" y="2715768"/>
            <a:ext cx="1620469" cy="777240"/>
          </a:xfrm>
          <a:prstGeom prst="rect">
            <a:avLst/>
          </a:prstGeom>
          <a:noFill/>
          <a:ln/>
        </p:spPr>
        <p:txBody>
          <a:bodyPr wrap="square" lIns="0" tIns="0" rIns="0" bIns="0" rtlCol="0" anchor="t"/>
          <a:lstStyle/>
          <a:p>
            <a:pPr indent="0" marL="0">
              <a:buNone/>
            </a:pPr>
            <a:r>
              <a:rPr lang="en-US" sz="1300" dirty="0">
                <a:solidFill>
                  <a:srgbClr val="5A5E63"/>
                </a:solidFill>
              </a:rPr>
              <a:t>Ridgeline pilot, four weeks</a:t>
            </a:r>
            <a:endParaRPr lang="en-US" sz="1300" dirty="0"/>
          </a:p>
        </p:txBody>
      </p:sp>
      <p:sp>
        <p:nvSpPr>
          <p:cNvPr id="14" name="Shape 12"/>
          <p:cNvSpPr/>
          <p:nvPr/>
        </p:nvSpPr>
        <p:spPr>
          <a:xfrm>
            <a:off x="6187288" y="2066544"/>
            <a:ext cx="164592" cy="164592"/>
          </a:xfrm>
          <a:prstGeom prst="rect">
            <a:avLst/>
          </a:prstGeom>
          <a:solidFill>
            <a:srgbClr val="6720FF"/>
          </a:solidFill>
          <a:ln w="12700">
            <a:solidFill>
              <a:srgbClr val="6720FF"/>
            </a:solidFill>
            <a:prstDash val="solid"/>
          </a:ln>
        </p:spPr>
      </p:sp>
      <p:sp>
        <p:nvSpPr>
          <p:cNvPr id="15" name="Text 13"/>
          <p:cNvSpPr txBox="1"/>
          <p:nvPr/>
        </p:nvSpPr>
        <p:spPr>
          <a:xfrm>
            <a:off x="6187288" y="2404872"/>
            <a:ext cx="1620469" cy="292608"/>
          </a:xfrm>
          <a:prstGeom prst="rect">
            <a:avLst/>
          </a:prstGeom>
          <a:noFill/>
          <a:ln/>
        </p:spPr>
        <p:txBody>
          <a:bodyPr wrap="square" lIns="0" tIns="0" rIns="0" bIns="0" rtlCol="0" anchor="ctr"/>
          <a:lstStyle/>
          <a:p>
            <a:pPr indent="0" marL="0">
              <a:buNone/>
            </a:pPr>
            <a:r>
              <a:rPr lang="en-US" sz="1400" b="1" dirty="0">
                <a:solidFill>
                  <a:schemeClr val="tx1"/>
                </a:solidFill>
              </a:rPr>
              <a:t>Jan 2027</a:t>
            </a:r>
            <a:endParaRPr lang="en-US" sz="1400" dirty="0"/>
          </a:p>
        </p:txBody>
      </p:sp>
      <p:sp>
        <p:nvSpPr>
          <p:cNvPr id="16" name="Text 14"/>
          <p:cNvSpPr txBox="1"/>
          <p:nvPr/>
        </p:nvSpPr>
        <p:spPr>
          <a:xfrm>
            <a:off x="6187288" y="2715768"/>
            <a:ext cx="1620469" cy="777240"/>
          </a:xfrm>
          <a:prstGeom prst="rect">
            <a:avLst/>
          </a:prstGeom>
          <a:noFill/>
          <a:ln/>
        </p:spPr>
        <p:txBody>
          <a:bodyPr wrap="square" lIns="0" tIns="0" rIns="0" bIns="0" rtlCol="0" anchor="t"/>
          <a:lstStyle/>
          <a:p>
            <a:pPr indent="0" marL="0">
              <a:buNone/>
            </a:pPr>
            <a:r>
              <a:rPr lang="en-US" sz="1300" dirty="0">
                <a:solidFill>
                  <a:srgbClr val="5A5E63"/>
                </a:solidFill>
              </a:rPr>
              <a:t>Readout and wave-2 decision</a:t>
            </a:r>
            <a:endParaRPr lang="en-US" sz="1300" dirty="0"/>
          </a:p>
        </p:txBody>
      </p:sp>
      <p:sp>
        <p:nvSpPr>
          <p:cNvPr id="17" name="Shape 15"/>
          <p:cNvSpPr/>
          <p:nvPr/>
        </p:nvSpPr>
        <p:spPr>
          <a:xfrm>
            <a:off x="8036357" y="2066544"/>
            <a:ext cx="164592" cy="164592"/>
          </a:xfrm>
          <a:prstGeom prst="rect">
            <a:avLst/>
          </a:prstGeom>
          <a:solidFill>
            <a:srgbClr val="9D72FE"/>
          </a:solidFill>
          <a:ln w="12700">
            <a:solidFill>
              <a:srgbClr val="9D72FE"/>
            </a:solidFill>
            <a:prstDash val="solid"/>
          </a:ln>
        </p:spPr>
      </p:sp>
      <p:sp>
        <p:nvSpPr>
          <p:cNvPr id="18" name="Text 16"/>
          <p:cNvSpPr txBox="1"/>
          <p:nvPr/>
        </p:nvSpPr>
        <p:spPr>
          <a:xfrm>
            <a:off x="8036357" y="2404872"/>
            <a:ext cx="1620469" cy="292608"/>
          </a:xfrm>
          <a:prstGeom prst="rect">
            <a:avLst/>
          </a:prstGeom>
          <a:noFill/>
          <a:ln/>
        </p:spPr>
        <p:txBody>
          <a:bodyPr wrap="square" lIns="0" tIns="0" rIns="0" bIns="0" rtlCol="0" anchor="ctr"/>
          <a:lstStyle/>
          <a:p>
            <a:pPr indent="0" marL="0">
              <a:buNone/>
            </a:pPr>
            <a:r>
              <a:rPr lang="en-US" sz="1400" b="1" dirty="0">
                <a:solidFill>
                  <a:schemeClr val="tx1"/>
                </a:solidFill>
              </a:rPr>
              <a:t>Q1 2027</a:t>
            </a:r>
            <a:endParaRPr lang="en-US" sz="1400" dirty="0"/>
          </a:p>
        </p:txBody>
      </p:sp>
      <p:sp>
        <p:nvSpPr>
          <p:cNvPr id="19" name="Text 17"/>
          <p:cNvSpPr txBox="1"/>
          <p:nvPr/>
        </p:nvSpPr>
        <p:spPr>
          <a:xfrm>
            <a:off x="8036357" y="2715768"/>
            <a:ext cx="1620469" cy="777240"/>
          </a:xfrm>
          <a:prstGeom prst="rect">
            <a:avLst/>
          </a:prstGeom>
          <a:noFill/>
          <a:ln/>
        </p:spPr>
        <p:txBody>
          <a:bodyPr wrap="square" lIns="0" tIns="0" rIns="0" bIns="0" rtlCol="0" anchor="t"/>
          <a:lstStyle/>
          <a:p>
            <a:pPr indent="0" marL="0">
              <a:buNone/>
            </a:pPr>
            <a:r>
              <a:rPr lang="en-US" sz="1300" dirty="0">
                <a:solidFill>
                  <a:srgbClr val="5A5E63"/>
                </a:solidFill>
              </a:rPr>
              <a:t>Halden and Polar</a:t>
            </a:r>
            <a:endParaRPr lang="en-US" sz="1300" dirty="0"/>
          </a:p>
        </p:txBody>
      </p:sp>
      <p:sp>
        <p:nvSpPr>
          <p:cNvPr id="20" name="Shape 18"/>
          <p:cNvSpPr/>
          <p:nvPr/>
        </p:nvSpPr>
        <p:spPr>
          <a:xfrm>
            <a:off x="9885426" y="2066544"/>
            <a:ext cx="164592" cy="164592"/>
          </a:xfrm>
          <a:prstGeom prst="rect">
            <a:avLst/>
          </a:prstGeom>
          <a:solidFill>
            <a:srgbClr val="9D72FE"/>
          </a:solidFill>
          <a:ln w="12700">
            <a:solidFill>
              <a:srgbClr val="9D72FE"/>
            </a:solidFill>
            <a:prstDash val="solid"/>
          </a:ln>
        </p:spPr>
      </p:sp>
      <p:sp>
        <p:nvSpPr>
          <p:cNvPr id="21" name="Text 19"/>
          <p:cNvSpPr txBox="1"/>
          <p:nvPr/>
        </p:nvSpPr>
        <p:spPr>
          <a:xfrm>
            <a:off x="9885426" y="2404872"/>
            <a:ext cx="1620469" cy="292608"/>
          </a:xfrm>
          <a:prstGeom prst="rect">
            <a:avLst/>
          </a:prstGeom>
          <a:noFill/>
          <a:ln/>
        </p:spPr>
        <p:txBody>
          <a:bodyPr wrap="square" lIns="0" tIns="0" rIns="0" bIns="0" rtlCol="0" anchor="ctr"/>
          <a:lstStyle/>
          <a:p>
            <a:pPr indent="0" marL="0">
              <a:buNone/>
            </a:pPr>
            <a:r>
              <a:rPr lang="en-US" sz="1400" b="1" dirty="0">
                <a:solidFill>
                  <a:schemeClr val="tx1"/>
                </a:solidFill>
              </a:rPr>
              <a:t>Q2 2027</a:t>
            </a:r>
            <a:endParaRPr lang="en-US" sz="1400" dirty="0"/>
          </a:p>
        </p:txBody>
      </p:sp>
      <p:sp>
        <p:nvSpPr>
          <p:cNvPr id="22" name="Text 20"/>
          <p:cNvSpPr txBox="1"/>
          <p:nvPr/>
        </p:nvSpPr>
        <p:spPr>
          <a:xfrm>
            <a:off x="9885426" y="2715768"/>
            <a:ext cx="1620469" cy="777240"/>
          </a:xfrm>
          <a:prstGeom prst="rect">
            <a:avLst/>
          </a:prstGeom>
          <a:noFill/>
          <a:ln/>
        </p:spPr>
        <p:txBody>
          <a:bodyPr wrap="square" lIns="0" tIns="0" rIns="0" bIns="0" rtlCol="0" anchor="t"/>
          <a:lstStyle/>
          <a:p>
            <a:pPr indent="0" marL="0">
              <a:buNone/>
            </a:pPr>
            <a:r>
              <a:rPr lang="en-US" sz="1300" dirty="0">
                <a:solidFill>
                  <a:srgbClr val="5A5E63"/>
                </a:solidFill>
              </a:rPr>
              <a:t>Harbour &amp; Hide</a:t>
            </a:r>
            <a:endParaRPr lang="en-US" sz="1300" dirty="0"/>
          </a:p>
        </p:txBody>
      </p:sp>
      <p:sp>
        <p:nvSpPr>
          <p:cNvPr id="23" name="Shape 21"/>
          <p:cNvSpPr/>
          <p:nvPr/>
        </p:nvSpPr>
        <p:spPr>
          <a:xfrm>
            <a:off x="548640" y="3794760"/>
            <a:ext cx="3515258" cy="2148840"/>
          </a:xfrm>
          <a:prstGeom prst="roundRect">
            <a:avLst>
              <a:gd name="adj" fmla="val 3404"/>
            </a:avLst>
          </a:prstGeom>
          <a:solidFill>
            <a:srgbClr val="FAF7FF"/>
          </a:solidFill>
          <a:ln w="9525">
            <a:solidFill>
              <a:srgbClr val="E6EAF4"/>
            </a:solidFill>
            <a:prstDash val="solid"/>
          </a:ln>
        </p:spPr>
      </p:sp>
      <p:sp>
        <p:nvSpPr>
          <p:cNvPr id="24" name="Text 22"/>
          <p:cNvSpPr txBox="1"/>
          <p:nvPr/>
        </p:nvSpPr>
        <p:spPr>
          <a:xfrm>
            <a:off x="822960" y="4023360"/>
            <a:ext cx="2966618" cy="320040"/>
          </a:xfrm>
          <a:prstGeom prst="rect">
            <a:avLst/>
          </a:prstGeom>
          <a:noFill/>
          <a:ln/>
        </p:spPr>
        <p:txBody>
          <a:bodyPr wrap="square" lIns="0" tIns="0" rIns="0" bIns="0" rtlCol="0" anchor="ctr"/>
          <a:lstStyle/>
          <a:p>
            <a:pPr indent="0" marL="0">
              <a:buNone/>
            </a:pPr>
            <a:r>
              <a:rPr lang="en-US" sz="1600" b="1" dirty="0">
                <a:solidFill>
                  <a:schemeClr val="tx1"/>
                </a:solidFill>
              </a:rPr>
              <a:t>Pilot window</a:t>
            </a:r>
            <a:endParaRPr lang="en-US" sz="1600" dirty="0"/>
          </a:p>
        </p:txBody>
      </p:sp>
      <p:sp>
        <p:nvSpPr>
          <p:cNvPr id="25" name="Text 23"/>
          <p:cNvSpPr txBox="1"/>
          <p:nvPr/>
        </p:nvSpPr>
        <p:spPr>
          <a:xfrm>
            <a:off x="822960" y="4434840"/>
            <a:ext cx="2966618" cy="1371600"/>
          </a:xfrm>
          <a:prstGeom prst="rect">
            <a:avLst/>
          </a:prstGeom>
          <a:noFill/>
          <a:ln/>
        </p:spPr>
        <p:txBody>
          <a:bodyPr wrap="square" lIns="0" tIns="0" rIns="0" bIns="0" rtlCol="0" anchor="t"/>
          <a:lstStyle/>
          <a:p>
            <a:pPr indent="0" marL="0">
              <a:buNone/>
            </a:pPr>
            <a:r>
              <a:rPr lang="en-US" sz="1300" dirty="0">
                <a:solidFill>
                  <a:srgbClr val="5A5E63"/>
                </a:solidFill>
              </a:rPr>
              <a:t>~$5.8k–8.8k/month for the shared deployment (EU-only placement is the upper figure). Adapter training cost is immaterial.</a:t>
            </a:r>
            <a:endParaRPr lang="en-US" sz="1300" dirty="0"/>
          </a:p>
        </p:txBody>
      </p:sp>
      <p:sp>
        <p:nvSpPr>
          <p:cNvPr id="26" name="Shape 24"/>
          <p:cNvSpPr/>
          <p:nvPr/>
        </p:nvSpPr>
        <p:spPr>
          <a:xfrm>
            <a:off x="4338218" y="3794760"/>
            <a:ext cx="3515258" cy="2148840"/>
          </a:xfrm>
          <a:prstGeom prst="roundRect">
            <a:avLst>
              <a:gd name="adj" fmla="val 3404"/>
            </a:avLst>
          </a:prstGeom>
          <a:solidFill>
            <a:srgbClr val="FAF7FF"/>
          </a:solidFill>
          <a:ln w="9525">
            <a:solidFill>
              <a:srgbClr val="E6EAF4"/>
            </a:solidFill>
            <a:prstDash val="solid"/>
          </a:ln>
        </p:spPr>
      </p:sp>
      <p:sp>
        <p:nvSpPr>
          <p:cNvPr id="27" name="Text 25"/>
          <p:cNvSpPr txBox="1"/>
          <p:nvPr/>
        </p:nvSpPr>
        <p:spPr>
          <a:xfrm>
            <a:off x="4612538" y="4023360"/>
            <a:ext cx="2966618" cy="320040"/>
          </a:xfrm>
          <a:prstGeom prst="rect">
            <a:avLst/>
          </a:prstGeom>
          <a:noFill/>
          <a:ln/>
        </p:spPr>
        <p:txBody>
          <a:bodyPr wrap="square" lIns="0" tIns="0" rIns="0" bIns="0" rtlCol="0" anchor="ctr"/>
          <a:lstStyle/>
          <a:p>
            <a:pPr indent="0" marL="0">
              <a:buNone/>
            </a:pPr>
            <a:r>
              <a:rPr lang="en-US" sz="1600" b="1" dirty="0">
                <a:solidFill>
                  <a:schemeClr val="tx1"/>
                </a:solidFill>
              </a:rPr>
              <a:t>Steady state</a:t>
            </a:r>
            <a:endParaRPr lang="en-US" sz="1600" dirty="0"/>
          </a:p>
        </p:txBody>
      </p:sp>
      <p:sp>
        <p:nvSpPr>
          <p:cNvPr id="28" name="Text 26"/>
          <p:cNvSpPr txBox="1"/>
          <p:nvPr/>
        </p:nvSpPr>
        <p:spPr>
          <a:xfrm>
            <a:off x="4612538" y="4434840"/>
            <a:ext cx="2966618" cy="1371600"/>
          </a:xfrm>
          <a:prstGeom prst="rect">
            <a:avLst/>
          </a:prstGeom>
          <a:noFill/>
          <a:ln/>
        </p:spPr>
        <p:txBody>
          <a:bodyPr wrap="square" lIns="0" tIns="0" rIns="0" bIns="0" rtlCol="0" anchor="t"/>
          <a:lstStyle/>
          <a:p>
            <a:pPr indent="0" marL="0">
              <a:buNone/>
            </a:pPr>
            <a:r>
              <a:rPr lang="en-US" sz="1300" dirty="0">
                <a:solidFill>
                  <a:srgbClr val="5A5E63"/>
                </a:solidFill>
              </a:rPr>
              <a:t>One always-on deployment shared by Atlas, Ridgeline, Polar and Harbour &amp; Hide; a second for Halden once its volume justifies it.</a:t>
            </a:r>
            <a:endParaRPr lang="en-US" sz="1300" dirty="0"/>
          </a:p>
        </p:txBody>
      </p:sp>
      <p:sp>
        <p:nvSpPr>
          <p:cNvPr id="29" name="Shape 27"/>
          <p:cNvSpPr/>
          <p:nvPr/>
        </p:nvSpPr>
        <p:spPr>
          <a:xfrm>
            <a:off x="8127797" y="3794760"/>
            <a:ext cx="3515258" cy="2148840"/>
          </a:xfrm>
          <a:prstGeom prst="roundRect">
            <a:avLst>
              <a:gd name="adj" fmla="val 3404"/>
            </a:avLst>
          </a:prstGeom>
          <a:solidFill>
            <a:srgbClr val="FAF7FF"/>
          </a:solidFill>
          <a:ln w="9525">
            <a:solidFill>
              <a:srgbClr val="E6EAF4"/>
            </a:solidFill>
            <a:prstDash val="solid"/>
          </a:ln>
        </p:spPr>
      </p:sp>
      <p:sp>
        <p:nvSpPr>
          <p:cNvPr id="30" name="Text 28"/>
          <p:cNvSpPr txBox="1"/>
          <p:nvPr/>
        </p:nvSpPr>
        <p:spPr>
          <a:xfrm>
            <a:off x="8402117" y="4023360"/>
            <a:ext cx="2966618" cy="320040"/>
          </a:xfrm>
          <a:prstGeom prst="rect">
            <a:avLst/>
          </a:prstGeom>
          <a:noFill/>
          <a:ln/>
        </p:spPr>
        <p:txBody>
          <a:bodyPr wrap="square" lIns="0" tIns="0" rIns="0" bIns="0" rtlCol="0" anchor="ctr"/>
          <a:lstStyle/>
          <a:p>
            <a:pPr indent="0" marL="0">
              <a:buNone/>
            </a:pPr>
            <a:r>
              <a:rPr lang="en-US" sz="1600" b="1" dirty="0">
                <a:solidFill>
                  <a:schemeClr val="tx1"/>
                </a:solidFill>
              </a:rPr>
              <a:t>Migration overlap</a:t>
            </a:r>
            <a:endParaRPr lang="en-US" sz="1600" dirty="0"/>
          </a:p>
        </p:txBody>
      </p:sp>
      <p:sp>
        <p:nvSpPr>
          <p:cNvPr id="31" name="Text 29"/>
          <p:cNvSpPr txBox="1"/>
          <p:nvPr/>
        </p:nvSpPr>
        <p:spPr>
          <a:xfrm>
            <a:off x="8402117" y="4434840"/>
            <a:ext cx="2966618" cy="1371600"/>
          </a:xfrm>
          <a:prstGeom prst="rect">
            <a:avLst/>
          </a:prstGeom>
          <a:noFill/>
          <a:ln/>
        </p:spPr>
        <p:txBody>
          <a:bodyPr wrap="square" lIns="0" tIns="0" rIns="0" bIns="0" rtlCol="0" anchor="t"/>
          <a:lstStyle/>
          <a:p>
            <a:pPr indent="0" marL="0">
              <a:buNone/>
            </a:pPr>
            <a:r>
              <a:rPr lang="en-US" sz="1300" dirty="0">
                <a:solidFill>
                  <a:srgbClr val="5A5E63"/>
                </a:solidFill>
              </a:rPr>
              <a:t>Atlas runs on both deployments while it moves over. Budgeted in weeks, not months.</a:t>
            </a:r>
            <a:endParaRPr lang="en-US" sz="13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A5E6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704088" y="457200"/>
            <a:ext cx="8229600" cy="292608"/>
          </a:xfrm>
          <a:prstGeom prst="rect">
            <a:avLst/>
          </a:prstGeom>
          <a:noFill/>
          <a:ln/>
        </p:spPr>
        <p:txBody>
          <a:bodyPr wrap="square" lIns="0" tIns="0" rIns="0" bIns="0" rtlCol="0" anchor="ctr"/>
          <a:lstStyle/>
          <a:p>
            <a:pPr indent="0" marL="0">
              <a:buNone/>
            </a:pPr>
            <a:r>
              <a:rPr lang="en-US" sz="1200" b="1" spc="150" kern="0" dirty="0">
                <a:solidFill>
                  <a:srgbClr val="CEB4FF"/>
                </a:solidFill>
              </a:rPr>
              <a:t>07 · BIGGEST RISK AND WHAT WE’RE ASKING FOR</a:t>
            </a:r>
            <a:endParaRPr lang="en-US" sz="1200" dirty="0"/>
          </a:p>
        </p:txBody>
      </p:sp>
      <p:sp>
        <p:nvSpPr>
          <p:cNvPr id="3" name="Text 1"/>
          <p:cNvSpPr/>
          <p:nvPr>
            <p:ph idx="102" type="title" hasCustomPrompt="1"/>
          </p:nvPr>
        </p:nvSpPr>
        <p:spPr>
          <a:xfrm>
            <a:off x="548640" y="804672"/>
            <a:ext cx="11094415" cy="822960"/>
          </a:xfrm>
          <a:prstGeom prst="rect">
            <a:avLst/>
          </a:prstGeom>
          <a:noFill/>
          <a:ln/>
        </p:spPr>
        <p:txBody>
          <a:bodyPr wrap="square" lIns="0" tIns="0" rIns="0" bIns="0" rtlCol="0" anchor="t"/>
          <a:lstStyle/>
          <a:p>
            <a:pPr algn="l" indent="0" marL="0">
              <a:buNone/>
            </a:pPr>
            <a:r>
              <a:rPr lang="en-US" sz="3400" b="1" dirty="0">
                <a:solidFill>
                  <a:schemeClr val="bg1"/>
                </a:solidFill>
              </a:rPr>
              <a:t>The rollout must not stall at one brand</a:t>
            </a:r>
            <a:endParaRPr lang="en-US" sz="3400" dirty="0"/>
          </a:p>
        </p:txBody>
      </p:sp>
      <p:sp>
        <p:nvSpPr>
          <p:cNvPr id="4" name="Shape 2"/>
          <p:cNvSpPr/>
          <p:nvPr/>
        </p:nvSpPr>
        <p:spPr>
          <a:xfrm>
            <a:off x="548640" y="1828800"/>
            <a:ext cx="5394960" cy="4160520"/>
          </a:xfrm>
          <a:prstGeom prst="roundRect">
            <a:avLst>
              <a:gd name="adj" fmla="val 1758"/>
            </a:avLst>
          </a:prstGeom>
          <a:solidFill>
            <a:srgbClr val="2A0A78"/>
          </a:solidFill>
          <a:ln w="9525">
            <a:solidFill>
              <a:srgbClr val="2A0A78"/>
            </a:solidFill>
            <a:prstDash val="solid"/>
          </a:ln>
        </p:spPr>
      </p:sp>
      <p:sp>
        <p:nvSpPr>
          <p:cNvPr id="5" name="Shape 3"/>
          <p:cNvSpPr/>
          <p:nvPr/>
        </p:nvSpPr>
        <p:spPr>
          <a:xfrm>
            <a:off x="868680" y="2157984"/>
            <a:ext cx="118872" cy="118872"/>
          </a:xfrm>
          <a:prstGeom prst="rect">
            <a:avLst/>
          </a:prstGeom>
          <a:solidFill>
            <a:srgbClr val="E3A53A"/>
          </a:solidFill>
          <a:ln w="12700">
            <a:solidFill>
              <a:srgbClr val="E3A53A"/>
            </a:solidFill>
            <a:prstDash val="solid"/>
          </a:ln>
        </p:spPr>
      </p:sp>
      <p:sp>
        <p:nvSpPr>
          <p:cNvPr id="6" name="Text 4"/>
          <p:cNvSpPr txBox="1"/>
          <p:nvPr/>
        </p:nvSpPr>
        <p:spPr>
          <a:xfrm>
            <a:off x="1097280" y="2084832"/>
            <a:ext cx="3657600" cy="256032"/>
          </a:xfrm>
          <a:prstGeom prst="rect">
            <a:avLst/>
          </a:prstGeom>
          <a:noFill/>
          <a:ln/>
        </p:spPr>
        <p:txBody>
          <a:bodyPr wrap="square" lIns="0" tIns="0" rIns="0" bIns="0" rtlCol="0" anchor="ctr"/>
          <a:lstStyle/>
          <a:p>
            <a:pPr indent="0" marL="0">
              <a:buNone/>
            </a:pPr>
            <a:r>
              <a:rPr lang="en-US" sz="1100" b="1" spc="150" kern="0" dirty="0">
                <a:solidFill>
                  <a:srgbClr val="CEB4FF"/>
                </a:solidFill>
              </a:rPr>
              <a:t>BIGGEST RISK</a:t>
            </a:r>
            <a:endParaRPr lang="en-US" sz="1100" dirty="0"/>
          </a:p>
        </p:txBody>
      </p:sp>
      <p:sp>
        <p:nvSpPr>
          <p:cNvPr id="7" name="Text 5"/>
          <p:cNvSpPr txBox="1"/>
          <p:nvPr/>
        </p:nvSpPr>
        <p:spPr>
          <a:xfrm>
            <a:off x="868680" y="2468880"/>
            <a:ext cx="4754880" cy="1234440"/>
          </a:xfrm>
          <a:prstGeom prst="rect">
            <a:avLst/>
          </a:prstGeom>
          <a:noFill/>
          <a:ln/>
        </p:spPr>
        <p:txBody>
          <a:bodyPr wrap="square" lIns="0" tIns="0" rIns="0" bIns="0" rtlCol="0" anchor="t"/>
          <a:lstStyle/>
          <a:p>
            <a:pPr indent="0" marL="0">
              <a:buNone/>
            </a:pPr>
            <a:r>
              <a:rPr lang="en-US" sz="1600" b="1" dirty="0">
                <a:solidFill>
                  <a:schemeClr val="bg1"/>
                </a:solidFill>
              </a:rPr>
              <a:t>Without group-level sponsorship the rollout stays with Atlas, and shared capacity never carries enough volume to make per-brand cost efficient.</a:t>
            </a:r>
            <a:endParaRPr lang="en-US" sz="1600" dirty="0"/>
          </a:p>
        </p:txBody>
      </p:sp>
      <p:sp>
        <p:nvSpPr>
          <p:cNvPr id="8" name="Text 6"/>
          <p:cNvSpPr txBox="1"/>
          <p:nvPr/>
        </p:nvSpPr>
        <p:spPr>
          <a:xfrm>
            <a:off x="868680" y="3840480"/>
            <a:ext cx="3657600" cy="256032"/>
          </a:xfrm>
          <a:prstGeom prst="rect">
            <a:avLst/>
          </a:prstGeom>
          <a:noFill/>
          <a:ln/>
        </p:spPr>
        <p:txBody>
          <a:bodyPr wrap="square" lIns="0" tIns="0" rIns="0" bIns="0" rtlCol="0" anchor="ctr"/>
          <a:lstStyle/>
          <a:p>
            <a:pPr indent="0" marL="0">
              <a:buNone/>
            </a:pPr>
            <a:r>
              <a:rPr lang="en-US" sz="1100" b="1" spc="150" kern="0" dirty="0">
                <a:solidFill>
                  <a:srgbClr val="CEB4FF"/>
                </a:solidFill>
              </a:rPr>
              <a:t>MITIGATION</a:t>
            </a:r>
            <a:endParaRPr lang="en-US" sz="1100" dirty="0"/>
          </a:p>
        </p:txBody>
      </p:sp>
      <p:sp>
        <p:nvSpPr>
          <p:cNvPr id="9" name="Text 7"/>
          <p:cNvSpPr txBox="1"/>
          <p:nvPr/>
        </p:nvSpPr>
        <p:spPr>
          <a:xfrm>
            <a:off x="868680" y="4206240"/>
            <a:ext cx="4754880" cy="155448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bg1"/>
                </a:solidFill>
              </a:rPr>
              <a:t>Name a group sponsor at this review</a:t>
            </a:r>
            <a:endParaRPr lang="en-US" sz="1400" dirty="0"/>
          </a:p>
          <a:p>
            <a:pPr marL="342900" indent="-342900">
              <a:spcAft>
                <a:spcPts val="800"/>
              </a:spcAft>
              <a:buSzPct val="100000"/>
              <a:buChar char="•"/>
            </a:pPr>
            <a:r>
              <a:rPr lang="en-US" sz="1400" dirty="0">
                <a:solidFill>
                  <a:schemeClr val="bg1"/>
                </a:solidFill>
              </a:rPr>
              <a:t>Agree the Ridgeline pilot criteria together</a:t>
            </a:r>
            <a:endParaRPr lang="en-US" sz="1400" dirty="0"/>
          </a:p>
          <a:p>
            <a:pPr marL="342900" indent="-342900">
              <a:spcAft>
                <a:spcPts val="800"/>
              </a:spcAft>
              <a:buSzPct val="100000"/>
              <a:buChar char="•"/>
            </a:pPr>
            <a:r>
              <a:rPr lang="en-US" sz="1400" dirty="0">
                <a:solidFill>
                  <a:schemeClr val="bg1"/>
                </a:solidFill>
              </a:rPr>
              <a:t>Size shared capacity alongside a second brand</a:t>
            </a:r>
            <a:endParaRPr lang="en-US" sz="1400" dirty="0"/>
          </a:p>
        </p:txBody>
      </p:sp>
      <p:sp>
        <p:nvSpPr>
          <p:cNvPr id="10" name="Text 8"/>
          <p:cNvSpPr txBox="1"/>
          <p:nvPr/>
        </p:nvSpPr>
        <p:spPr>
          <a:xfrm>
            <a:off x="6309360" y="1828800"/>
            <a:ext cx="3657600" cy="256032"/>
          </a:xfrm>
          <a:prstGeom prst="rect">
            <a:avLst/>
          </a:prstGeom>
          <a:noFill/>
          <a:ln/>
        </p:spPr>
        <p:txBody>
          <a:bodyPr wrap="square" lIns="0" tIns="0" rIns="0" bIns="0" rtlCol="0" anchor="ctr"/>
          <a:lstStyle/>
          <a:p>
            <a:pPr indent="0" marL="0">
              <a:buNone/>
            </a:pPr>
            <a:r>
              <a:rPr lang="en-US" sz="1100" b="1" spc="150" kern="0" dirty="0">
                <a:solidFill>
                  <a:srgbClr val="CEB4FF"/>
                </a:solidFill>
              </a:rPr>
              <a:t>KEY MESSAGES</a:t>
            </a:r>
            <a:endParaRPr lang="en-US" sz="1100" dirty="0"/>
          </a:p>
        </p:txBody>
      </p:sp>
      <p:sp>
        <p:nvSpPr>
          <p:cNvPr id="11" name="Text 9"/>
          <p:cNvSpPr txBox="1"/>
          <p:nvPr/>
        </p:nvSpPr>
        <p:spPr>
          <a:xfrm>
            <a:off x="6309360" y="2240280"/>
            <a:ext cx="457200" cy="548640"/>
          </a:xfrm>
          <a:prstGeom prst="rect">
            <a:avLst/>
          </a:prstGeom>
          <a:noFill/>
          <a:ln/>
        </p:spPr>
        <p:txBody>
          <a:bodyPr wrap="square" lIns="0" tIns="0" rIns="0" bIns="0" rtlCol="0" anchor="t"/>
          <a:lstStyle/>
          <a:p>
            <a:pPr indent="0" marL="0">
              <a:buNone/>
            </a:pPr>
            <a:r>
              <a:rPr lang="en-US" sz="1800" b="1" dirty="0">
                <a:solidFill>
                  <a:srgbClr val="00E6CC"/>
                </a:solidFill>
              </a:rPr>
              <a:t>01</a:t>
            </a:r>
            <a:endParaRPr lang="en-US" sz="1800" dirty="0"/>
          </a:p>
        </p:txBody>
      </p:sp>
      <p:sp>
        <p:nvSpPr>
          <p:cNvPr id="12" name="Text 10"/>
          <p:cNvSpPr txBox="1"/>
          <p:nvPr/>
        </p:nvSpPr>
        <p:spPr>
          <a:xfrm>
            <a:off x="6858000" y="2240280"/>
            <a:ext cx="4785055" cy="621792"/>
          </a:xfrm>
          <a:prstGeom prst="rect">
            <a:avLst/>
          </a:prstGeom>
          <a:noFill/>
          <a:ln/>
        </p:spPr>
        <p:txBody>
          <a:bodyPr wrap="square" lIns="0" tIns="0" rIns="0" bIns="0" rtlCol="0" anchor="t"/>
          <a:lstStyle/>
          <a:p>
            <a:pPr indent="0" marL="0">
              <a:buNone/>
            </a:pPr>
            <a:r>
              <a:rPr lang="en-US" sz="1400" dirty="0">
                <a:solidFill>
                  <a:schemeClr val="bg1"/>
                </a:solidFill>
              </a:rPr>
              <a:t>Month one delivered: 70% of Tier-1 automated by month end, faster and better-rated.</a:t>
            </a:r>
            <a:endParaRPr lang="en-US" sz="1400" dirty="0"/>
          </a:p>
        </p:txBody>
      </p:sp>
      <p:sp>
        <p:nvSpPr>
          <p:cNvPr id="13" name="Text 11"/>
          <p:cNvSpPr txBox="1"/>
          <p:nvPr/>
        </p:nvSpPr>
        <p:spPr>
          <a:xfrm>
            <a:off x="6309360" y="2990088"/>
            <a:ext cx="457200" cy="548640"/>
          </a:xfrm>
          <a:prstGeom prst="rect">
            <a:avLst/>
          </a:prstGeom>
          <a:noFill/>
          <a:ln/>
        </p:spPr>
        <p:txBody>
          <a:bodyPr wrap="square" lIns="0" tIns="0" rIns="0" bIns="0" rtlCol="0" anchor="t"/>
          <a:lstStyle/>
          <a:p>
            <a:pPr indent="0" marL="0">
              <a:buNone/>
            </a:pPr>
            <a:r>
              <a:rPr lang="en-US" sz="1800" b="1" dirty="0">
                <a:solidFill>
                  <a:srgbClr val="00E6CC"/>
                </a:solidFill>
              </a:rPr>
              <a:t>02</a:t>
            </a:r>
            <a:endParaRPr lang="en-US" sz="1800" dirty="0"/>
          </a:p>
        </p:txBody>
      </p:sp>
      <p:sp>
        <p:nvSpPr>
          <p:cNvPr id="14" name="Text 12"/>
          <p:cNvSpPr txBox="1"/>
          <p:nvPr/>
        </p:nvSpPr>
        <p:spPr>
          <a:xfrm>
            <a:off x="6858000" y="2990088"/>
            <a:ext cx="4785055" cy="621792"/>
          </a:xfrm>
          <a:prstGeom prst="rect">
            <a:avLst/>
          </a:prstGeom>
          <a:noFill/>
          <a:ln/>
        </p:spPr>
        <p:txBody>
          <a:bodyPr wrap="square" lIns="0" tIns="0" rIns="0" bIns="0" rtlCol="0" anchor="t"/>
          <a:lstStyle/>
          <a:p>
            <a:pPr indent="0" marL="0">
              <a:buNone/>
            </a:pPr>
            <a:r>
              <a:rPr lang="en-US" sz="1400" dirty="0">
                <a:solidFill>
                  <a:schemeClr val="bg1"/>
                </a:solidFill>
              </a:rPr>
              <a:t>Quality improved every week, and the evidence is in your dashboard.</a:t>
            </a:r>
            <a:endParaRPr lang="en-US" sz="1400" dirty="0"/>
          </a:p>
        </p:txBody>
      </p:sp>
      <p:sp>
        <p:nvSpPr>
          <p:cNvPr id="15" name="Text 13"/>
          <p:cNvSpPr txBox="1"/>
          <p:nvPr/>
        </p:nvSpPr>
        <p:spPr>
          <a:xfrm>
            <a:off x="6309360" y="3739896"/>
            <a:ext cx="457200" cy="548640"/>
          </a:xfrm>
          <a:prstGeom prst="rect">
            <a:avLst/>
          </a:prstGeom>
          <a:noFill/>
          <a:ln/>
        </p:spPr>
        <p:txBody>
          <a:bodyPr wrap="square" lIns="0" tIns="0" rIns="0" bIns="0" rtlCol="0" anchor="t"/>
          <a:lstStyle/>
          <a:p>
            <a:pPr indent="0" marL="0">
              <a:buNone/>
            </a:pPr>
            <a:r>
              <a:rPr lang="en-US" sz="1800" b="1" dirty="0">
                <a:solidFill>
                  <a:srgbClr val="00E6CC"/>
                </a:solidFill>
              </a:rPr>
              <a:t>03</a:t>
            </a:r>
            <a:endParaRPr lang="en-US" sz="1800" dirty="0"/>
          </a:p>
        </p:txBody>
      </p:sp>
      <p:sp>
        <p:nvSpPr>
          <p:cNvPr id="16" name="Text 14"/>
          <p:cNvSpPr txBox="1"/>
          <p:nvPr/>
        </p:nvSpPr>
        <p:spPr>
          <a:xfrm>
            <a:off x="6858000" y="3739896"/>
            <a:ext cx="4785055" cy="621792"/>
          </a:xfrm>
          <a:prstGeom prst="rect">
            <a:avLst/>
          </a:prstGeom>
          <a:noFill/>
          <a:ln/>
        </p:spPr>
        <p:txBody>
          <a:bodyPr wrap="square" lIns="0" tIns="0" rIns="0" bIns="0" rtlCol="0" anchor="t"/>
          <a:lstStyle/>
          <a:p>
            <a:pPr indent="0" marL="0">
              <a:buNone/>
            </a:pPr>
            <a:r>
              <a:rPr lang="en-US" sz="1400" dirty="0">
                <a:solidFill>
                  <a:schemeClr val="bg1"/>
                </a:solidFill>
              </a:rPr>
              <a:t>99.85% today: we find the cause in telemetry before buying capacity.</a:t>
            </a:r>
            <a:endParaRPr lang="en-US" sz="1400" dirty="0"/>
          </a:p>
        </p:txBody>
      </p:sp>
      <p:sp>
        <p:nvSpPr>
          <p:cNvPr id="17" name="Text 15"/>
          <p:cNvSpPr txBox="1"/>
          <p:nvPr/>
        </p:nvSpPr>
        <p:spPr>
          <a:xfrm>
            <a:off x="6309360" y="4489704"/>
            <a:ext cx="457200" cy="548640"/>
          </a:xfrm>
          <a:prstGeom prst="rect">
            <a:avLst/>
          </a:prstGeom>
          <a:noFill/>
          <a:ln/>
        </p:spPr>
        <p:txBody>
          <a:bodyPr wrap="square" lIns="0" tIns="0" rIns="0" bIns="0" rtlCol="0" anchor="t"/>
          <a:lstStyle/>
          <a:p>
            <a:pPr indent="0" marL="0">
              <a:buNone/>
            </a:pPr>
            <a:r>
              <a:rPr lang="en-US" sz="1800" b="1" dirty="0">
                <a:solidFill>
                  <a:srgbClr val="00E6CC"/>
                </a:solidFill>
              </a:rPr>
              <a:t>04</a:t>
            </a:r>
            <a:endParaRPr lang="en-US" sz="1800" dirty="0"/>
          </a:p>
        </p:txBody>
      </p:sp>
      <p:sp>
        <p:nvSpPr>
          <p:cNvPr id="18" name="Text 16"/>
          <p:cNvSpPr txBox="1"/>
          <p:nvPr/>
        </p:nvSpPr>
        <p:spPr>
          <a:xfrm>
            <a:off x="6858000" y="4489704"/>
            <a:ext cx="4785055" cy="621792"/>
          </a:xfrm>
          <a:prstGeom prst="rect">
            <a:avLst/>
          </a:prstGeom>
          <a:noFill/>
          <a:ln/>
        </p:spPr>
        <p:txBody>
          <a:bodyPr wrap="square" lIns="0" tIns="0" rIns="0" bIns="0" rtlCol="0" anchor="t"/>
          <a:lstStyle/>
          <a:p>
            <a:pPr indent="0" marL="0">
              <a:buNone/>
            </a:pPr>
            <a:r>
              <a:rPr lang="en-US" sz="1400" dirty="0">
                <a:solidFill>
                  <a:schemeClr val="bg1"/>
                </a:solidFill>
              </a:rPr>
              <a:t>One base, one adapter per brand: each brand keeps its voice and its data.</a:t>
            </a:r>
            <a:endParaRPr lang="en-US" sz="1400" dirty="0"/>
          </a:p>
        </p:txBody>
      </p:sp>
      <p:sp>
        <p:nvSpPr>
          <p:cNvPr id="19" name="Text 17"/>
          <p:cNvSpPr txBox="1"/>
          <p:nvPr/>
        </p:nvSpPr>
        <p:spPr>
          <a:xfrm>
            <a:off x="6309360" y="5239512"/>
            <a:ext cx="457200" cy="548640"/>
          </a:xfrm>
          <a:prstGeom prst="rect">
            <a:avLst/>
          </a:prstGeom>
          <a:noFill/>
          <a:ln/>
        </p:spPr>
        <p:txBody>
          <a:bodyPr wrap="square" lIns="0" tIns="0" rIns="0" bIns="0" rtlCol="0" anchor="t"/>
          <a:lstStyle/>
          <a:p>
            <a:pPr indent="0" marL="0">
              <a:buNone/>
            </a:pPr>
            <a:r>
              <a:rPr lang="en-US" sz="1800" b="1" dirty="0">
                <a:solidFill>
                  <a:srgbClr val="00E6CC"/>
                </a:solidFill>
              </a:rPr>
              <a:t>05</a:t>
            </a:r>
            <a:endParaRPr lang="en-US" sz="1800" dirty="0"/>
          </a:p>
        </p:txBody>
      </p:sp>
      <p:sp>
        <p:nvSpPr>
          <p:cNvPr id="20" name="Text 18"/>
          <p:cNvSpPr txBox="1"/>
          <p:nvPr/>
        </p:nvSpPr>
        <p:spPr>
          <a:xfrm>
            <a:off x="6858000" y="5239512"/>
            <a:ext cx="4785055" cy="621792"/>
          </a:xfrm>
          <a:prstGeom prst="rect">
            <a:avLst/>
          </a:prstGeom>
          <a:noFill/>
          <a:ln/>
        </p:spPr>
        <p:txBody>
          <a:bodyPr wrap="square" lIns="0" tIns="0" rIns="0" bIns="0" rtlCol="0" anchor="t"/>
          <a:lstStyle/>
          <a:p>
            <a:pPr indent="0" marL="0">
              <a:buNone/>
            </a:pPr>
            <a:r>
              <a:rPr lang="en-US" sz="1400" dirty="0">
                <a:solidFill>
                  <a:schemeClr val="bg1"/>
                </a:solidFill>
              </a:rPr>
              <a:t>We’re asking for a group sponsor today and Ridgeline as the pilot.</a:t>
            </a:r>
            <a:endParaRPr lang="en-US" sz="1400" dirty="0"/>
          </a:p>
        </p:txBody>
      </p:sp>
      <p:sp>
        <p:nvSpPr>
          <p:cNvPr id="25" name="Slide Number Placeholder 0"/>
          <p:cNvSpPr>
            <a:spLocks noGrp="1"/>
          </p:cNvSpPr>
          <p:nvPr>
            <p:ph type="sldNum" sz="quarter" idx="4294967295"/>
          </p:nvPr>
        </p:nvSpPr>
        <p:spPr>
          <a:xfrm>
            <a:off x="11247120" y="6291072"/>
            <a:ext cx="39319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EB4FF"/>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Fireworks">
  <a:themeElements>
    <a:clrScheme name="Fireworks">
      <a:dk1>
        <a:srgbClr val="16181D"/>
      </a:dk1>
      <a:lt1>
        <a:srgbClr val="FFFFFF"/>
      </a:lt1>
      <a:dk2>
        <a:srgbClr val="1B0052"/>
      </a:dk2>
      <a:lt2>
        <a:srgbClr val="FAF7FF"/>
      </a:lt2>
      <a:accent1>
        <a:srgbClr val="6720FF"/>
      </a:accent1>
      <a:accent2>
        <a:srgbClr val="1DA28F"/>
      </a:accent2>
      <a:accent3>
        <a:srgbClr val="1756FF"/>
      </a:accent3>
      <a:accent4>
        <a:srgbClr val="9D72FE"/>
      </a:accent4>
      <a:accent5>
        <a:srgbClr val="F14539"/>
      </a:accent5>
      <a:accent6>
        <a:srgbClr val="E3A53A"/>
      </a:accent6>
      <a:hlink>
        <a:srgbClr val="6720FF"/>
      </a:hlink>
      <a:folHlink>
        <a:srgbClr val="501BC4"/>
      </a:folHlink>
    </a:clrScheme>
    <a:fontScheme name="Firework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Fireworks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Northstar Retail Group — Executive Business Review, October 2026</dc:title>
  <dc:subject>PptxGenJS Presentation</dc:subject>
  <dc:creator>Fireworks AI</dc:creator>
  <cp:lastModifiedBy>Fireworks AI</cp:lastModifiedBy>
  <cp:revision>1</cp:revision>
  <dcterms:created xsi:type="dcterms:W3CDTF">2026-10-05T12:46:25Z</dcterms:created>
  <dcterms:modified xsi:type="dcterms:W3CDTF">2026-10-05T12:46:25Z</dcterms:modified>
</cp:coreProperties>
</file>