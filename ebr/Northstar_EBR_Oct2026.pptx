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56" r:id="rId2"/>
    <p:sldId id="257" r:id="rId3"/>
    <p:sldId id="258" r:id="rId4"/>
    <p:sldId id="260" r:id="rId5"/>
    <p:sldId id="261" r:id="rId6"/>
    <p:sldId id="262" r:id="rId7"/>
    <p:sldId id="263" r:id="rId8"/>
    <p:sldId id="264" r:id="rId9"/>
    <p:sldId id="265" r:id="rId10"/>
  </p:sldIdLst>
  <p:sldSz cx="12192000" cy="6858000"/>
  <p:notesSz cx="6858000" cy="12192000"/>
  <p:embeddedFontLst>
    <p:embeddedFont>
      <p:font typeface="Inter" panose="02000503000000020004" pitchFamily="2" charset="0"/>
      <p:regular r:id="rId12"/>
      <p:bold r:id="rId13"/>
    </p:embeddedFont>
    <p:embeddedFont>
      <p:font typeface="Inter Medium" panose="02000603000000020004" pitchFamily="2" charset="0"/>
      <p:regular r:id="rId1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7E9E27-640B-AF24-2EBC-A93587E0356A}">
          <p14:sldIdLst>
            <p14:sldId id="256"/>
          </p14:sldIdLst>
        </p14:section>
        <p14:section name="Results" id="{9F2EF559-D229-BEFA-892A-FA3588F5D4B9}">
          <p14:sldIdLst>
            <p14:sldId id="257"/>
            <p14:sldId id="258"/>
            <p14:sldId id="260"/>
          </p14:sldIdLst>
        </p14:section>
        <p14:section name="Expansion" id="{096516F7-8E5E-7054-E8EB-DE872B8D2EB8}">
          <p14:sldIdLst>
            <p14:sldId id="261"/>
            <p14:sldId id="262"/>
            <p14:sldId id="263"/>
          </p14:sldIdLst>
        </p14:section>
        <p14:section name="Decision" id="{94B122C4-F1D7-530E-E4BC-549E8A23CA5F}">
          <p14:sldIdLst>
            <p14:sldId id="264"/>
          </p14:sldIdLst>
        </p14:section>
        <p14:section name="Close" id="{3ABBE099-792F-CC90-4015-720A2DB27EAD}">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CD47E27-5CED-42BE-8A5E-043EACC456CA}" v="4" dt="2026-10-05T15:39:00.7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85" d="100"/>
          <a:sy n="85" d="100"/>
        </p:scale>
        <p:origin x="327"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ubakar Olafusi" userId="eee36072894731d4" providerId="LiveId" clId="{0389F522-8E0A-4582-B847-05731A668B5C}"/>
    <pc:docChg chg="undo custSel delSld modSld modSection">
      <pc:chgData name="Abubakar Olafusi" userId="eee36072894731d4" providerId="LiveId" clId="{0389F522-8E0A-4582-B847-05731A668B5C}" dt="2026-10-05T15:42:42.689" v="255" actId="20577"/>
      <pc:docMkLst>
        <pc:docMk/>
      </pc:docMkLst>
      <pc:sldChg chg="addSp delSp modSp mod">
        <pc:chgData name="Abubakar Olafusi" userId="eee36072894731d4" providerId="LiveId" clId="{0389F522-8E0A-4582-B847-05731A668B5C}" dt="2026-10-05T15:33:55.363" v="8" actId="1076"/>
        <pc:sldMkLst>
          <pc:docMk/>
          <pc:sldMk cId="0" sldId="256"/>
        </pc:sldMkLst>
        <pc:spChg chg="add del mod">
          <ac:chgData name="Abubakar Olafusi" userId="eee36072894731d4" providerId="LiveId" clId="{0389F522-8E0A-4582-B847-05731A668B5C}" dt="2026-10-05T15:33:52.284" v="7" actId="14100"/>
          <ac:spMkLst>
            <pc:docMk/>
            <pc:sldMk cId="0" sldId="256"/>
            <ac:spMk id="4" creationId="{00000000-0000-0000-0000-000000000000}"/>
          </ac:spMkLst>
        </pc:spChg>
        <pc:spChg chg="mod">
          <ac:chgData name="Abubakar Olafusi" userId="eee36072894731d4" providerId="LiveId" clId="{0389F522-8E0A-4582-B847-05731A668B5C}" dt="2026-10-05T15:33:55.363" v="8" actId="1076"/>
          <ac:spMkLst>
            <pc:docMk/>
            <pc:sldMk cId="0" sldId="256"/>
            <ac:spMk id="5" creationId="{00000000-0000-0000-0000-000000000000}"/>
          </ac:spMkLst>
        </pc:spChg>
        <pc:spChg chg="mod">
          <ac:chgData name="Abubakar Olafusi" userId="eee36072894731d4" providerId="LiveId" clId="{0389F522-8E0A-4582-B847-05731A668B5C}" dt="2026-10-05T15:33:30.877" v="1" actId="14100"/>
          <ac:spMkLst>
            <pc:docMk/>
            <pc:sldMk cId="0" sldId="256"/>
            <ac:spMk id="6" creationId="{00000000-0000-0000-0000-000000000000}"/>
          </ac:spMkLst>
        </pc:spChg>
        <pc:spChg chg="del">
          <ac:chgData name="Abubakar Olafusi" userId="eee36072894731d4" providerId="LiveId" clId="{0389F522-8E0A-4582-B847-05731A668B5C}" dt="2026-10-05T15:33:35.775" v="2" actId="478"/>
          <ac:spMkLst>
            <pc:docMk/>
            <pc:sldMk cId="0" sldId="256"/>
            <ac:spMk id="23" creationId="{00000000-0000-0000-0000-000000000000}"/>
          </ac:spMkLst>
        </pc:spChg>
        <pc:spChg chg="mod">
          <ac:chgData name="Abubakar Olafusi" userId="eee36072894731d4" providerId="LiveId" clId="{0389F522-8E0A-4582-B847-05731A668B5C}" dt="2026-10-05T15:33:39.228" v="3" actId="20577"/>
          <ac:spMkLst>
            <pc:docMk/>
            <pc:sldMk cId="0" sldId="256"/>
            <ac:spMk id="24" creationId="{00000000-0000-0000-0000-000000000000}"/>
          </ac:spMkLst>
        </pc:spChg>
      </pc:sldChg>
      <pc:sldChg chg="modSp mod">
        <pc:chgData name="Abubakar Olafusi" userId="eee36072894731d4" providerId="LiveId" clId="{0389F522-8E0A-4582-B847-05731A668B5C}" dt="2026-10-05T15:42:42.689" v="255" actId="20577"/>
        <pc:sldMkLst>
          <pc:docMk/>
          <pc:sldMk cId="0" sldId="257"/>
        </pc:sldMkLst>
        <pc:spChg chg="mod">
          <ac:chgData name="Abubakar Olafusi" userId="eee36072894731d4" providerId="LiveId" clId="{0389F522-8E0A-4582-B847-05731A668B5C}" dt="2026-10-05T15:42:33.719" v="245" actId="20577"/>
          <ac:spMkLst>
            <pc:docMk/>
            <pc:sldMk cId="0" sldId="257"/>
            <ac:spMk id="17" creationId="{00000000-0000-0000-0000-000000000000}"/>
          </ac:spMkLst>
        </pc:spChg>
        <pc:spChg chg="mod">
          <ac:chgData name="Abubakar Olafusi" userId="eee36072894731d4" providerId="LiveId" clId="{0389F522-8E0A-4582-B847-05731A668B5C}" dt="2026-10-05T15:42:38.586" v="251" actId="20577"/>
          <ac:spMkLst>
            <pc:docMk/>
            <pc:sldMk cId="0" sldId="257"/>
            <ac:spMk id="21" creationId="{00000000-0000-0000-0000-000000000000}"/>
          </ac:spMkLst>
        </pc:spChg>
        <pc:spChg chg="mod">
          <ac:chgData name="Abubakar Olafusi" userId="eee36072894731d4" providerId="LiveId" clId="{0389F522-8E0A-4582-B847-05731A668B5C}" dt="2026-10-05T15:42:42.689" v="255" actId="20577"/>
          <ac:spMkLst>
            <pc:docMk/>
            <pc:sldMk cId="0" sldId="257"/>
            <ac:spMk id="42" creationId="{00000000-0000-0000-0000-000000000000}"/>
          </ac:spMkLst>
        </pc:spChg>
      </pc:sldChg>
      <pc:sldChg chg="modSp">
        <pc:chgData name="Abubakar Olafusi" userId="eee36072894731d4" providerId="LiveId" clId="{0389F522-8E0A-4582-B847-05731A668B5C}" dt="2026-10-05T15:34:47.752" v="10"/>
        <pc:sldMkLst>
          <pc:docMk/>
          <pc:sldMk cId="0" sldId="258"/>
        </pc:sldMkLst>
        <pc:spChg chg="mod">
          <ac:chgData name="Abubakar Olafusi" userId="eee36072894731d4" providerId="LiveId" clId="{0389F522-8E0A-4582-B847-05731A668B5C}" dt="2026-10-05T15:34:41.979" v="9"/>
          <ac:spMkLst>
            <pc:docMk/>
            <pc:sldMk cId="0" sldId="258"/>
            <ac:spMk id="3" creationId="{00000000-0000-0000-0000-000000000000}"/>
          </ac:spMkLst>
        </pc:spChg>
        <pc:spChg chg="mod">
          <ac:chgData name="Abubakar Olafusi" userId="eee36072894731d4" providerId="LiveId" clId="{0389F522-8E0A-4582-B847-05731A668B5C}" dt="2026-10-05T15:34:47.752" v="10"/>
          <ac:spMkLst>
            <pc:docMk/>
            <pc:sldMk cId="0" sldId="258"/>
            <ac:spMk id="4" creationId="{00000000-0000-0000-0000-000000000000}"/>
          </ac:spMkLst>
        </pc:spChg>
      </pc:sldChg>
      <pc:sldChg chg="del">
        <pc:chgData name="Abubakar Olafusi" userId="eee36072894731d4" providerId="LiveId" clId="{0389F522-8E0A-4582-B847-05731A668B5C}" dt="2026-10-05T15:35:03.610" v="11" actId="47"/>
        <pc:sldMkLst>
          <pc:docMk/>
          <pc:sldMk cId="0" sldId="259"/>
        </pc:sldMkLst>
      </pc:sldChg>
      <pc:sldChg chg="addSp delSp modSp mod">
        <pc:chgData name="Abubakar Olafusi" userId="eee36072894731d4" providerId="LiveId" clId="{0389F522-8E0A-4582-B847-05731A668B5C}" dt="2026-10-05T15:41:42.861" v="237" actId="207"/>
        <pc:sldMkLst>
          <pc:docMk/>
          <pc:sldMk cId="0" sldId="264"/>
        </pc:sldMkLst>
        <pc:spChg chg="mod">
          <ac:chgData name="Abubakar Olafusi" userId="eee36072894731d4" providerId="LiveId" clId="{0389F522-8E0A-4582-B847-05731A668B5C}" dt="2026-10-05T15:39:37.002" v="174" actId="1035"/>
          <ac:spMkLst>
            <pc:docMk/>
            <pc:sldMk cId="0" sldId="264"/>
            <ac:spMk id="5" creationId="{00000000-0000-0000-0000-000000000000}"/>
          </ac:spMkLst>
        </pc:spChg>
        <pc:spChg chg="del">
          <ac:chgData name="Abubakar Olafusi" userId="eee36072894731d4" providerId="LiveId" clId="{0389F522-8E0A-4582-B847-05731A668B5C}" dt="2026-10-05T15:38:47.291" v="70" actId="478"/>
          <ac:spMkLst>
            <pc:docMk/>
            <pc:sldMk cId="0" sldId="264"/>
            <ac:spMk id="6" creationId="{00000000-0000-0000-0000-000000000000}"/>
          </ac:spMkLst>
        </pc:spChg>
        <pc:spChg chg="del">
          <ac:chgData name="Abubakar Olafusi" userId="eee36072894731d4" providerId="LiveId" clId="{0389F522-8E0A-4582-B847-05731A668B5C}" dt="2026-10-05T15:38:45.951" v="69" actId="478"/>
          <ac:spMkLst>
            <pc:docMk/>
            <pc:sldMk cId="0" sldId="264"/>
            <ac:spMk id="7" creationId="{00000000-0000-0000-0000-000000000000}"/>
          </ac:spMkLst>
        </pc:spChg>
        <pc:spChg chg="mod">
          <ac:chgData name="Abubakar Olafusi" userId="eee36072894731d4" providerId="LiveId" clId="{0389F522-8E0A-4582-B847-05731A668B5C}" dt="2026-10-05T15:38:53.684" v="71" actId="1076"/>
          <ac:spMkLst>
            <pc:docMk/>
            <pc:sldMk cId="0" sldId="264"/>
            <ac:spMk id="8" creationId="{00000000-0000-0000-0000-000000000000}"/>
          </ac:spMkLst>
        </pc:spChg>
        <pc:spChg chg="mod">
          <ac:chgData name="Abubakar Olafusi" userId="eee36072894731d4" providerId="LiveId" clId="{0389F522-8E0A-4582-B847-05731A668B5C}" dt="2026-10-05T15:39:43.577" v="220" actId="1036"/>
          <ac:spMkLst>
            <pc:docMk/>
            <pc:sldMk cId="0" sldId="264"/>
            <ac:spMk id="9" creationId="{00000000-0000-0000-0000-000000000000}"/>
          </ac:spMkLst>
        </pc:spChg>
        <pc:spChg chg="add del mod">
          <ac:chgData name="Abubakar Olafusi" userId="eee36072894731d4" providerId="LiveId" clId="{0389F522-8E0A-4582-B847-05731A668B5C}" dt="2026-10-05T15:41:42.861" v="237" actId="207"/>
          <ac:spMkLst>
            <pc:docMk/>
            <pc:sldMk cId="0" sldId="264"/>
            <ac:spMk id="10" creationId="{00000000-0000-0000-0000-000000000000}"/>
          </ac:spMkLst>
        </pc:spChg>
        <pc:spChg chg="mod">
          <ac:chgData name="Abubakar Olafusi" userId="eee36072894731d4" providerId="LiveId" clId="{0389F522-8E0A-4582-B847-05731A668B5C}" dt="2026-10-05T15:39:43.577" v="220" actId="1036"/>
          <ac:spMkLst>
            <pc:docMk/>
            <pc:sldMk cId="0" sldId="264"/>
            <ac:spMk id="11" creationId="{00000000-0000-0000-0000-000000000000}"/>
          </ac:spMkLst>
        </pc:spChg>
        <pc:spChg chg="mod">
          <ac:chgData name="Abubakar Olafusi" userId="eee36072894731d4" providerId="LiveId" clId="{0389F522-8E0A-4582-B847-05731A668B5C}" dt="2026-10-05T15:40:10.218" v="222" actId="207"/>
          <ac:spMkLst>
            <pc:docMk/>
            <pc:sldMk cId="0" sldId="264"/>
            <ac:spMk id="12" creationId="{00000000-0000-0000-0000-000000000000}"/>
          </ac:spMkLst>
        </pc:spChg>
        <pc:spChg chg="mod">
          <ac:chgData name="Abubakar Olafusi" userId="eee36072894731d4" providerId="LiveId" clId="{0389F522-8E0A-4582-B847-05731A668B5C}" dt="2026-10-05T15:39:43.577" v="220" actId="1036"/>
          <ac:spMkLst>
            <pc:docMk/>
            <pc:sldMk cId="0" sldId="264"/>
            <ac:spMk id="13" creationId="{00000000-0000-0000-0000-000000000000}"/>
          </ac:spMkLst>
        </pc:spChg>
        <pc:spChg chg="mod">
          <ac:chgData name="Abubakar Olafusi" userId="eee36072894731d4" providerId="LiveId" clId="{0389F522-8E0A-4582-B847-05731A668B5C}" dt="2026-10-05T15:40:05.377" v="221" actId="207"/>
          <ac:spMkLst>
            <pc:docMk/>
            <pc:sldMk cId="0" sldId="264"/>
            <ac:spMk id="14" creationId="{00000000-0000-0000-0000-000000000000}"/>
          </ac:spMkLst>
        </pc:spChg>
        <pc:spChg chg="mod">
          <ac:chgData name="Abubakar Olafusi" userId="eee36072894731d4" providerId="LiveId" clId="{0389F522-8E0A-4582-B847-05731A668B5C}" dt="2026-10-05T15:39:43.577" v="220" actId="1036"/>
          <ac:spMkLst>
            <pc:docMk/>
            <pc:sldMk cId="0" sldId="264"/>
            <ac:spMk id="15" creationId="{00000000-0000-0000-0000-000000000000}"/>
          </ac:spMkLst>
        </pc:spChg>
        <pc:spChg chg="mod">
          <ac:chgData name="Abubakar Olafusi" userId="eee36072894731d4" providerId="LiveId" clId="{0389F522-8E0A-4582-B847-05731A668B5C}" dt="2026-10-05T15:41:12.160" v="232" actId="1076"/>
          <ac:spMkLst>
            <pc:docMk/>
            <pc:sldMk cId="0" sldId="264"/>
            <ac:spMk id="18" creationId="{00000000-0000-0000-0000-000000000000}"/>
          </ac:spMkLst>
        </pc:spChg>
        <pc:spChg chg="add del mod">
          <ac:chgData name="Abubakar Olafusi" userId="eee36072894731d4" providerId="LiveId" clId="{0389F522-8E0A-4582-B847-05731A668B5C}" dt="2026-10-05T15:41:11.777" v="231" actId="1076"/>
          <ac:spMkLst>
            <pc:docMk/>
            <pc:sldMk cId="0" sldId="264"/>
            <ac:spMk id="23" creationId="{00000000-0000-0000-0000-000000000000}"/>
          </ac:spMkLst>
        </pc:spChg>
        <pc:spChg chg="add mod">
          <ac:chgData name="Abubakar Olafusi" userId="eee36072894731d4" providerId="LiveId" clId="{0389F522-8E0A-4582-B847-05731A668B5C}" dt="2026-10-05T15:39:00.743" v="73" actId="571"/>
          <ac:spMkLst>
            <pc:docMk/>
            <pc:sldMk cId="0" sldId="264"/>
            <ac:spMk id="33" creationId="{30727FC1-2796-454F-EB4B-B047F13F1298}"/>
          </ac:spMkLst>
        </pc:spChg>
      </pc:sldChg>
      <pc:sldChg chg="modSp mod">
        <pc:chgData name="Abubakar Olafusi" userId="eee36072894731d4" providerId="LiveId" clId="{0389F522-8E0A-4582-B847-05731A668B5C}" dt="2026-10-05T15:37:33.318" v="68" actId="20577"/>
        <pc:sldMkLst>
          <pc:docMk/>
          <pc:sldMk cId="0" sldId="265"/>
        </pc:sldMkLst>
        <pc:spChg chg="mod">
          <ac:chgData name="Abubakar Olafusi" userId="eee36072894731d4" providerId="LiveId" clId="{0389F522-8E0A-4582-B847-05731A668B5C}" dt="2026-10-05T15:37:33.318" v="68" actId="20577"/>
          <ac:spMkLst>
            <pc:docMk/>
            <pc:sldMk cId="0" sldId="265"/>
            <ac:spMk id="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Availability</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99.811999999999998</c:v>
                </c:pt>
                <c:pt idx="1">
                  <c:v>99.817999999999998</c:v>
                </c:pt>
                <c:pt idx="2">
                  <c:v>99.822000000000003</c:v>
                </c:pt>
                <c:pt idx="3">
                  <c:v>99.828000000000003</c:v>
                </c:pt>
                <c:pt idx="4">
                  <c:v>99.823999999999998</c:v>
                </c:pt>
                <c:pt idx="5">
                  <c:v>99.828000000000003</c:v>
                </c:pt>
                <c:pt idx="6">
                  <c:v>99.832999999999998</c:v>
                </c:pt>
                <c:pt idx="7">
                  <c:v>99.835999999999999</c:v>
                </c:pt>
                <c:pt idx="8">
                  <c:v>99.694999999999993</c:v>
                </c:pt>
                <c:pt idx="9">
                  <c:v>99.85</c:v>
                </c:pt>
                <c:pt idx="10">
                  <c:v>99.844999999999999</c:v>
                </c:pt>
                <c:pt idx="11">
                  <c:v>99.846999999999994</c:v>
                </c:pt>
                <c:pt idx="12">
                  <c:v>99.853999999999999</c:v>
                </c:pt>
                <c:pt idx="13">
                  <c:v>99.85</c:v>
                </c:pt>
                <c:pt idx="14">
                  <c:v>99.861000000000004</c:v>
                </c:pt>
                <c:pt idx="15">
                  <c:v>99.863</c:v>
                </c:pt>
                <c:pt idx="16">
                  <c:v>99.867999999999995</c:v>
                </c:pt>
                <c:pt idx="17">
                  <c:v>99.861000000000004</c:v>
                </c:pt>
                <c:pt idx="18">
                  <c:v>99.867999999999995</c:v>
                </c:pt>
                <c:pt idx="19">
                  <c:v>99.867999999999995</c:v>
                </c:pt>
                <c:pt idx="20">
                  <c:v>99.802999999999997</c:v>
                </c:pt>
                <c:pt idx="21">
                  <c:v>99.887</c:v>
                </c:pt>
                <c:pt idx="22">
                  <c:v>99.881</c:v>
                </c:pt>
                <c:pt idx="23">
                  <c:v>99.88</c:v>
                </c:pt>
                <c:pt idx="24">
                  <c:v>99.894000000000005</c:v>
                </c:pt>
                <c:pt idx="25">
                  <c:v>99.888999999999996</c:v>
                </c:pt>
                <c:pt idx="26">
                  <c:v>99.900999999999996</c:v>
                </c:pt>
                <c:pt idx="27">
                  <c:v>99.891999999999996</c:v>
                </c:pt>
                <c:pt idx="28">
                  <c:v>99.906000000000006</c:v>
                </c:pt>
                <c:pt idx="29">
                  <c:v>99.908000000000001</c:v>
                </c:pt>
                <c:pt idx="30">
                  <c:v>99.908000000000001</c:v>
                </c:pt>
              </c:numCache>
            </c:numRef>
          </c:val>
          <c:smooth val="1"/>
          <c:extLst>
            <c:ext xmlns:c16="http://schemas.microsoft.com/office/drawing/2014/chart" uri="{C3380CC4-5D6E-409C-BE32-E72D297353CC}">
              <c16:uniqueId val="{00000000-5DEA-43FB-801C-1D68EBEB771A}"/>
            </c:ext>
          </c:extLst>
        </c:ser>
        <c:ser>
          <c:idx val="1"/>
          <c:order val="1"/>
          <c:tx>
            <c:strRef>
              <c:f>Sheet1!$C$1</c:f>
              <c:strCache>
                <c:ptCount val="1"/>
                <c:pt idx="0">
                  <c:v>99.9% proposed target</c:v>
                </c:pt>
              </c:strCache>
            </c:strRef>
          </c:tx>
          <c:spPr>
            <a:ln w="12700" cap="flat">
              <a:solidFill>
                <a:srgbClr val="ABABAB"/>
              </a:solidFill>
              <a:prstDash val="dash"/>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99.9</c:v>
                </c:pt>
                <c:pt idx="1">
                  <c:v>99.9</c:v>
                </c:pt>
                <c:pt idx="2">
                  <c:v>99.9</c:v>
                </c:pt>
                <c:pt idx="3">
                  <c:v>99.9</c:v>
                </c:pt>
                <c:pt idx="4">
                  <c:v>99.9</c:v>
                </c:pt>
                <c:pt idx="5">
                  <c:v>99.9</c:v>
                </c:pt>
                <c:pt idx="6">
                  <c:v>99.9</c:v>
                </c:pt>
                <c:pt idx="7">
                  <c:v>99.9</c:v>
                </c:pt>
                <c:pt idx="8">
                  <c:v>99.9</c:v>
                </c:pt>
                <c:pt idx="9">
                  <c:v>99.9</c:v>
                </c:pt>
                <c:pt idx="10">
                  <c:v>99.9</c:v>
                </c:pt>
                <c:pt idx="11">
                  <c:v>99.9</c:v>
                </c:pt>
                <c:pt idx="12">
                  <c:v>99.9</c:v>
                </c:pt>
                <c:pt idx="13">
                  <c:v>99.9</c:v>
                </c:pt>
                <c:pt idx="14">
                  <c:v>99.9</c:v>
                </c:pt>
                <c:pt idx="15">
                  <c:v>99.9</c:v>
                </c:pt>
                <c:pt idx="16">
                  <c:v>99.9</c:v>
                </c:pt>
                <c:pt idx="17">
                  <c:v>99.9</c:v>
                </c:pt>
                <c:pt idx="18">
                  <c:v>99.9</c:v>
                </c:pt>
                <c:pt idx="19">
                  <c:v>99.9</c:v>
                </c:pt>
                <c:pt idx="20">
                  <c:v>99.9</c:v>
                </c:pt>
                <c:pt idx="21">
                  <c:v>99.9</c:v>
                </c:pt>
                <c:pt idx="22">
                  <c:v>99.9</c:v>
                </c:pt>
                <c:pt idx="23">
                  <c:v>99.9</c:v>
                </c:pt>
                <c:pt idx="24">
                  <c:v>99.9</c:v>
                </c:pt>
                <c:pt idx="25">
                  <c:v>99.9</c:v>
                </c:pt>
                <c:pt idx="26">
                  <c:v>99.9</c:v>
                </c:pt>
                <c:pt idx="27">
                  <c:v>99.9</c:v>
                </c:pt>
                <c:pt idx="28">
                  <c:v>99.9</c:v>
                </c:pt>
                <c:pt idx="29">
                  <c:v>99.9</c:v>
                </c:pt>
                <c:pt idx="30">
                  <c:v>99.9</c:v>
                </c:pt>
              </c:numCache>
            </c:numRef>
          </c:val>
          <c:smooth val="1"/>
          <c:extLst>
            <c:ext xmlns:c16="http://schemas.microsoft.com/office/drawing/2014/chart" uri="{C3380CC4-5D6E-409C-BE32-E72D297353CC}">
              <c16:uniqueId val="{00000001-5DEA-43FB-801C-1D68EBEB771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100"/>
          <c:min val="99.6"/>
        </c:scaling>
        <c:delete val="0"/>
        <c:axPos val="l"/>
        <c:majorGridlines>
          <c:spPr>
            <a:ln w="9525" cap="flat">
              <a:solidFill>
                <a:srgbClr val="E6EAF4"/>
              </a:solidFill>
              <a:prstDash val="solid"/>
              <a:round/>
            </a:ln>
          </c:spPr>
        </c:majorGridlines>
        <c:numFmt formatCode="0.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0.1"/>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3676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purpose. This review covers Atlas’s first month in production, measured on the same data and the same scoring as the dashboard Northstar already has, and the proposal to bring the four sister brands onto the platform. The five key messages are the whole story in one place; everything that follows is the evidence. One: month one delivered, with automation at 70.1% in the final week and faster, better-rated answers. Two: quality improved every week. Three: availability is 99.85%, and we will find the cause in telemetry before anyone buys capacity. Four: one base model with one adapter per brand keeps each brand’s voice and data separate. Five: we are asking for a group sponsor today and Ridgeline as the 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and give the caveat in the same breath. Tier-1 automation averaged 67.9% in August and reached 70.1% in the final week; 70% was first reached on Aug 27. Handle time fell from 8m 03s to 7m 25s and CSAT rose from 80.8 to 83.7 within the month. The −35% and +12 points are against Northstar’s own pre-launch baselines, which we’ll validate together. These are the same tiles, on the same basis, as the Outcomes view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health panel from the dashboard. Reliability 3.3, Adoption 3.0, Model quality 4.0, User outcomes 4.0; 3.58 overall. Model quality and user outcomes are strongest. Adoption and reliability are where the work is. Adoption is a 3 because automation averaged 67.9%, just under the 70% band, although it finished the month above it. Reliability is a 3.3, and the reliability slide deals with it honestly.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what we know. Availability averaged 99.85% and met 99.9% on only 4 of 31 days, so this is not just the two incident days. At 19,000 to 31,000 requests a day Atlas is unlikely to sit idle at zero for long, so we should not assume cold starts are the cause. The next step is the deployment telemetry: scale-up events and error codes by hour. Meanwhile we retune scale-up thresholds and pre-warm before planned promotions. Always-on capacity for Atlas alone would be about $5,800 a month, $8,800 with EU-only placement; we would only recommend it if the telemetry shows scale-up is driving the misses. On the shared deployment the same capacity is about $1,200 to $1,800 per brand.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one open-weight base model on a shared deployment, one adapter per brand for tone, workflow and policy-following behaviour, and a separate knowledge index and system prompt per brand. Policy facts such as return windows live in the index, not the weights, so they can change without retraining. Atlas’s adapter moves over unchanged. Halden, the largest brand, can move to its own deployment once its volume keeps capacity busy. Why not reuse Atlas with a new prompt: its tone and policy-handling habits are learned and would leak. Why not five separate models: five deployments to run and retrain, and the smaller brands don’t have enough transcripts.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gives the cheapest option a fair test. Arm A uses no brand-specific training; if it clears every criterion, we skip the adapter. Arm B adds a Ridgeline adapter. Both run for four weeks against criteria we agree today. We also capture Ridgeline’s baselines before launch, so the uplift is measured directly rather than relying on supplied figures.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agree the sponsor and dependencies this month, stand up the shared deployment and prove Atlas parity in November, run the Ridgeline pilot through December, read out in January, then Halden and Polar in Q1 and Harbour &amp; Hide in Q2. Budget: the shared deployment is billed as dedicated capacity, about $5,800 a month for one replica, $8,800 with EU-only placement; training cost is immaterial. The number of replicas is sized from a load benchmark before we commit. The overlap while Atlas moves is budgeted in weeks.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risk that matters. The platform worked in month one; the risk is that nobody above brand level owns the rollout, so it stays with Atlas. If that happens, always-on capacity stays a single-brand cost, the sister brands, which carry most of the Tier-1 volume, don’t get the gains, and each brand makes its own tooling decision. The mitigation is three concrete asks: a named group sponsor at this review, the Ridgeline criteria agreed together, and shared capacity sized alongside a second brand from a load benchmark, never for Atlas alone.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These are the joint next actions from the Next steps view of the dashboard, with owners and dates, so everyone leaves with the same list. Open the floor for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
        <p:nvSpPr>
          <p:cNvPr id="4" name="Shape 2"/>
          <p:cNvSpPr/>
          <p:nvPr/>
        </p:nvSpPr>
        <p:spPr>
          <a:xfrm>
            <a:off x="0" y="713232"/>
            <a:ext cx="12191695" cy="0"/>
          </a:xfrm>
          <a:prstGeom prst="line">
            <a:avLst/>
          </a:prstGeom>
          <a:noFill/>
          <a:ln w="9525">
            <a:solidFill>
              <a:srgbClr val="E6EAF4"/>
            </a:solidFill>
            <a:prstDash val="solid"/>
          </a:ln>
        </p:spPr>
      </p:sp>
      <p:pic>
        <p:nvPicPr>
          <p:cNvPr id="5" name="Image 0" descr="preencoded.png"/>
          <p:cNvPicPr>
            <a:picLocks noChangeAspect="1"/>
          </p:cNvPicPr>
          <p:nvPr/>
        </p:nvPicPr>
        <p:blipFill>
          <a:blip r:embed="rId2"/>
          <a:stretch>
            <a:fillRect/>
          </a:stretch>
        </p:blipFill>
        <p:spPr>
          <a:xfrm>
            <a:off x="731520" y="246888"/>
            <a:ext cx="1710759" cy="219456"/>
          </a:xfrm>
          <a:prstGeom prst="rect">
            <a:avLst/>
          </a:prstGeom>
        </p:spPr>
      </p:pic>
      <p:sp>
        <p:nvSpPr>
          <p:cNvPr id="6" name="Shape 3"/>
          <p:cNvSpPr/>
          <p:nvPr/>
        </p:nvSpPr>
        <p:spPr>
          <a:xfrm>
            <a:off x="2661735" y="228600"/>
            <a:ext cx="0" cy="256032"/>
          </a:xfrm>
          <a:prstGeom prst="line">
            <a:avLst/>
          </a:prstGeom>
          <a:noFill/>
          <a:ln w="9525">
            <a:solidFill>
              <a:srgbClr val="E6EAF4"/>
            </a:solidFill>
            <a:prstDash val="solid"/>
          </a:ln>
        </p:spPr>
      </p:sp>
      <p:sp>
        <p:nvSpPr>
          <p:cNvPr id="7" name="Text 4"/>
          <p:cNvSpPr/>
          <p:nvPr/>
        </p:nvSpPr>
        <p:spPr>
          <a:xfrm>
            <a:off x="5882335" y="219456"/>
            <a:ext cx="5120640" cy="274320"/>
          </a:xfrm>
          <a:prstGeom prst="rect">
            <a:avLst/>
          </a:prstGeom>
          <a:noFill/>
          <a:ln/>
        </p:spPr>
        <p:txBody>
          <a:bodyPr wrap="square" lIns="0" tIns="0" rIns="0" bIns="0" rtlCol="0" anchor="ctr"/>
          <a:lstStyle/>
          <a:p>
            <a:pPr marL="0" indent="0" algn="r">
              <a:buNone/>
            </a:pPr>
            <a:r>
              <a:rPr lang="en-US" sz="950" dirty="0">
                <a:solidFill>
                  <a:srgbClr val="5A5E63"/>
                </a:solidFill>
                <a:latin typeface="Inter" pitchFamily="34" charset="0"/>
                <a:ea typeface="Inter" pitchFamily="34" charset="-122"/>
                <a:cs typeface="Inter" pitchFamily="34" charset="-120"/>
              </a:rPr>
              <a:t>Northstar Retail Group · Executive Business Review · October 2026</a:t>
            </a:r>
            <a:endParaRPr lang="en-US" sz="950" dirty="0"/>
          </a:p>
        </p:txBody>
      </p:sp>
      <p:sp>
        <p:nvSpPr>
          <p:cNvPr id="8" name="Text 5"/>
          <p:cNvSpPr>
            <a:spLocks noGrp="1"/>
          </p:cNvSpPr>
          <p:nvPr>
            <p:ph type="body" idx="106" hasCustomPrompt="1"/>
          </p:nvPr>
        </p:nvSpPr>
        <p:spPr>
          <a:xfrm>
            <a:off x="2881191" y="219456"/>
            <a:ext cx="3200400" cy="274320"/>
          </a:xfrm>
          <a:prstGeom prst="rect">
            <a:avLst/>
          </a:prstGeom>
          <a:noFill/>
          <a:ln/>
        </p:spPr>
        <p:txBody>
          <a:bodyPr wrap="square" rtlCol="0"/>
          <a:lstStyle>
            <a:lvl1pPr marL="0" indent="0">
              <a:buNone/>
              <a:defRPr lang="en-US" sz="1100" dirty="0">
                <a:solidFill>
                  <a:srgbClr val="16181D"/>
                </a:solidFill>
                <a:latin typeface="Inter Medium" pitchFamily="34" charset="0"/>
                <a:ea typeface="Inter Medium" pitchFamily="34" charset="-122"/>
                <a:cs typeface="Inter Medium" pitchFamily="34" charset="-120"/>
              </a:defRPr>
            </a:lvl1pPr>
          </a:lstStyle>
          <a:p>
            <a:pPr marL="0" indent="0">
              <a:buNone/>
            </a:pPr>
            <a:endParaRPr lang="en-US" sz="1100" dirty="0"/>
          </a:p>
        </p:txBody>
      </p:sp>
      <p:sp>
        <p:nvSpPr>
          <p:cNvPr id="9" name="Text 5"/>
          <p:cNvSpPr>
            <a:spLocks noGrp="1"/>
          </p:cNvSpPr>
          <p:nvPr>
            <p:ph type="title" idx="107" hasCustomPrompt="1"/>
          </p:nvPr>
        </p:nvSpPr>
        <p:spPr>
          <a:xfrm>
            <a:off x="731520" y="969264"/>
            <a:ext cx="10728655" cy="566928"/>
          </a:xfrm>
          <a:prstGeom prst="rect">
            <a:avLst/>
          </a:prstGeom>
          <a:noFill/>
          <a:ln/>
        </p:spPr>
        <p:txBody>
          <a:bodyPr wrap="square" rtlCol="0"/>
          <a:lstStyle>
            <a:lvl1pPr marL="0" indent="0" algn="l">
              <a:buNone/>
              <a:defRPr lang="en-US" sz="2800" kern="0" spc="-70" dirty="0">
                <a:solidFill>
                  <a:srgbClr val="16181D"/>
                </a:solidFill>
                <a:latin typeface="Inter Medium" pitchFamily="34" charset="0"/>
                <a:ea typeface="Inter Medium" pitchFamily="34" charset="-122"/>
                <a:cs typeface="Inter Medium" pitchFamily="34" charset="-120"/>
              </a:defRPr>
            </a:lvl1pPr>
          </a:lstStyle>
          <a:p>
            <a:pPr marL="0" indent="0" algn="l">
              <a:buNone/>
            </a:pPr>
            <a:endParaRPr lang="en-US" sz="2800" dirty="0"/>
          </a:p>
        </p:txBody>
      </p:sp>
      <p:sp>
        <p:nvSpPr>
          <p:cNvPr id="10" name="Text 5"/>
          <p:cNvSpPr>
            <a:spLocks noGrp="1"/>
          </p:cNvSpPr>
          <p:nvPr>
            <p:ph type="body" idx="108" hasCustomPrompt="1"/>
          </p:nvPr>
        </p:nvSpPr>
        <p:spPr>
          <a:xfrm>
            <a:off x="731520" y="1517904"/>
            <a:ext cx="10728655" cy="457200"/>
          </a:xfrm>
          <a:prstGeom prst="rect">
            <a:avLst/>
          </a:prstGeom>
          <a:noFill/>
          <a:ln/>
        </p:spPr>
        <p:txBody>
          <a:bodyPr wrap="square" rtlCol="0"/>
          <a:lstStyle>
            <a:lvl1pPr marL="0" indent="0">
              <a:buNone/>
              <a:defRPr lang="en-US" sz="1300" dirty="0">
                <a:solidFill>
                  <a:srgbClr val="5A5E63"/>
                </a:solidFill>
                <a:latin typeface="Inter" pitchFamily="34" charset="0"/>
                <a:ea typeface="Inter" pitchFamily="34" charset="-122"/>
                <a:cs typeface="Inter" pitchFamily="34" charset="-120"/>
              </a:defRPr>
            </a:lvl1pPr>
          </a:lstStyle>
          <a:p>
            <a:pPr marL="0" indent="0">
              <a:buNone/>
            </a:pPr>
            <a:endParaRPr lang="en-US" sz="1300" dirty="0"/>
          </a:p>
        </p:txBody>
      </p:sp>
      <p:sp>
        <p:nvSpPr>
          <p:cNvPr id="2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txBody>
          <a:bodyPr/>
          <a:lstStyle/>
          <a:p>
            <a:endParaRPr lang="en-GB"/>
          </a:p>
        </p:txBody>
      </p:sp>
      <p:sp>
        <p:nvSpPr>
          <p:cNvPr id="3" name="Shape 1"/>
          <p:cNvSpPr/>
          <p:nvPr/>
        </p:nvSpPr>
        <p:spPr>
          <a:xfrm>
            <a:off x="11807647" y="0"/>
            <a:ext cx="0" cy="6858000"/>
          </a:xfrm>
          <a:prstGeom prst="line">
            <a:avLst/>
          </a:prstGeom>
          <a:noFill/>
          <a:ln w="9525">
            <a:solidFill>
              <a:srgbClr val="E6EAF4"/>
            </a:solidFill>
            <a:prstDash val="solid"/>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
        <p:nvSpPr>
          <p:cNvPr id="4" name="Shape 2"/>
          <p:cNvSpPr/>
          <p:nvPr/>
        </p:nvSpPr>
        <p:spPr>
          <a:xfrm>
            <a:off x="0" y="713232"/>
            <a:ext cx="12191695" cy="0"/>
          </a:xfrm>
          <a:prstGeom prst="line">
            <a:avLst/>
          </a:prstGeom>
          <a:noFill/>
          <a:ln w="9525">
            <a:solidFill>
              <a:srgbClr val="E6EAF4"/>
            </a:solidFill>
            <a:prstDash val="solid"/>
          </a:ln>
        </p:spPr>
      </p:sp>
      <p:pic>
        <p:nvPicPr>
          <p:cNvPr id="5" name="Image 0" descr="preencoded.png"/>
          <p:cNvPicPr>
            <a:picLocks noChangeAspect="1"/>
          </p:cNvPicPr>
          <p:nvPr/>
        </p:nvPicPr>
        <p:blipFill>
          <a:blip r:embed="rId2"/>
          <a:stretch>
            <a:fillRect/>
          </a:stretch>
        </p:blipFill>
        <p:spPr>
          <a:xfrm>
            <a:off x="731520" y="246888"/>
            <a:ext cx="1710759" cy="219456"/>
          </a:xfrm>
          <a:prstGeom prst="rect">
            <a:avLst/>
          </a:prstGeom>
        </p:spPr>
      </p:pic>
      <p:sp>
        <p:nvSpPr>
          <p:cNvPr id="6" name="Shape 3"/>
          <p:cNvSpPr/>
          <p:nvPr/>
        </p:nvSpPr>
        <p:spPr>
          <a:xfrm>
            <a:off x="2661735" y="228600"/>
            <a:ext cx="0" cy="256032"/>
          </a:xfrm>
          <a:prstGeom prst="line">
            <a:avLst/>
          </a:prstGeom>
          <a:noFill/>
          <a:ln w="9525">
            <a:solidFill>
              <a:srgbClr val="E6EAF4"/>
            </a:solidFill>
            <a:prstDash val="solid"/>
          </a:ln>
        </p:spPr>
      </p:sp>
      <p:sp>
        <p:nvSpPr>
          <p:cNvPr id="7" name="Text 4"/>
          <p:cNvSpPr/>
          <p:nvPr/>
        </p:nvSpPr>
        <p:spPr>
          <a:xfrm>
            <a:off x="5882335" y="219456"/>
            <a:ext cx="5120640" cy="274320"/>
          </a:xfrm>
          <a:prstGeom prst="rect">
            <a:avLst/>
          </a:prstGeom>
          <a:noFill/>
          <a:ln/>
        </p:spPr>
        <p:txBody>
          <a:bodyPr wrap="square" lIns="0" tIns="0" rIns="0" bIns="0" rtlCol="0" anchor="ctr"/>
          <a:lstStyle/>
          <a:p>
            <a:pPr marL="0" indent="0" algn="r">
              <a:buNone/>
            </a:pPr>
            <a:r>
              <a:rPr lang="en-US" sz="950" dirty="0">
                <a:solidFill>
                  <a:srgbClr val="5A5E63"/>
                </a:solidFill>
                <a:latin typeface="Inter" pitchFamily="34" charset="0"/>
                <a:ea typeface="Inter" pitchFamily="34" charset="-122"/>
                <a:cs typeface="Inter" pitchFamily="34" charset="-120"/>
              </a:rPr>
              <a:t>Northstar Retail Group · Executive Business Review · October 2026</a:t>
            </a:r>
            <a:endParaRPr lang="en-US" sz="9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reworks AI"/>
          <p:cNvPicPr>
            <a:picLocks noChangeAspect="1"/>
          </p:cNvPicPr>
          <p:nvPr/>
        </p:nvPicPr>
        <p:blipFill>
          <a:blip r:embed="rId3"/>
          <a:stretch>
            <a:fillRect/>
          </a:stretch>
        </p:blipFill>
        <p:spPr>
          <a:xfrm>
            <a:off x="731520" y="841248"/>
            <a:ext cx="3278955" cy="420624"/>
          </a:xfrm>
          <a:prstGeom prst="rect">
            <a:avLst/>
          </a:prstGeom>
        </p:spPr>
      </p:pic>
      <p:sp>
        <p:nvSpPr>
          <p:cNvPr id="3" name="Text 0"/>
          <p:cNvSpPr txBox="1"/>
          <p:nvPr/>
        </p:nvSpPr>
        <p:spPr>
          <a:xfrm>
            <a:off x="731520" y="2331720"/>
            <a:ext cx="5394960" cy="274320"/>
          </a:xfrm>
          <a:prstGeom prst="rect">
            <a:avLst/>
          </a:prstGeom>
          <a:noFill/>
          <a:ln/>
        </p:spPr>
        <p:txBody>
          <a:bodyPr wrap="square" lIns="0" tIns="0" rIns="0" bIns="0" rtlCol="0" anchor="t"/>
          <a:lstStyle/>
          <a:p>
            <a:pPr marL="0" indent="0">
              <a:buNone/>
            </a:pPr>
            <a:r>
              <a:rPr lang="en-US" sz="1400" dirty="0">
                <a:solidFill>
                  <a:srgbClr val="501BC4"/>
                </a:solidFill>
                <a:latin typeface="Inter Medium" pitchFamily="34" charset="0"/>
                <a:ea typeface="Inter Medium" pitchFamily="34" charset="-122"/>
                <a:cs typeface="Inter Medium" pitchFamily="34" charset="-120"/>
              </a:rPr>
              <a:t>Executive Business Review</a:t>
            </a:r>
            <a:endParaRPr lang="en-US" sz="1400" dirty="0"/>
          </a:p>
        </p:txBody>
      </p:sp>
      <p:sp>
        <p:nvSpPr>
          <p:cNvPr id="4" name="Text 1"/>
          <p:cNvSpPr txBox="1"/>
          <p:nvPr/>
        </p:nvSpPr>
        <p:spPr>
          <a:xfrm>
            <a:off x="731520" y="2670048"/>
            <a:ext cx="5394960" cy="731519"/>
          </a:xfrm>
          <a:prstGeom prst="rect">
            <a:avLst/>
          </a:prstGeom>
          <a:noFill/>
          <a:ln/>
        </p:spPr>
        <p:txBody>
          <a:bodyPr wrap="square" lIns="0" tIns="0" rIns="0" bIns="0" rtlCol="0" anchor="t"/>
          <a:lstStyle/>
          <a:p>
            <a:pPr marL="0" indent="0">
              <a:lnSpc>
                <a:spcPct val="95000"/>
              </a:lnSpc>
              <a:buNone/>
            </a:pPr>
            <a:r>
              <a:rPr lang="en-US" sz="4000" kern="0" spc="-160" dirty="0">
                <a:solidFill>
                  <a:srgbClr val="16181D"/>
                </a:solidFill>
                <a:latin typeface="Inter Medium" pitchFamily="34" charset="0"/>
                <a:ea typeface="Inter Medium" pitchFamily="34" charset="-122"/>
                <a:cs typeface="Inter Medium" pitchFamily="34" charset="-120"/>
              </a:rPr>
              <a:t>Northstar Retail Group</a:t>
            </a:r>
            <a:endParaRPr lang="en-US" sz="4000" dirty="0"/>
          </a:p>
        </p:txBody>
      </p:sp>
      <p:sp>
        <p:nvSpPr>
          <p:cNvPr id="5" name="Text 2"/>
          <p:cNvSpPr txBox="1"/>
          <p:nvPr/>
        </p:nvSpPr>
        <p:spPr>
          <a:xfrm>
            <a:off x="731520" y="3451860"/>
            <a:ext cx="5029200" cy="731520"/>
          </a:xfrm>
          <a:prstGeom prst="rect">
            <a:avLst/>
          </a:prstGeom>
          <a:noFill/>
          <a:ln/>
        </p:spPr>
        <p:txBody>
          <a:bodyPr wrap="square" lIns="0" tIns="0" rIns="0" bIns="0" rtlCol="0" anchor="t"/>
          <a:lstStyle/>
          <a:p>
            <a:pPr marL="0" indent="0">
              <a:buNone/>
            </a:pPr>
            <a:r>
              <a:rPr lang="en-US" sz="1800" dirty="0">
                <a:solidFill>
                  <a:srgbClr val="5A5E63"/>
                </a:solidFill>
                <a:latin typeface="Inter" pitchFamily="34" charset="0"/>
                <a:ea typeface="Inter" pitchFamily="34" charset="-122"/>
                <a:cs typeface="Inter" pitchFamily="34" charset="-120"/>
              </a:rPr>
              <a:t>Month one in production, and the plan for four more brands</a:t>
            </a:r>
            <a:endParaRPr lang="en-US" sz="1800" dirty="0"/>
          </a:p>
        </p:txBody>
      </p:sp>
      <p:sp>
        <p:nvSpPr>
          <p:cNvPr id="6" name="key-messages"/>
          <p:cNvSpPr/>
          <p:nvPr/>
        </p:nvSpPr>
        <p:spPr>
          <a:xfrm>
            <a:off x="6537960" y="841248"/>
            <a:ext cx="4922215" cy="4645152"/>
          </a:xfrm>
          <a:prstGeom prst="roundRect">
            <a:avLst>
              <a:gd name="adj" fmla="val 2362"/>
            </a:avLst>
          </a:prstGeom>
          <a:solidFill>
            <a:srgbClr val="FAF7FF"/>
          </a:solidFill>
          <a:ln w="9525">
            <a:solidFill>
              <a:srgbClr val="E6EAF4"/>
            </a:solidFill>
            <a:prstDash val="solid"/>
          </a:ln>
        </p:spPr>
        <p:txBody>
          <a:bodyPr/>
          <a:lstStyle/>
          <a:p>
            <a:endParaRPr lang="en-GB"/>
          </a:p>
        </p:txBody>
      </p:sp>
      <p:sp>
        <p:nvSpPr>
          <p:cNvPr id="7" name="Text 4"/>
          <p:cNvSpPr txBox="1"/>
          <p:nvPr/>
        </p:nvSpPr>
        <p:spPr>
          <a:xfrm>
            <a:off x="6812280" y="1115568"/>
            <a:ext cx="274320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Key messages</a:t>
            </a:r>
            <a:endParaRPr lang="en-US" sz="1100" dirty="0"/>
          </a:p>
        </p:txBody>
      </p:sp>
      <p:sp>
        <p:nvSpPr>
          <p:cNvPr id="8" name="Shape 5"/>
          <p:cNvSpPr/>
          <p:nvPr/>
        </p:nvSpPr>
        <p:spPr>
          <a:xfrm>
            <a:off x="6830568" y="1781251"/>
            <a:ext cx="118872" cy="118872"/>
          </a:xfrm>
          <a:prstGeom prst="rect">
            <a:avLst/>
          </a:prstGeom>
          <a:solidFill>
            <a:srgbClr val="6720FF"/>
          </a:solidFill>
          <a:ln/>
        </p:spPr>
        <p:txBody>
          <a:bodyPr/>
          <a:lstStyle/>
          <a:p>
            <a:endParaRPr lang="en-GB"/>
          </a:p>
        </p:txBody>
      </p:sp>
      <p:sp>
        <p:nvSpPr>
          <p:cNvPr id="9" name="Text 6"/>
          <p:cNvSpPr txBox="1"/>
          <p:nvPr/>
        </p:nvSpPr>
        <p:spPr>
          <a:xfrm>
            <a:off x="7141464" y="1444752"/>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Month one delivered: Tier-1 automation reached 70.1% in the final week, with faster, better-rated answers.</a:t>
            </a:r>
            <a:endParaRPr lang="en-US" sz="1250" dirty="0"/>
          </a:p>
        </p:txBody>
      </p:sp>
      <p:sp>
        <p:nvSpPr>
          <p:cNvPr id="10" name="Shape 7"/>
          <p:cNvSpPr/>
          <p:nvPr/>
        </p:nvSpPr>
        <p:spPr>
          <a:xfrm>
            <a:off x="6812280" y="2236622"/>
            <a:ext cx="4373575" cy="0"/>
          </a:xfrm>
          <a:prstGeom prst="line">
            <a:avLst/>
          </a:prstGeom>
          <a:noFill/>
          <a:ln w="9525">
            <a:solidFill>
              <a:srgbClr val="E6EAF4"/>
            </a:solidFill>
            <a:prstDash val="solid"/>
          </a:ln>
        </p:spPr>
        <p:txBody>
          <a:bodyPr/>
          <a:lstStyle/>
          <a:p>
            <a:endParaRPr lang="en-GB"/>
          </a:p>
        </p:txBody>
      </p:sp>
      <p:sp>
        <p:nvSpPr>
          <p:cNvPr id="11" name="Shape 8"/>
          <p:cNvSpPr/>
          <p:nvPr/>
        </p:nvSpPr>
        <p:spPr>
          <a:xfrm>
            <a:off x="6830568" y="2573122"/>
            <a:ext cx="118872" cy="118872"/>
          </a:xfrm>
          <a:prstGeom prst="rect">
            <a:avLst/>
          </a:prstGeom>
          <a:solidFill>
            <a:srgbClr val="6720FF"/>
          </a:solidFill>
          <a:ln/>
        </p:spPr>
        <p:txBody>
          <a:bodyPr/>
          <a:lstStyle/>
          <a:p>
            <a:endParaRPr lang="en-GB"/>
          </a:p>
        </p:txBody>
      </p:sp>
      <p:sp>
        <p:nvSpPr>
          <p:cNvPr id="12" name="Text 9"/>
          <p:cNvSpPr txBox="1"/>
          <p:nvPr/>
        </p:nvSpPr>
        <p:spPr>
          <a:xfrm>
            <a:off x="7141464" y="2236622"/>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Quality improved every week, and the evidence is in your dashboard.</a:t>
            </a:r>
            <a:endParaRPr lang="en-US" sz="1250" dirty="0"/>
          </a:p>
        </p:txBody>
      </p:sp>
      <p:sp>
        <p:nvSpPr>
          <p:cNvPr id="13" name="Shape 10"/>
          <p:cNvSpPr/>
          <p:nvPr/>
        </p:nvSpPr>
        <p:spPr>
          <a:xfrm>
            <a:off x="6812280" y="3028493"/>
            <a:ext cx="4373575" cy="0"/>
          </a:xfrm>
          <a:prstGeom prst="line">
            <a:avLst/>
          </a:prstGeom>
          <a:noFill/>
          <a:ln w="9525">
            <a:solidFill>
              <a:srgbClr val="E6EAF4"/>
            </a:solidFill>
            <a:prstDash val="solid"/>
          </a:ln>
        </p:spPr>
        <p:txBody>
          <a:bodyPr/>
          <a:lstStyle/>
          <a:p>
            <a:endParaRPr lang="en-GB"/>
          </a:p>
        </p:txBody>
      </p:sp>
      <p:sp>
        <p:nvSpPr>
          <p:cNvPr id="14" name="Shape 11"/>
          <p:cNvSpPr/>
          <p:nvPr/>
        </p:nvSpPr>
        <p:spPr>
          <a:xfrm>
            <a:off x="6830568" y="3364992"/>
            <a:ext cx="118872" cy="118872"/>
          </a:xfrm>
          <a:prstGeom prst="rect">
            <a:avLst/>
          </a:prstGeom>
          <a:solidFill>
            <a:srgbClr val="6720FF"/>
          </a:solidFill>
          <a:ln/>
        </p:spPr>
        <p:txBody>
          <a:bodyPr/>
          <a:lstStyle/>
          <a:p>
            <a:endParaRPr lang="en-GB"/>
          </a:p>
        </p:txBody>
      </p:sp>
      <p:sp>
        <p:nvSpPr>
          <p:cNvPr id="15" name="Text 12"/>
          <p:cNvSpPr txBox="1"/>
          <p:nvPr/>
        </p:nvSpPr>
        <p:spPr>
          <a:xfrm>
            <a:off x="7141464" y="3028493"/>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99.85% availability today: we find the cause in telemetry before buying capacity.</a:t>
            </a:r>
            <a:endParaRPr lang="en-US" sz="1250" dirty="0"/>
          </a:p>
        </p:txBody>
      </p:sp>
      <p:sp>
        <p:nvSpPr>
          <p:cNvPr id="16" name="Shape 13"/>
          <p:cNvSpPr/>
          <p:nvPr/>
        </p:nvSpPr>
        <p:spPr>
          <a:xfrm>
            <a:off x="6812280" y="3820363"/>
            <a:ext cx="4373575" cy="0"/>
          </a:xfrm>
          <a:prstGeom prst="line">
            <a:avLst/>
          </a:prstGeom>
          <a:noFill/>
          <a:ln w="9525">
            <a:solidFill>
              <a:srgbClr val="E6EAF4"/>
            </a:solidFill>
            <a:prstDash val="solid"/>
          </a:ln>
        </p:spPr>
        <p:txBody>
          <a:bodyPr/>
          <a:lstStyle/>
          <a:p>
            <a:endParaRPr lang="en-GB"/>
          </a:p>
        </p:txBody>
      </p:sp>
      <p:sp>
        <p:nvSpPr>
          <p:cNvPr id="17" name="Shape 14"/>
          <p:cNvSpPr/>
          <p:nvPr/>
        </p:nvSpPr>
        <p:spPr>
          <a:xfrm>
            <a:off x="6830568" y="4156862"/>
            <a:ext cx="118872" cy="118872"/>
          </a:xfrm>
          <a:prstGeom prst="rect">
            <a:avLst/>
          </a:prstGeom>
          <a:solidFill>
            <a:srgbClr val="6720FF"/>
          </a:solidFill>
          <a:ln/>
        </p:spPr>
        <p:txBody>
          <a:bodyPr/>
          <a:lstStyle/>
          <a:p>
            <a:endParaRPr lang="en-GB"/>
          </a:p>
        </p:txBody>
      </p:sp>
      <p:sp>
        <p:nvSpPr>
          <p:cNvPr id="18" name="Text 15"/>
          <p:cNvSpPr txBox="1"/>
          <p:nvPr/>
        </p:nvSpPr>
        <p:spPr>
          <a:xfrm>
            <a:off x="7141464" y="3820363"/>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One base model, one adapter per brand: each brand keeps its voice and its data.</a:t>
            </a:r>
            <a:endParaRPr lang="en-US" sz="1250" dirty="0"/>
          </a:p>
        </p:txBody>
      </p:sp>
      <p:sp>
        <p:nvSpPr>
          <p:cNvPr id="19" name="Shape 16"/>
          <p:cNvSpPr/>
          <p:nvPr/>
        </p:nvSpPr>
        <p:spPr>
          <a:xfrm>
            <a:off x="6812280" y="4612234"/>
            <a:ext cx="4373575" cy="0"/>
          </a:xfrm>
          <a:prstGeom prst="line">
            <a:avLst/>
          </a:prstGeom>
          <a:noFill/>
          <a:ln w="9525">
            <a:solidFill>
              <a:srgbClr val="E6EAF4"/>
            </a:solidFill>
            <a:prstDash val="solid"/>
          </a:ln>
        </p:spPr>
        <p:txBody>
          <a:bodyPr/>
          <a:lstStyle/>
          <a:p>
            <a:endParaRPr lang="en-GB"/>
          </a:p>
        </p:txBody>
      </p:sp>
      <p:sp>
        <p:nvSpPr>
          <p:cNvPr id="20" name="Shape 17"/>
          <p:cNvSpPr/>
          <p:nvPr/>
        </p:nvSpPr>
        <p:spPr>
          <a:xfrm>
            <a:off x="6830568" y="4948733"/>
            <a:ext cx="118872" cy="118872"/>
          </a:xfrm>
          <a:prstGeom prst="rect">
            <a:avLst/>
          </a:prstGeom>
          <a:solidFill>
            <a:srgbClr val="1DA28F"/>
          </a:solidFill>
          <a:ln/>
        </p:spPr>
        <p:txBody>
          <a:bodyPr/>
          <a:lstStyle/>
          <a:p>
            <a:endParaRPr lang="en-GB"/>
          </a:p>
        </p:txBody>
      </p:sp>
      <p:sp>
        <p:nvSpPr>
          <p:cNvPr id="21" name="Text 18"/>
          <p:cNvSpPr txBox="1"/>
          <p:nvPr/>
        </p:nvSpPr>
        <p:spPr>
          <a:xfrm>
            <a:off x="7141464" y="4612234"/>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We’re asking for a group sponsor today and Ridgeline as the pilot.</a:t>
            </a:r>
            <a:endParaRPr lang="en-US" sz="1250" dirty="0"/>
          </a:p>
        </p:txBody>
      </p:sp>
      <p:sp>
        <p:nvSpPr>
          <p:cNvPr id="22" name="Shape 19"/>
          <p:cNvSpPr/>
          <p:nvPr/>
        </p:nvSpPr>
        <p:spPr>
          <a:xfrm>
            <a:off x="731520" y="5760720"/>
            <a:ext cx="10728655" cy="0"/>
          </a:xfrm>
          <a:prstGeom prst="line">
            <a:avLst/>
          </a:prstGeom>
          <a:noFill/>
          <a:ln w="9525">
            <a:solidFill>
              <a:srgbClr val="E6EAF4"/>
            </a:solidFill>
            <a:prstDash val="solid"/>
          </a:ln>
        </p:spPr>
        <p:txBody>
          <a:bodyPr/>
          <a:lstStyle/>
          <a:p>
            <a:endParaRPr lang="en-GB"/>
          </a:p>
        </p:txBody>
      </p:sp>
      <p:sp>
        <p:nvSpPr>
          <p:cNvPr id="24" name="Text 21"/>
          <p:cNvSpPr txBox="1"/>
          <p:nvPr/>
        </p:nvSpPr>
        <p:spPr>
          <a:xfrm>
            <a:off x="5973775" y="5925312"/>
            <a:ext cx="5486400" cy="274320"/>
          </a:xfrm>
          <a:prstGeom prst="rect">
            <a:avLst/>
          </a:prstGeom>
          <a:noFill/>
          <a:ln/>
        </p:spPr>
        <p:txBody>
          <a:bodyPr wrap="square" lIns="0" tIns="0" rIns="0" bIns="0" rtlCol="0" anchor="t"/>
          <a:lstStyle/>
          <a:p>
            <a:pPr marL="0" indent="0" algn="r">
              <a:buNone/>
            </a:pPr>
            <a:r>
              <a:rPr lang="en-US" sz="1100" dirty="0">
                <a:solidFill>
                  <a:srgbClr val="5A5E63"/>
                </a:solidFill>
                <a:latin typeface="Inter" pitchFamily="34" charset="0"/>
                <a:ea typeface="Inter" pitchFamily="34" charset="-122"/>
                <a:cs typeface="Inter" pitchFamily="34" charset="-120"/>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Outcomes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Month one: Tier-1 automation reached 70% by the final week</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August averages. The change line compares the first week with the final week, the same basis as your dashboard.</a:t>
            </a:r>
            <a:endParaRPr lang="en-US" sz="1300" dirty="0"/>
          </a:p>
        </p:txBody>
      </p:sp>
      <p:sp>
        <p:nvSpPr>
          <p:cNvPr id="5" name="headline-metrics"/>
          <p:cNvSpPr/>
          <p:nvPr/>
        </p:nvSpPr>
        <p:spPr>
          <a:xfrm>
            <a:off x="731520" y="2103120"/>
            <a:ext cx="10728655" cy="3840480"/>
          </a:xfrm>
          <a:prstGeom prst="roundRect">
            <a:avLst>
              <a:gd name="adj" fmla="val 2857"/>
            </a:avLst>
          </a:prstGeom>
          <a:solidFill>
            <a:srgbClr val="FAF7FF"/>
          </a:solidFill>
          <a:ln w="9525">
            <a:solidFill>
              <a:srgbClr val="E6EAF4"/>
            </a:solidFill>
            <a:prstDash val="solid"/>
          </a:ln>
        </p:spPr>
        <p:txBody>
          <a:bodyPr/>
          <a:lstStyle/>
          <a:p>
            <a:endParaRPr lang="en-GB"/>
          </a:p>
        </p:txBody>
      </p:sp>
      <p:sp>
        <p:nvSpPr>
          <p:cNvPr id="6" name="Shape 4"/>
          <p:cNvSpPr/>
          <p:nvPr/>
        </p:nvSpPr>
        <p:spPr>
          <a:xfrm>
            <a:off x="3413684" y="2103120"/>
            <a:ext cx="0" cy="3840480"/>
          </a:xfrm>
          <a:prstGeom prst="line">
            <a:avLst/>
          </a:prstGeom>
          <a:noFill/>
          <a:ln w="9525">
            <a:solidFill>
              <a:srgbClr val="E6EAF4"/>
            </a:solidFill>
            <a:prstDash val="solid"/>
          </a:ln>
        </p:spPr>
        <p:txBody>
          <a:bodyPr/>
          <a:lstStyle/>
          <a:p>
            <a:endParaRPr lang="en-GB"/>
          </a:p>
        </p:txBody>
      </p:sp>
      <p:sp>
        <p:nvSpPr>
          <p:cNvPr id="7" name="Shape 5"/>
          <p:cNvSpPr/>
          <p:nvPr/>
        </p:nvSpPr>
        <p:spPr>
          <a:xfrm>
            <a:off x="6095848" y="2103120"/>
            <a:ext cx="0" cy="3840480"/>
          </a:xfrm>
          <a:prstGeom prst="line">
            <a:avLst/>
          </a:prstGeom>
          <a:noFill/>
          <a:ln w="9525">
            <a:solidFill>
              <a:srgbClr val="E6EAF4"/>
            </a:solidFill>
            <a:prstDash val="solid"/>
          </a:ln>
        </p:spPr>
        <p:txBody>
          <a:bodyPr/>
          <a:lstStyle/>
          <a:p>
            <a:endParaRPr lang="en-GB"/>
          </a:p>
        </p:txBody>
      </p:sp>
      <p:sp>
        <p:nvSpPr>
          <p:cNvPr id="8" name="Shape 6"/>
          <p:cNvSpPr/>
          <p:nvPr/>
        </p:nvSpPr>
        <p:spPr>
          <a:xfrm>
            <a:off x="8778011" y="2103120"/>
            <a:ext cx="0" cy="3840480"/>
          </a:xfrm>
          <a:prstGeom prst="line">
            <a:avLst/>
          </a:prstGeom>
          <a:noFill/>
          <a:ln w="9525">
            <a:solidFill>
              <a:srgbClr val="E6EAF4"/>
            </a:solidFill>
            <a:prstDash val="solid"/>
          </a:ln>
        </p:spPr>
        <p:txBody>
          <a:bodyPr/>
          <a:lstStyle/>
          <a:p>
            <a:endParaRPr lang="en-GB"/>
          </a:p>
        </p:txBody>
      </p:sp>
      <p:sp>
        <p:nvSpPr>
          <p:cNvPr id="9" name="Shape 7"/>
          <p:cNvSpPr/>
          <p:nvPr/>
        </p:nvSpPr>
        <p:spPr>
          <a:xfrm>
            <a:off x="731520" y="4023360"/>
            <a:ext cx="10728655" cy="0"/>
          </a:xfrm>
          <a:prstGeom prst="line">
            <a:avLst/>
          </a:prstGeom>
          <a:noFill/>
          <a:ln w="9525">
            <a:solidFill>
              <a:srgbClr val="E6EAF4"/>
            </a:solidFill>
            <a:prstDash val="solid"/>
          </a:ln>
        </p:spPr>
        <p:txBody>
          <a:bodyPr/>
          <a:lstStyle/>
          <a:p>
            <a:endParaRPr lang="en-GB"/>
          </a:p>
        </p:txBody>
      </p:sp>
      <p:sp>
        <p:nvSpPr>
          <p:cNvPr id="10" name="Text 8"/>
          <p:cNvSpPr txBox="1"/>
          <p:nvPr/>
        </p:nvSpPr>
        <p:spPr>
          <a:xfrm>
            <a:off x="950976"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Tier-1 automation</a:t>
            </a:r>
            <a:endParaRPr lang="en-US" sz="1100" dirty="0"/>
          </a:p>
        </p:txBody>
      </p:sp>
      <p:sp>
        <p:nvSpPr>
          <p:cNvPr id="11" name="Text 9"/>
          <p:cNvSpPr txBox="1"/>
          <p:nvPr/>
        </p:nvSpPr>
        <p:spPr>
          <a:xfrm>
            <a:off x="950976"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67.9%</a:t>
            </a:r>
            <a:endParaRPr lang="en-US" sz="2800" dirty="0"/>
          </a:p>
        </p:txBody>
      </p:sp>
      <p:sp>
        <p:nvSpPr>
          <p:cNvPr id="12" name="Text 10"/>
          <p:cNvSpPr txBox="1"/>
          <p:nvPr/>
        </p:nvSpPr>
        <p:spPr>
          <a:xfrm>
            <a:off x="950976"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+4.3 pts since week 1</a:t>
            </a:r>
            <a:endParaRPr lang="en-US" sz="1000" dirty="0"/>
          </a:p>
        </p:txBody>
      </p:sp>
      <p:sp>
        <p:nvSpPr>
          <p:cNvPr id="13" name="Text 11"/>
          <p:cNvSpPr txBox="1"/>
          <p:nvPr/>
        </p:nvSpPr>
        <p:spPr>
          <a:xfrm>
            <a:off x="950976"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Final week 70.1%; 70% reached from Aug 27</a:t>
            </a:r>
            <a:endParaRPr lang="en-US" sz="950" dirty="0"/>
          </a:p>
        </p:txBody>
      </p:sp>
      <p:sp>
        <p:nvSpPr>
          <p:cNvPr id="14" name="Text 12"/>
          <p:cNvSpPr txBox="1"/>
          <p:nvPr/>
        </p:nvSpPr>
        <p:spPr>
          <a:xfrm>
            <a:off x="3633140"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Avg handle time</a:t>
            </a:r>
            <a:endParaRPr lang="en-US" sz="1100" dirty="0"/>
          </a:p>
        </p:txBody>
      </p:sp>
      <p:sp>
        <p:nvSpPr>
          <p:cNvPr id="15" name="Text 13"/>
          <p:cNvSpPr txBox="1"/>
          <p:nvPr/>
        </p:nvSpPr>
        <p:spPr>
          <a:xfrm>
            <a:off x="3633140"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7m 44s</a:t>
            </a:r>
            <a:endParaRPr lang="en-US" sz="2800" dirty="0"/>
          </a:p>
        </p:txBody>
      </p:sp>
      <p:sp>
        <p:nvSpPr>
          <p:cNvPr id="16" name="Text 14"/>
          <p:cNvSpPr txBox="1"/>
          <p:nvPr/>
        </p:nvSpPr>
        <p:spPr>
          <a:xfrm>
            <a:off x="3633140"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8m 03s → 7m 25s, week 1 → week 4</a:t>
            </a:r>
            <a:endParaRPr lang="en-US" sz="1000" dirty="0"/>
          </a:p>
        </p:txBody>
      </p:sp>
      <p:sp>
        <p:nvSpPr>
          <p:cNvPr id="17" name="Text 15"/>
          <p:cNvSpPr txBox="1"/>
          <p:nvPr/>
        </p:nvSpPr>
        <p:spPr>
          <a:xfrm>
            <a:off x="3633140"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−35% vs pre-launch baseline (1)</a:t>
            </a:r>
            <a:endParaRPr lang="en-US" sz="950" dirty="0"/>
          </a:p>
        </p:txBody>
      </p:sp>
      <p:sp>
        <p:nvSpPr>
          <p:cNvPr id="18" name="Text 16"/>
          <p:cNvSpPr txBox="1"/>
          <p:nvPr/>
        </p:nvSpPr>
        <p:spPr>
          <a:xfrm>
            <a:off x="6315304"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CSAT</a:t>
            </a:r>
            <a:endParaRPr lang="en-US" sz="1100" dirty="0"/>
          </a:p>
        </p:txBody>
      </p:sp>
      <p:sp>
        <p:nvSpPr>
          <p:cNvPr id="19" name="Text 17"/>
          <p:cNvSpPr txBox="1"/>
          <p:nvPr/>
        </p:nvSpPr>
        <p:spPr>
          <a:xfrm>
            <a:off x="6315304"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82.3</a:t>
            </a:r>
            <a:endParaRPr lang="en-US" sz="2800" dirty="0"/>
          </a:p>
        </p:txBody>
      </p:sp>
      <p:sp>
        <p:nvSpPr>
          <p:cNvPr id="20" name="Text 18"/>
          <p:cNvSpPr txBox="1"/>
          <p:nvPr/>
        </p:nvSpPr>
        <p:spPr>
          <a:xfrm>
            <a:off x="6315304"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80.8 → 83.7, week 1 → week 4</a:t>
            </a:r>
            <a:endParaRPr lang="en-US" sz="1000" dirty="0"/>
          </a:p>
        </p:txBody>
      </p:sp>
      <p:sp>
        <p:nvSpPr>
          <p:cNvPr id="21" name="Text 19"/>
          <p:cNvSpPr txBox="1"/>
          <p:nvPr/>
        </p:nvSpPr>
        <p:spPr>
          <a:xfrm>
            <a:off x="6315304"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+12 pts vs pre-launch baseline (1)</a:t>
            </a:r>
            <a:endParaRPr lang="en-US" sz="950" dirty="0"/>
          </a:p>
        </p:txBody>
      </p:sp>
      <p:sp>
        <p:nvSpPr>
          <p:cNvPr id="22" name="Text 20"/>
          <p:cNvSpPr txBox="1"/>
          <p:nvPr/>
        </p:nvSpPr>
        <p:spPr>
          <a:xfrm>
            <a:off x="8997467"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Requests / day</a:t>
            </a:r>
            <a:endParaRPr lang="en-US" sz="1100" dirty="0"/>
          </a:p>
        </p:txBody>
      </p:sp>
      <p:sp>
        <p:nvSpPr>
          <p:cNvPr id="23" name="Text 21"/>
          <p:cNvSpPr txBox="1"/>
          <p:nvPr/>
        </p:nvSpPr>
        <p:spPr>
          <a:xfrm>
            <a:off x="8997467"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25.5K</a:t>
            </a:r>
            <a:endParaRPr lang="en-US" sz="2800" dirty="0"/>
          </a:p>
        </p:txBody>
      </p:sp>
      <p:sp>
        <p:nvSpPr>
          <p:cNvPr id="24" name="Text 22"/>
          <p:cNvSpPr txBox="1"/>
          <p:nvPr/>
        </p:nvSpPr>
        <p:spPr>
          <a:xfrm>
            <a:off x="8997467" y="3273552"/>
            <a:ext cx="2316404" cy="219456"/>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+45% since week 1</a:t>
            </a:r>
            <a:endParaRPr lang="en-US" sz="1000" dirty="0"/>
          </a:p>
        </p:txBody>
      </p:sp>
      <p:sp>
        <p:nvSpPr>
          <p:cNvPr id="25" name="Text 23"/>
          <p:cNvSpPr txBox="1"/>
          <p:nvPr/>
        </p:nvSpPr>
        <p:spPr>
          <a:xfrm>
            <a:off x="8997467"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789,563 in August</a:t>
            </a:r>
            <a:endParaRPr lang="en-US" sz="950" dirty="0"/>
          </a:p>
        </p:txBody>
      </p:sp>
      <p:sp>
        <p:nvSpPr>
          <p:cNvPr id="26" name="Text 24"/>
          <p:cNvSpPr txBox="1"/>
          <p:nvPr/>
        </p:nvSpPr>
        <p:spPr>
          <a:xfrm>
            <a:off x="950976"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Availability</a:t>
            </a:r>
            <a:endParaRPr lang="en-US" sz="1100" dirty="0"/>
          </a:p>
        </p:txBody>
      </p:sp>
      <p:sp>
        <p:nvSpPr>
          <p:cNvPr id="27" name="Text 25"/>
          <p:cNvSpPr txBox="1"/>
          <p:nvPr/>
        </p:nvSpPr>
        <p:spPr>
          <a:xfrm>
            <a:off x="950976"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99.85%</a:t>
            </a:r>
            <a:endParaRPr lang="en-US" sz="2800" dirty="0"/>
          </a:p>
        </p:txBody>
      </p:sp>
      <p:sp>
        <p:nvSpPr>
          <p:cNvPr id="28" name="Text 26"/>
          <p:cNvSpPr txBox="1"/>
          <p:nvPr/>
        </p:nvSpPr>
        <p:spPr>
          <a:xfrm>
            <a:off x="950976" y="5193792"/>
            <a:ext cx="2316404" cy="219456"/>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99.9% met on 4 of 31 days</a:t>
            </a:r>
            <a:endParaRPr lang="en-US" sz="1000" dirty="0"/>
          </a:p>
        </p:txBody>
      </p:sp>
      <p:sp>
        <p:nvSpPr>
          <p:cNvPr id="29" name="Text 27"/>
          <p:cNvSpPr txBox="1"/>
          <p:nvPr/>
        </p:nvSpPr>
        <p:spPr>
          <a:xfrm>
            <a:off x="950976"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Lowest 99.69% on Aug 9</a:t>
            </a:r>
            <a:endParaRPr lang="en-US" sz="950" dirty="0"/>
          </a:p>
        </p:txBody>
      </p:sp>
      <p:sp>
        <p:nvSpPr>
          <p:cNvPr id="30" name="Text 28"/>
          <p:cNvSpPr txBox="1"/>
          <p:nvPr/>
        </p:nvSpPr>
        <p:spPr>
          <a:xfrm>
            <a:off x="3633140"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P50 / P95 latency</a:t>
            </a:r>
            <a:endParaRPr lang="en-US" sz="1100" dirty="0"/>
          </a:p>
        </p:txBody>
      </p:sp>
      <p:sp>
        <p:nvSpPr>
          <p:cNvPr id="31" name="Text 29"/>
          <p:cNvSpPr txBox="1"/>
          <p:nvPr/>
        </p:nvSpPr>
        <p:spPr>
          <a:xfrm>
            <a:off x="3633140" y="4581144"/>
            <a:ext cx="2316404" cy="548640"/>
          </a:xfrm>
          <a:prstGeom prst="rect">
            <a:avLst/>
          </a:prstGeom>
          <a:noFill/>
          <a:ln/>
        </p:spPr>
        <p:txBody>
          <a:bodyPr wrap="square" lIns="0" tIns="0" rIns="0" bIns="0" rtlCol="0" anchor="b"/>
          <a:lstStyle/>
          <a:p>
            <a:pPr marL="0" indent="0">
              <a:buNone/>
            </a:pPr>
            <a:r>
              <a:rPr lang="en-US" sz="2300" kern="0" spc="-110" dirty="0">
                <a:solidFill>
                  <a:srgbClr val="16181D"/>
                </a:solidFill>
                <a:latin typeface="Inter Medium" pitchFamily="34" charset="0"/>
                <a:ea typeface="Inter Medium" pitchFamily="34" charset="-122"/>
                <a:cs typeface="Inter Medium" pitchFamily="34" charset="-120"/>
              </a:rPr>
              <a:t>605 ms / 1.66 s</a:t>
            </a:r>
            <a:endParaRPr lang="en-US" sz="2300" dirty="0"/>
          </a:p>
        </p:txBody>
      </p:sp>
      <p:sp>
        <p:nvSpPr>
          <p:cNvPr id="32" name="Text 30"/>
          <p:cNvSpPr txBox="1"/>
          <p:nvPr/>
        </p:nvSpPr>
        <p:spPr>
          <a:xfrm>
            <a:off x="3633140"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P95 −368 ms since week 1</a:t>
            </a:r>
            <a:endParaRPr lang="en-US" sz="1000" dirty="0"/>
          </a:p>
        </p:txBody>
      </p:sp>
      <p:sp>
        <p:nvSpPr>
          <p:cNvPr id="33" name="Text 31"/>
          <p:cNvSpPr txBox="1"/>
          <p:nvPr/>
        </p:nvSpPr>
        <p:spPr>
          <a:xfrm>
            <a:off x="3633140"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P50 −134 ms since week 1</a:t>
            </a:r>
            <a:endParaRPr lang="en-US" sz="950" dirty="0"/>
          </a:p>
        </p:txBody>
      </p:sp>
      <p:sp>
        <p:nvSpPr>
          <p:cNvPr id="34" name="Text 32"/>
          <p:cNvSpPr txBox="1"/>
          <p:nvPr/>
        </p:nvSpPr>
        <p:spPr>
          <a:xfrm>
            <a:off x="6315304"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Eval pass rate</a:t>
            </a:r>
            <a:endParaRPr lang="en-US" sz="1100" dirty="0"/>
          </a:p>
        </p:txBody>
      </p:sp>
      <p:sp>
        <p:nvSpPr>
          <p:cNvPr id="35" name="Text 33"/>
          <p:cNvSpPr txBox="1"/>
          <p:nvPr/>
        </p:nvSpPr>
        <p:spPr>
          <a:xfrm>
            <a:off x="6315304"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93.1%</a:t>
            </a:r>
            <a:endParaRPr lang="en-US" sz="2800" dirty="0"/>
          </a:p>
        </p:txBody>
      </p:sp>
      <p:sp>
        <p:nvSpPr>
          <p:cNvPr id="36" name="Text 34"/>
          <p:cNvSpPr txBox="1"/>
          <p:nvPr/>
        </p:nvSpPr>
        <p:spPr>
          <a:xfrm>
            <a:off x="6315304"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+3.3 pts since week 1</a:t>
            </a:r>
            <a:endParaRPr lang="en-US" sz="1000" dirty="0"/>
          </a:p>
        </p:txBody>
      </p:sp>
      <p:sp>
        <p:nvSpPr>
          <p:cNvPr id="37" name="Text 35"/>
          <p:cNvSpPr txBox="1"/>
          <p:nvPr/>
        </p:nvSpPr>
        <p:spPr>
          <a:xfrm>
            <a:off x="6315304"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Grounded answers 93.9%</a:t>
            </a:r>
            <a:endParaRPr lang="en-US" sz="950" dirty="0"/>
          </a:p>
        </p:txBody>
      </p:sp>
      <p:sp>
        <p:nvSpPr>
          <p:cNvPr id="38" name="Text 36"/>
          <p:cNvSpPr txBox="1"/>
          <p:nvPr/>
        </p:nvSpPr>
        <p:spPr>
          <a:xfrm>
            <a:off x="8997467"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Escalation rate</a:t>
            </a:r>
            <a:endParaRPr lang="en-US" sz="1100" dirty="0"/>
          </a:p>
        </p:txBody>
      </p:sp>
      <p:sp>
        <p:nvSpPr>
          <p:cNvPr id="39" name="Text 37"/>
          <p:cNvSpPr txBox="1"/>
          <p:nvPr/>
        </p:nvSpPr>
        <p:spPr>
          <a:xfrm>
            <a:off x="8997467"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12.8%</a:t>
            </a:r>
            <a:endParaRPr lang="en-US" sz="2800" dirty="0"/>
          </a:p>
        </p:txBody>
      </p:sp>
      <p:sp>
        <p:nvSpPr>
          <p:cNvPr id="40" name="Text 38"/>
          <p:cNvSpPr txBox="1"/>
          <p:nvPr/>
        </p:nvSpPr>
        <p:spPr>
          <a:xfrm>
            <a:off x="8997467"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−2.7 pts since week 1</a:t>
            </a:r>
            <a:endParaRPr lang="en-US" sz="1000" dirty="0"/>
          </a:p>
        </p:txBody>
      </p:sp>
      <p:sp>
        <p:nvSpPr>
          <p:cNvPr id="41" name="Text 39"/>
          <p:cNvSpPr txBox="1"/>
          <p:nvPr/>
        </p:nvSpPr>
        <p:spPr>
          <a:xfrm>
            <a:off x="8997467"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Final week 11.5%</a:t>
            </a:r>
            <a:endParaRPr lang="en-US" sz="950" dirty="0"/>
          </a:p>
        </p:txBody>
      </p:sp>
      <p:sp>
        <p:nvSpPr>
          <p:cNvPr id="42" name="Text 40"/>
          <p:cNvSpPr txBox="1"/>
          <p:nvPr/>
        </p:nvSpPr>
        <p:spPr>
          <a:xfrm>
            <a:off x="731520" y="6108192"/>
            <a:ext cx="10728655" cy="274320"/>
          </a:xfrm>
          <a:prstGeom prst="rect">
            <a:avLst/>
          </a:prstGeom>
          <a:noFill/>
          <a:ln/>
        </p:spPr>
        <p:txBody>
          <a:bodyPr wrap="square" lIns="0" tIns="0" rIns="0" bIns="0" rtlCol="0" anchor="t"/>
          <a:lstStyle/>
          <a:p>
            <a:pPr marL="0" indent="0">
              <a:buNone/>
            </a:pPr>
            <a:r>
              <a:rPr lang="en-US" sz="950">
                <a:solidFill>
                  <a:srgbClr val="5A5E63"/>
                </a:solidFill>
                <a:latin typeface="Inter" pitchFamily="34" charset="0"/>
                <a:ea typeface="Inter" pitchFamily="34" charset="-122"/>
                <a:cs typeface="Inter" pitchFamily="34" charset="-120"/>
              </a:rPr>
              <a:t>(1) The </a:t>
            </a:r>
            <a:r>
              <a:rPr lang="en-US" sz="950" dirty="0">
                <a:solidFill>
                  <a:srgbClr val="5A5E63"/>
                </a:solidFill>
                <a:latin typeface="Inter" pitchFamily="34" charset="0"/>
                <a:ea typeface="Inter" pitchFamily="34" charset="-122"/>
                <a:cs typeface="Inter" pitchFamily="34" charset="-120"/>
              </a:rPr>
              <a:t>−35% handle-time and +12-point CSAT figures compare against Northstar’s pre-launch baselines, which are not in the August dataset; the in-month trends are measured directly.</a:t>
            </a:r>
            <a:endParaRPr lang="en-US" sz="950" dirty="0"/>
          </a:p>
        </p:txBody>
      </p:sp>
      <p:sp>
        <p:nvSpPr>
          <p:cNvPr id="43"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Outcomes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r>
              <a:rPr lang="en-US" dirty="0"/>
              <a:t>Operational health is on-track for current deployment stage</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r>
              <a:rPr lang="en-US" dirty="0"/>
              <a:t>A strong start on all four operational pillars, each scored 1–5 on full-period averages for August. </a:t>
            </a:r>
          </a:p>
        </p:txBody>
      </p:sp>
      <p:sp>
        <p:nvSpPr>
          <p:cNvPr id="5" name="Shape 3"/>
          <p:cNvSpPr/>
          <p:nvPr/>
        </p:nvSpPr>
        <p:spPr>
          <a:xfrm>
            <a:off x="731520" y="2103120"/>
            <a:ext cx="10728655" cy="3931920"/>
          </a:xfrm>
          <a:prstGeom prst="roundRect">
            <a:avLst>
              <a:gd name="adj" fmla="val 2791"/>
            </a:avLst>
          </a:prstGeom>
          <a:solidFill>
            <a:srgbClr val="FFFFFF"/>
          </a:solidFill>
          <a:ln/>
        </p:spPr>
        <p:txBody>
          <a:bodyPr/>
          <a:lstStyle/>
          <a:p>
            <a:endParaRPr lang="en-GB"/>
          </a:p>
        </p:txBody>
      </p:sp>
      <p:sp>
        <p:nvSpPr>
          <p:cNvPr id="6" name="Shape 4"/>
          <p:cNvSpPr/>
          <p:nvPr/>
        </p:nvSpPr>
        <p:spPr>
          <a:xfrm>
            <a:off x="731520" y="2103120"/>
            <a:ext cx="3355848" cy="3931920"/>
          </a:xfrm>
          <a:prstGeom prst="roundRect">
            <a:avLst>
              <a:gd name="adj" fmla="val 3270"/>
            </a:avLst>
          </a:prstGeom>
          <a:solidFill>
            <a:srgbClr val="FAF7FF"/>
          </a:solidFill>
          <a:ln/>
        </p:spPr>
        <p:txBody>
          <a:bodyPr/>
          <a:lstStyle/>
          <a:p>
            <a:endParaRPr lang="en-GB"/>
          </a:p>
        </p:txBody>
      </p:sp>
      <p:sp>
        <p:nvSpPr>
          <p:cNvPr id="7" name="Shape 5"/>
          <p:cNvSpPr/>
          <p:nvPr/>
        </p:nvSpPr>
        <p:spPr>
          <a:xfrm>
            <a:off x="3968496" y="2103120"/>
            <a:ext cx="128016" cy="3931920"/>
          </a:xfrm>
          <a:prstGeom prst="rect">
            <a:avLst/>
          </a:prstGeom>
          <a:solidFill>
            <a:srgbClr val="FFFFFF"/>
          </a:solidFill>
          <a:ln/>
        </p:spPr>
        <p:txBody>
          <a:bodyPr/>
          <a:lstStyle/>
          <a:p>
            <a:endParaRPr lang="en-GB"/>
          </a:p>
        </p:txBody>
      </p:sp>
      <p:sp>
        <p:nvSpPr>
          <p:cNvPr id="8" name="Shape 6"/>
          <p:cNvSpPr/>
          <p:nvPr/>
        </p:nvSpPr>
        <p:spPr>
          <a:xfrm>
            <a:off x="3977640" y="2103120"/>
            <a:ext cx="0" cy="3931920"/>
          </a:xfrm>
          <a:prstGeom prst="line">
            <a:avLst/>
          </a:prstGeom>
          <a:noFill/>
          <a:ln w="9525">
            <a:solidFill>
              <a:srgbClr val="E6EAF4"/>
            </a:solidFill>
            <a:prstDash val="solid"/>
          </a:ln>
        </p:spPr>
        <p:txBody>
          <a:bodyPr/>
          <a:lstStyle/>
          <a:p>
            <a:endParaRPr lang="en-GB"/>
          </a:p>
        </p:txBody>
      </p:sp>
      <p:sp>
        <p:nvSpPr>
          <p:cNvPr id="9" name="operational-health"/>
          <p:cNvSpPr/>
          <p:nvPr/>
        </p:nvSpPr>
        <p:spPr>
          <a:xfrm>
            <a:off x="731520" y="2103120"/>
            <a:ext cx="10728655" cy="3931920"/>
          </a:xfrm>
          <a:prstGeom prst="roundRect">
            <a:avLst>
              <a:gd name="adj" fmla="val 2791"/>
            </a:avLst>
          </a:prstGeom>
          <a:ln w="9525">
            <a:solidFill>
              <a:srgbClr val="E6EAF4"/>
            </a:solidFill>
            <a:prstDash val="solid"/>
          </a:ln>
        </p:spPr>
        <p:txBody>
          <a:bodyPr/>
          <a:lstStyle/>
          <a:p>
            <a:endParaRPr lang="en-GB"/>
          </a:p>
        </p:txBody>
      </p:sp>
      <p:sp>
        <p:nvSpPr>
          <p:cNvPr id="10" name="Text 8"/>
          <p:cNvSpPr txBox="1"/>
          <p:nvPr/>
        </p:nvSpPr>
        <p:spPr>
          <a:xfrm>
            <a:off x="1024128" y="2414016"/>
            <a:ext cx="269748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Operational health, 1–5</a:t>
            </a:r>
            <a:endParaRPr lang="en-US" sz="1100" dirty="0"/>
          </a:p>
        </p:txBody>
      </p:sp>
      <p:sp>
        <p:nvSpPr>
          <p:cNvPr id="11" name="Text 9"/>
          <p:cNvSpPr txBox="1"/>
          <p:nvPr/>
        </p:nvSpPr>
        <p:spPr>
          <a:xfrm>
            <a:off x="1024128" y="2761488"/>
            <a:ext cx="2788920" cy="960120"/>
          </a:xfrm>
          <a:prstGeom prst="rect">
            <a:avLst/>
          </a:prstGeom>
          <a:noFill/>
          <a:ln/>
        </p:spPr>
        <p:txBody>
          <a:bodyPr wrap="square" lIns="0" tIns="0" rIns="0" bIns="0" rtlCol="0" anchor="b"/>
          <a:lstStyle/>
          <a:p>
            <a:pPr marL="0" indent="0">
              <a:buNone/>
            </a:pPr>
            <a:r>
              <a:rPr lang="en-US" sz="6000" kern="0" spc="-240" dirty="0">
                <a:solidFill>
                  <a:srgbClr val="16181D"/>
                </a:solidFill>
                <a:latin typeface="Inter Medium" pitchFamily="34" charset="0"/>
                <a:ea typeface="Inter Medium" pitchFamily="34" charset="-122"/>
                <a:cs typeface="Inter Medium" pitchFamily="34" charset="-120"/>
              </a:rPr>
              <a:t>3.58</a:t>
            </a:r>
            <a:r>
              <a:rPr lang="en-US" sz="1800" dirty="0">
                <a:solidFill>
                  <a:srgbClr val="5A5E63"/>
                </a:solidFill>
                <a:latin typeface="Inter" pitchFamily="34" charset="0"/>
                <a:ea typeface="Inter" pitchFamily="34" charset="-122"/>
                <a:cs typeface="Inter" pitchFamily="34" charset="-120"/>
              </a:rPr>
              <a:t> / 5</a:t>
            </a:r>
            <a:endParaRPr lang="en-US" sz="6000" dirty="0"/>
          </a:p>
        </p:txBody>
      </p:sp>
      <p:sp>
        <p:nvSpPr>
          <p:cNvPr id="12" name="Text 10"/>
          <p:cNvSpPr txBox="1"/>
          <p:nvPr/>
        </p:nvSpPr>
        <p:spPr>
          <a:xfrm>
            <a:off x="1024128" y="3977640"/>
            <a:ext cx="2697480" cy="182880"/>
          </a:xfrm>
          <a:prstGeom prst="rect">
            <a:avLst/>
          </a:prstGeom>
          <a:noFill/>
          <a:ln/>
        </p:spPr>
        <p:txBody>
          <a:bodyPr wrap="square" lIns="0" tIns="0" rIns="0" bIns="0" rtlCol="0" anchor="t"/>
          <a:lstStyle/>
          <a:p>
            <a:pPr marL="0" indent="0">
              <a:buNone/>
            </a:pPr>
            <a:r>
              <a:rPr lang="en-US" sz="950" dirty="0">
                <a:solidFill>
                  <a:srgbClr val="5A5E63"/>
                </a:solidFill>
                <a:latin typeface="Inter Medium" pitchFamily="34" charset="0"/>
                <a:ea typeface="Inter Medium" pitchFamily="34" charset="-122"/>
                <a:cs typeface="Inter Medium" pitchFamily="34" charset="-120"/>
              </a:rPr>
              <a:t>Basis</a:t>
            </a:r>
            <a:endParaRPr lang="en-US" sz="950" dirty="0"/>
          </a:p>
        </p:txBody>
      </p:sp>
      <p:sp>
        <p:nvSpPr>
          <p:cNvPr id="13" name="Text 11"/>
          <p:cNvSpPr txBox="1"/>
          <p:nvPr/>
        </p:nvSpPr>
        <p:spPr>
          <a:xfrm>
            <a:off x="1024128" y="4206240"/>
            <a:ext cx="2697480" cy="45720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Full-period averages (Aug 1 – Aug 31, 31 days)</a:t>
            </a:r>
            <a:endParaRPr lang="en-US" sz="1150" dirty="0"/>
          </a:p>
        </p:txBody>
      </p:sp>
      <p:sp>
        <p:nvSpPr>
          <p:cNvPr id="14" name="Shape 12"/>
          <p:cNvSpPr/>
          <p:nvPr/>
        </p:nvSpPr>
        <p:spPr>
          <a:xfrm>
            <a:off x="4251960" y="2366010"/>
            <a:ext cx="457200" cy="457200"/>
          </a:xfrm>
          <a:prstGeom prst="rect">
            <a:avLst/>
          </a:prstGeom>
          <a:solidFill>
            <a:srgbClr val="6720FF"/>
          </a:solidFill>
          <a:ln/>
        </p:spPr>
        <p:txBody>
          <a:bodyPr/>
          <a:lstStyle/>
          <a:p>
            <a:endParaRPr lang="en-GB"/>
          </a:p>
        </p:txBody>
      </p:sp>
      <p:pic>
        <p:nvPicPr>
          <p:cNvPr id="15" name="Image 0" descr="Reliability"/>
          <p:cNvPicPr>
            <a:picLocks noChangeAspect="1"/>
          </p:cNvPicPr>
          <p:nvPr/>
        </p:nvPicPr>
        <p:blipFill>
          <a:blip r:embed="rId3"/>
          <a:stretch>
            <a:fillRect/>
          </a:stretch>
        </p:blipFill>
        <p:spPr>
          <a:xfrm>
            <a:off x="4361688" y="2475738"/>
            <a:ext cx="237744" cy="237744"/>
          </a:xfrm>
          <a:prstGeom prst="rect">
            <a:avLst/>
          </a:prstGeom>
        </p:spPr>
      </p:pic>
      <p:sp>
        <p:nvSpPr>
          <p:cNvPr id="16" name="Text 13"/>
          <p:cNvSpPr txBox="1"/>
          <p:nvPr/>
        </p:nvSpPr>
        <p:spPr>
          <a:xfrm>
            <a:off x="4937760" y="230200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Reliability</a:t>
            </a:r>
            <a:endParaRPr lang="en-US" sz="1500" dirty="0"/>
          </a:p>
        </p:txBody>
      </p:sp>
      <p:sp>
        <p:nvSpPr>
          <p:cNvPr id="17" name="Text 14"/>
          <p:cNvSpPr txBox="1"/>
          <p:nvPr/>
        </p:nvSpPr>
        <p:spPr>
          <a:xfrm>
            <a:off x="4937760" y="261289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Is the platform up, error-free and fast?</a:t>
            </a:r>
            <a:endParaRPr lang="en-US" sz="1150" dirty="0"/>
          </a:p>
        </p:txBody>
      </p:sp>
      <p:sp>
        <p:nvSpPr>
          <p:cNvPr id="18" name="Shape 15"/>
          <p:cNvSpPr/>
          <p:nvPr/>
        </p:nvSpPr>
        <p:spPr>
          <a:xfrm>
            <a:off x="9585655" y="2516886"/>
            <a:ext cx="155448" cy="155448"/>
          </a:xfrm>
          <a:prstGeom prst="rect">
            <a:avLst/>
          </a:prstGeom>
          <a:solidFill>
            <a:srgbClr val="E0D2FD"/>
          </a:solidFill>
          <a:ln/>
        </p:spPr>
        <p:txBody>
          <a:bodyPr/>
          <a:lstStyle/>
          <a:p>
            <a:endParaRPr lang="en-GB"/>
          </a:p>
        </p:txBody>
      </p:sp>
      <p:sp>
        <p:nvSpPr>
          <p:cNvPr id="19" name="Shape 16"/>
          <p:cNvSpPr/>
          <p:nvPr/>
        </p:nvSpPr>
        <p:spPr>
          <a:xfrm>
            <a:off x="9585655" y="2516886"/>
            <a:ext cx="155448" cy="155448"/>
          </a:xfrm>
          <a:prstGeom prst="rect">
            <a:avLst/>
          </a:prstGeom>
          <a:solidFill>
            <a:srgbClr val="6720FF"/>
          </a:solidFill>
          <a:ln/>
        </p:spPr>
        <p:txBody>
          <a:bodyPr/>
          <a:lstStyle/>
          <a:p>
            <a:endParaRPr lang="en-GB"/>
          </a:p>
        </p:txBody>
      </p:sp>
      <p:sp>
        <p:nvSpPr>
          <p:cNvPr id="20" name="Shape 17"/>
          <p:cNvSpPr/>
          <p:nvPr/>
        </p:nvSpPr>
        <p:spPr>
          <a:xfrm>
            <a:off x="9782251" y="2516886"/>
            <a:ext cx="155448" cy="155448"/>
          </a:xfrm>
          <a:prstGeom prst="rect">
            <a:avLst/>
          </a:prstGeom>
          <a:solidFill>
            <a:srgbClr val="E0D2FD"/>
          </a:solidFill>
          <a:ln/>
        </p:spPr>
        <p:txBody>
          <a:bodyPr/>
          <a:lstStyle/>
          <a:p>
            <a:endParaRPr lang="en-GB"/>
          </a:p>
        </p:txBody>
      </p:sp>
      <p:sp>
        <p:nvSpPr>
          <p:cNvPr id="21" name="Shape 18"/>
          <p:cNvSpPr/>
          <p:nvPr/>
        </p:nvSpPr>
        <p:spPr>
          <a:xfrm>
            <a:off x="9782251" y="2516886"/>
            <a:ext cx="155448" cy="155448"/>
          </a:xfrm>
          <a:prstGeom prst="rect">
            <a:avLst/>
          </a:prstGeom>
          <a:solidFill>
            <a:srgbClr val="6720FF"/>
          </a:solidFill>
          <a:ln/>
        </p:spPr>
        <p:txBody>
          <a:bodyPr/>
          <a:lstStyle/>
          <a:p>
            <a:endParaRPr lang="en-GB"/>
          </a:p>
        </p:txBody>
      </p:sp>
      <p:sp>
        <p:nvSpPr>
          <p:cNvPr id="22" name="Shape 19"/>
          <p:cNvSpPr/>
          <p:nvPr/>
        </p:nvSpPr>
        <p:spPr>
          <a:xfrm>
            <a:off x="9978847" y="2516886"/>
            <a:ext cx="155448" cy="155448"/>
          </a:xfrm>
          <a:prstGeom prst="rect">
            <a:avLst/>
          </a:prstGeom>
          <a:solidFill>
            <a:srgbClr val="E0D2FD"/>
          </a:solidFill>
          <a:ln/>
        </p:spPr>
        <p:txBody>
          <a:bodyPr/>
          <a:lstStyle/>
          <a:p>
            <a:endParaRPr lang="en-GB"/>
          </a:p>
        </p:txBody>
      </p:sp>
      <p:sp>
        <p:nvSpPr>
          <p:cNvPr id="23" name="Shape 20"/>
          <p:cNvSpPr/>
          <p:nvPr/>
        </p:nvSpPr>
        <p:spPr>
          <a:xfrm>
            <a:off x="9978847" y="2516886"/>
            <a:ext cx="155448" cy="155448"/>
          </a:xfrm>
          <a:prstGeom prst="rect">
            <a:avLst/>
          </a:prstGeom>
          <a:solidFill>
            <a:srgbClr val="6720FF"/>
          </a:solidFill>
          <a:ln/>
        </p:spPr>
        <p:txBody>
          <a:bodyPr/>
          <a:lstStyle/>
          <a:p>
            <a:endParaRPr lang="en-GB"/>
          </a:p>
        </p:txBody>
      </p:sp>
      <p:sp>
        <p:nvSpPr>
          <p:cNvPr id="24" name="Shape 21"/>
          <p:cNvSpPr/>
          <p:nvPr/>
        </p:nvSpPr>
        <p:spPr>
          <a:xfrm>
            <a:off x="10175443" y="2516886"/>
            <a:ext cx="155448" cy="155448"/>
          </a:xfrm>
          <a:prstGeom prst="rect">
            <a:avLst/>
          </a:prstGeom>
          <a:solidFill>
            <a:srgbClr val="E0D2FD"/>
          </a:solidFill>
          <a:ln/>
        </p:spPr>
        <p:txBody>
          <a:bodyPr/>
          <a:lstStyle/>
          <a:p>
            <a:endParaRPr lang="en-GB"/>
          </a:p>
        </p:txBody>
      </p:sp>
      <p:sp>
        <p:nvSpPr>
          <p:cNvPr id="25" name="Shape 22"/>
          <p:cNvSpPr/>
          <p:nvPr/>
        </p:nvSpPr>
        <p:spPr>
          <a:xfrm>
            <a:off x="10175443" y="2516886"/>
            <a:ext cx="51816" cy="155448"/>
          </a:xfrm>
          <a:prstGeom prst="rect">
            <a:avLst/>
          </a:prstGeom>
          <a:solidFill>
            <a:srgbClr val="6720FF"/>
          </a:solidFill>
          <a:ln/>
        </p:spPr>
        <p:txBody>
          <a:bodyPr/>
          <a:lstStyle/>
          <a:p>
            <a:endParaRPr lang="en-GB"/>
          </a:p>
        </p:txBody>
      </p:sp>
      <p:sp>
        <p:nvSpPr>
          <p:cNvPr id="26" name="Shape 23"/>
          <p:cNvSpPr/>
          <p:nvPr/>
        </p:nvSpPr>
        <p:spPr>
          <a:xfrm>
            <a:off x="10372039" y="2516886"/>
            <a:ext cx="155448" cy="155448"/>
          </a:xfrm>
          <a:prstGeom prst="rect">
            <a:avLst/>
          </a:prstGeom>
          <a:solidFill>
            <a:srgbClr val="E0D2FD"/>
          </a:solidFill>
          <a:ln/>
        </p:spPr>
        <p:txBody>
          <a:bodyPr/>
          <a:lstStyle/>
          <a:p>
            <a:endParaRPr lang="en-GB"/>
          </a:p>
        </p:txBody>
      </p:sp>
      <p:sp>
        <p:nvSpPr>
          <p:cNvPr id="27" name="Text 24"/>
          <p:cNvSpPr txBox="1"/>
          <p:nvPr/>
        </p:nvSpPr>
        <p:spPr>
          <a:xfrm>
            <a:off x="10692079" y="241173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3.3</a:t>
            </a:r>
            <a:endParaRPr lang="en-US" sz="1800" dirty="0"/>
          </a:p>
        </p:txBody>
      </p:sp>
      <p:sp>
        <p:nvSpPr>
          <p:cNvPr id="28" name="Shape 25"/>
          <p:cNvSpPr/>
          <p:nvPr/>
        </p:nvSpPr>
        <p:spPr>
          <a:xfrm>
            <a:off x="3977640" y="3086100"/>
            <a:ext cx="7482535" cy="0"/>
          </a:xfrm>
          <a:prstGeom prst="line">
            <a:avLst/>
          </a:prstGeom>
          <a:noFill/>
          <a:ln w="9525">
            <a:solidFill>
              <a:srgbClr val="E6EAF4"/>
            </a:solidFill>
            <a:prstDash val="solid"/>
          </a:ln>
        </p:spPr>
        <p:txBody>
          <a:bodyPr/>
          <a:lstStyle/>
          <a:p>
            <a:endParaRPr lang="en-GB"/>
          </a:p>
        </p:txBody>
      </p:sp>
      <p:sp>
        <p:nvSpPr>
          <p:cNvPr id="29" name="Shape 26"/>
          <p:cNvSpPr/>
          <p:nvPr/>
        </p:nvSpPr>
        <p:spPr>
          <a:xfrm>
            <a:off x="4251960" y="3348990"/>
            <a:ext cx="457200" cy="457200"/>
          </a:xfrm>
          <a:prstGeom prst="rect">
            <a:avLst/>
          </a:prstGeom>
          <a:solidFill>
            <a:srgbClr val="6720FF"/>
          </a:solidFill>
          <a:ln/>
        </p:spPr>
        <p:txBody>
          <a:bodyPr/>
          <a:lstStyle/>
          <a:p>
            <a:endParaRPr lang="en-GB"/>
          </a:p>
        </p:txBody>
      </p:sp>
      <p:pic>
        <p:nvPicPr>
          <p:cNvPr id="30" name="Image 1" descr="Adoption"/>
          <p:cNvPicPr>
            <a:picLocks noChangeAspect="1"/>
          </p:cNvPicPr>
          <p:nvPr/>
        </p:nvPicPr>
        <p:blipFill>
          <a:blip r:embed="rId4"/>
          <a:stretch>
            <a:fillRect/>
          </a:stretch>
        </p:blipFill>
        <p:spPr>
          <a:xfrm>
            <a:off x="4361688" y="3458718"/>
            <a:ext cx="237744" cy="237744"/>
          </a:xfrm>
          <a:prstGeom prst="rect">
            <a:avLst/>
          </a:prstGeom>
        </p:spPr>
      </p:pic>
      <p:sp>
        <p:nvSpPr>
          <p:cNvPr id="31" name="Text 27"/>
          <p:cNvSpPr txBox="1"/>
          <p:nvPr/>
        </p:nvSpPr>
        <p:spPr>
          <a:xfrm>
            <a:off x="4937760" y="328498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Adoption</a:t>
            </a:r>
            <a:endParaRPr lang="en-US" sz="1500" dirty="0"/>
          </a:p>
        </p:txBody>
      </p:sp>
      <p:sp>
        <p:nvSpPr>
          <p:cNvPr id="32" name="Text 28"/>
          <p:cNvSpPr txBox="1"/>
          <p:nvPr/>
        </p:nvSpPr>
        <p:spPr>
          <a:xfrm>
            <a:off x="4937760" y="359587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Is Northstar putting more of its support load on the model?</a:t>
            </a:r>
            <a:endParaRPr lang="en-US" sz="1150" dirty="0"/>
          </a:p>
        </p:txBody>
      </p:sp>
      <p:sp>
        <p:nvSpPr>
          <p:cNvPr id="33" name="Shape 29"/>
          <p:cNvSpPr/>
          <p:nvPr/>
        </p:nvSpPr>
        <p:spPr>
          <a:xfrm>
            <a:off x="9585655" y="3499866"/>
            <a:ext cx="155448" cy="155448"/>
          </a:xfrm>
          <a:prstGeom prst="rect">
            <a:avLst/>
          </a:prstGeom>
          <a:solidFill>
            <a:srgbClr val="E0D2FD"/>
          </a:solidFill>
          <a:ln/>
        </p:spPr>
        <p:txBody>
          <a:bodyPr/>
          <a:lstStyle/>
          <a:p>
            <a:endParaRPr lang="en-GB"/>
          </a:p>
        </p:txBody>
      </p:sp>
      <p:sp>
        <p:nvSpPr>
          <p:cNvPr id="34" name="Shape 30"/>
          <p:cNvSpPr/>
          <p:nvPr/>
        </p:nvSpPr>
        <p:spPr>
          <a:xfrm>
            <a:off x="9585655" y="3499866"/>
            <a:ext cx="155448" cy="155448"/>
          </a:xfrm>
          <a:prstGeom prst="rect">
            <a:avLst/>
          </a:prstGeom>
          <a:solidFill>
            <a:srgbClr val="6720FF"/>
          </a:solidFill>
          <a:ln/>
        </p:spPr>
        <p:txBody>
          <a:bodyPr/>
          <a:lstStyle/>
          <a:p>
            <a:endParaRPr lang="en-GB"/>
          </a:p>
        </p:txBody>
      </p:sp>
      <p:sp>
        <p:nvSpPr>
          <p:cNvPr id="35" name="Shape 31"/>
          <p:cNvSpPr/>
          <p:nvPr/>
        </p:nvSpPr>
        <p:spPr>
          <a:xfrm>
            <a:off x="9782251" y="3499866"/>
            <a:ext cx="155448" cy="155448"/>
          </a:xfrm>
          <a:prstGeom prst="rect">
            <a:avLst/>
          </a:prstGeom>
          <a:solidFill>
            <a:srgbClr val="E0D2FD"/>
          </a:solidFill>
          <a:ln/>
        </p:spPr>
        <p:txBody>
          <a:bodyPr/>
          <a:lstStyle/>
          <a:p>
            <a:endParaRPr lang="en-GB"/>
          </a:p>
        </p:txBody>
      </p:sp>
      <p:sp>
        <p:nvSpPr>
          <p:cNvPr id="36" name="Shape 32"/>
          <p:cNvSpPr/>
          <p:nvPr/>
        </p:nvSpPr>
        <p:spPr>
          <a:xfrm>
            <a:off x="9782251" y="3499866"/>
            <a:ext cx="155448" cy="155448"/>
          </a:xfrm>
          <a:prstGeom prst="rect">
            <a:avLst/>
          </a:prstGeom>
          <a:solidFill>
            <a:srgbClr val="6720FF"/>
          </a:solidFill>
          <a:ln/>
        </p:spPr>
        <p:txBody>
          <a:bodyPr/>
          <a:lstStyle/>
          <a:p>
            <a:endParaRPr lang="en-GB"/>
          </a:p>
        </p:txBody>
      </p:sp>
      <p:sp>
        <p:nvSpPr>
          <p:cNvPr id="37" name="Shape 33"/>
          <p:cNvSpPr/>
          <p:nvPr/>
        </p:nvSpPr>
        <p:spPr>
          <a:xfrm>
            <a:off x="9978847" y="3499866"/>
            <a:ext cx="155448" cy="155448"/>
          </a:xfrm>
          <a:prstGeom prst="rect">
            <a:avLst/>
          </a:prstGeom>
          <a:solidFill>
            <a:srgbClr val="E0D2FD"/>
          </a:solidFill>
          <a:ln/>
        </p:spPr>
        <p:txBody>
          <a:bodyPr/>
          <a:lstStyle/>
          <a:p>
            <a:endParaRPr lang="en-GB"/>
          </a:p>
        </p:txBody>
      </p:sp>
      <p:sp>
        <p:nvSpPr>
          <p:cNvPr id="38" name="Shape 34"/>
          <p:cNvSpPr/>
          <p:nvPr/>
        </p:nvSpPr>
        <p:spPr>
          <a:xfrm>
            <a:off x="9978847" y="3499866"/>
            <a:ext cx="155448" cy="155448"/>
          </a:xfrm>
          <a:prstGeom prst="rect">
            <a:avLst/>
          </a:prstGeom>
          <a:solidFill>
            <a:srgbClr val="6720FF"/>
          </a:solidFill>
          <a:ln/>
        </p:spPr>
        <p:txBody>
          <a:bodyPr/>
          <a:lstStyle/>
          <a:p>
            <a:endParaRPr lang="en-GB"/>
          </a:p>
        </p:txBody>
      </p:sp>
      <p:sp>
        <p:nvSpPr>
          <p:cNvPr id="39" name="Shape 35"/>
          <p:cNvSpPr/>
          <p:nvPr/>
        </p:nvSpPr>
        <p:spPr>
          <a:xfrm>
            <a:off x="10175443" y="3499866"/>
            <a:ext cx="155448" cy="155448"/>
          </a:xfrm>
          <a:prstGeom prst="rect">
            <a:avLst/>
          </a:prstGeom>
          <a:solidFill>
            <a:srgbClr val="E0D2FD"/>
          </a:solidFill>
          <a:ln/>
        </p:spPr>
        <p:txBody>
          <a:bodyPr/>
          <a:lstStyle/>
          <a:p>
            <a:endParaRPr lang="en-GB"/>
          </a:p>
        </p:txBody>
      </p:sp>
      <p:sp>
        <p:nvSpPr>
          <p:cNvPr id="40" name="Shape 36"/>
          <p:cNvSpPr/>
          <p:nvPr/>
        </p:nvSpPr>
        <p:spPr>
          <a:xfrm>
            <a:off x="10372039" y="3499866"/>
            <a:ext cx="155448" cy="155448"/>
          </a:xfrm>
          <a:prstGeom prst="rect">
            <a:avLst/>
          </a:prstGeom>
          <a:solidFill>
            <a:srgbClr val="E0D2FD"/>
          </a:solidFill>
          <a:ln/>
        </p:spPr>
        <p:txBody>
          <a:bodyPr/>
          <a:lstStyle/>
          <a:p>
            <a:endParaRPr lang="en-GB"/>
          </a:p>
        </p:txBody>
      </p:sp>
      <p:sp>
        <p:nvSpPr>
          <p:cNvPr id="41" name="Text 37"/>
          <p:cNvSpPr txBox="1"/>
          <p:nvPr/>
        </p:nvSpPr>
        <p:spPr>
          <a:xfrm>
            <a:off x="10692079" y="339471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3.0</a:t>
            </a:r>
            <a:endParaRPr lang="en-US" sz="1800" dirty="0"/>
          </a:p>
        </p:txBody>
      </p:sp>
      <p:sp>
        <p:nvSpPr>
          <p:cNvPr id="42" name="Shape 38"/>
          <p:cNvSpPr/>
          <p:nvPr/>
        </p:nvSpPr>
        <p:spPr>
          <a:xfrm>
            <a:off x="3977640" y="4069080"/>
            <a:ext cx="7482535" cy="0"/>
          </a:xfrm>
          <a:prstGeom prst="line">
            <a:avLst/>
          </a:prstGeom>
          <a:noFill/>
          <a:ln w="9525">
            <a:solidFill>
              <a:srgbClr val="E6EAF4"/>
            </a:solidFill>
            <a:prstDash val="solid"/>
          </a:ln>
        </p:spPr>
        <p:txBody>
          <a:bodyPr/>
          <a:lstStyle/>
          <a:p>
            <a:endParaRPr lang="en-GB"/>
          </a:p>
        </p:txBody>
      </p:sp>
      <p:sp>
        <p:nvSpPr>
          <p:cNvPr id="43" name="Shape 39"/>
          <p:cNvSpPr/>
          <p:nvPr/>
        </p:nvSpPr>
        <p:spPr>
          <a:xfrm>
            <a:off x="4251960" y="4331970"/>
            <a:ext cx="457200" cy="457200"/>
          </a:xfrm>
          <a:prstGeom prst="rect">
            <a:avLst/>
          </a:prstGeom>
          <a:solidFill>
            <a:srgbClr val="6720FF"/>
          </a:solidFill>
          <a:ln/>
        </p:spPr>
        <p:txBody>
          <a:bodyPr/>
          <a:lstStyle/>
          <a:p>
            <a:endParaRPr lang="en-GB"/>
          </a:p>
        </p:txBody>
      </p:sp>
      <p:pic>
        <p:nvPicPr>
          <p:cNvPr id="44" name="Image 2" descr="Model quality"/>
          <p:cNvPicPr>
            <a:picLocks noChangeAspect="1"/>
          </p:cNvPicPr>
          <p:nvPr/>
        </p:nvPicPr>
        <p:blipFill>
          <a:blip r:embed="rId5"/>
          <a:stretch>
            <a:fillRect/>
          </a:stretch>
        </p:blipFill>
        <p:spPr>
          <a:xfrm>
            <a:off x="4361688" y="4441698"/>
            <a:ext cx="237744" cy="237744"/>
          </a:xfrm>
          <a:prstGeom prst="rect">
            <a:avLst/>
          </a:prstGeom>
        </p:spPr>
      </p:pic>
      <p:sp>
        <p:nvSpPr>
          <p:cNvPr id="45" name="Text 40"/>
          <p:cNvSpPr txBox="1"/>
          <p:nvPr/>
        </p:nvSpPr>
        <p:spPr>
          <a:xfrm>
            <a:off x="4937760" y="426796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Model quality</a:t>
            </a:r>
            <a:endParaRPr lang="en-US" sz="1500" dirty="0"/>
          </a:p>
        </p:txBody>
      </p:sp>
      <p:sp>
        <p:nvSpPr>
          <p:cNvPr id="46" name="Text 41"/>
          <p:cNvSpPr txBox="1"/>
          <p:nvPr/>
        </p:nvSpPr>
        <p:spPr>
          <a:xfrm>
            <a:off x="4937760" y="457885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Are the answers right?</a:t>
            </a:r>
            <a:endParaRPr lang="en-US" sz="1150" dirty="0"/>
          </a:p>
        </p:txBody>
      </p:sp>
      <p:sp>
        <p:nvSpPr>
          <p:cNvPr id="47" name="Shape 42"/>
          <p:cNvSpPr/>
          <p:nvPr/>
        </p:nvSpPr>
        <p:spPr>
          <a:xfrm>
            <a:off x="9585655" y="4482846"/>
            <a:ext cx="155448" cy="155448"/>
          </a:xfrm>
          <a:prstGeom prst="rect">
            <a:avLst/>
          </a:prstGeom>
          <a:solidFill>
            <a:srgbClr val="E0D2FD"/>
          </a:solidFill>
          <a:ln/>
        </p:spPr>
        <p:txBody>
          <a:bodyPr/>
          <a:lstStyle/>
          <a:p>
            <a:endParaRPr lang="en-GB"/>
          </a:p>
        </p:txBody>
      </p:sp>
      <p:sp>
        <p:nvSpPr>
          <p:cNvPr id="48" name="Shape 43"/>
          <p:cNvSpPr/>
          <p:nvPr/>
        </p:nvSpPr>
        <p:spPr>
          <a:xfrm>
            <a:off x="9585655" y="4482846"/>
            <a:ext cx="155448" cy="155448"/>
          </a:xfrm>
          <a:prstGeom prst="rect">
            <a:avLst/>
          </a:prstGeom>
          <a:solidFill>
            <a:srgbClr val="6720FF"/>
          </a:solidFill>
          <a:ln/>
        </p:spPr>
        <p:txBody>
          <a:bodyPr/>
          <a:lstStyle/>
          <a:p>
            <a:endParaRPr lang="en-GB"/>
          </a:p>
        </p:txBody>
      </p:sp>
      <p:sp>
        <p:nvSpPr>
          <p:cNvPr id="49" name="Shape 44"/>
          <p:cNvSpPr/>
          <p:nvPr/>
        </p:nvSpPr>
        <p:spPr>
          <a:xfrm>
            <a:off x="9782251" y="4482846"/>
            <a:ext cx="155448" cy="155448"/>
          </a:xfrm>
          <a:prstGeom prst="rect">
            <a:avLst/>
          </a:prstGeom>
          <a:solidFill>
            <a:srgbClr val="E0D2FD"/>
          </a:solidFill>
          <a:ln/>
        </p:spPr>
        <p:txBody>
          <a:bodyPr/>
          <a:lstStyle/>
          <a:p>
            <a:endParaRPr lang="en-GB"/>
          </a:p>
        </p:txBody>
      </p:sp>
      <p:sp>
        <p:nvSpPr>
          <p:cNvPr id="50" name="Shape 45"/>
          <p:cNvSpPr/>
          <p:nvPr/>
        </p:nvSpPr>
        <p:spPr>
          <a:xfrm>
            <a:off x="9782251" y="4482846"/>
            <a:ext cx="155448" cy="155448"/>
          </a:xfrm>
          <a:prstGeom prst="rect">
            <a:avLst/>
          </a:prstGeom>
          <a:solidFill>
            <a:srgbClr val="6720FF"/>
          </a:solidFill>
          <a:ln/>
        </p:spPr>
        <p:txBody>
          <a:bodyPr/>
          <a:lstStyle/>
          <a:p>
            <a:endParaRPr lang="en-GB"/>
          </a:p>
        </p:txBody>
      </p:sp>
      <p:sp>
        <p:nvSpPr>
          <p:cNvPr id="51" name="Shape 46"/>
          <p:cNvSpPr/>
          <p:nvPr/>
        </p:nvSpPr>
        <p:spPr>
          <a:xfrm>
            <a:off x="9978847" y="4482846"/>
            <a:ext cx="155448" cy="155448"/>
          </a:xfrm>
          <a:prstGeom prst="rect">
            <a:avLst/>
          </a:prstGeom>
          <a:solidFill>
            <a:srgbClr val="E0D2FD"/>
          </a:solidFill>
          <a:ln/>
        </p:spPr>
        <p:txBody>
          <a:bodyPr/>
          <a:lstStyle/>
          <a:p>
            <a:endParaRPr lang="en-GB"/>
          </a:p>
        </p:txBody>
      </p:sp>
      <p:sp>
        <p:nvSpPr>
          <p:cNvPr id="52" name="Shape 47"/>
          <p:cNvSpPr/>
          <p:nvPr/>
        </p:nvSpPr>
        <p:spPr>
          <a:xfrm>
            <a:off x="9978847" y="4482846"/>
            <a:ext cx="155448" cy="155448"/>
          </a:xfrm>
          <a:prstGeom prst="rect">
            <a:avLst/>
          </a:prstGeom>
          <a:solidFill>
            <a:srgbClr val="6720FF"/>
          </a:solidFill>
          <a:ln/>
        </p:spPr>
        <p:txBody>
          <a:bodyPr/>
          <a:lstStyle/>
          <a:p>
            <a:endParaRPr lang="en-GB"/>
          </a:p>
        </p:txBody>
      </p:sp>
      <p:sp>
        <p:nvSpPr>
          <p:cNvPr id="53" name="Shape 48"/>
          <p:cNvSpPr/>
          <p:nvPr/>
        </p:nvSpPr>
        <p:spPr>
          <a:xfrm>
            <a:off x="10175443" y="4482846"/>
            <a:ext cx="155448" cy="155448"/>
          </a:xfrm>
          <a:prstGeom prst="rect">
            <a:avLst/>
          </a:prstGeom>
          <a:solidFill>
            <a:srgbClr val="E0D2FD"/>
          </a:solidFill>
          <a:ln/>
        </p:spPr>
        <p:txBody>
          <a:bodyPr/>
          <a:lstStyle/>
          <a:p>
            <a:endParaRPr lang="en-GB"/>
          </a:p>
        </p:txBody>
      </p:sp>
      <p:sp>
        <p:nvSpPr>
          <p:cNvPr id="54" name="Shape 49"/>
          <p:cNvSpPr/>
          <p:nvPr/>
        </p:nvSpPr>
        <p:spPr>
          <a:xfrm>
            <a:off x="10175443" y="4482846"/>
            <a:ext cx="155448" cy="155448"/>
          </a:xfrm>
          <a:prstGeom prst="rect">
            <a:avLst/>
          </a:prstGeom>
          <a:solidFill>
            <a:srgbClr val="6720FF"/>
          </a:solidFill>
          <a:ln/>
        </p:spPr>
        <p:txBody>
          <a:bodyPr/>
          <a:lstStyle/>
          <a:p>
            <a:endParaRPr lang="en-GB"/>
          </a:p>
        </p:txBody>
      </p:sp>
      <p:sp>
        <p:nvSpPr>
          <p:cNvPr id="55" name="Shape 50"/>
          <p:cNvSpPr/>
          <p:nvPr/>
        </p:nvSpPr>
        <p:spPr>
          <a:xfrm>
            <a:off x="10372039" y="4482846"/>
            <a:ext cx="155448" cy="155448"/>
          </a:xfrm>
          <a:prstGeom prst="rect">
            <a:avLst/>
          </a:prstGeom>
          <a:solidFill>
            <a:srgbClr val="E0D2FD"/>
          </a:solidFill>
          <a:ln/>
        </p:spPr>
        <p:txBody>
          <a:bodyPr/>
          <a:lstStyle/>
          <a:p>
            <a:endParaRPr lang="en-GB"/>
          </a:p>
        </p:txBody>
      </p:sp>
      <p:sp>
        <p:nvSpPr>
          <p:cNvPr id="56" name="Text 51"/>
          <p:cNvSpPr txBox="1"/>
          <p:nvPr/>
        </p:nvSpPr>
        <p:spPr>
          <a:xfrm>
            <a:off x="10692079" y="437769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4.0</a:t>
            </a:r>
            <a:endParaRPr lang="en-US" sz="1800" dirty="0"/>
          </a:p>
        </p:txBody>
      </p:sp>
      <p:sp>
        <p:nvSpPr>
          <p:cNvPr id="57" name="Shape 52"/>
          <p:cNvSpPr/>
          <p:nvPr/>
        </p:nvSpPr>
        <p:spPr>
          <a:xfrm>
            <a:off x="3977640" y="5052060"/>
            <a:ext cx="7482535" cy="0"/>
          </a:xfrm>
          <a:prstGeom prst="line">
            <a:avLst/>
          </a:prstGeom>
          <a:noFill/>
          <a:ln w="9525">
            <a:solidFill>
              <a:srgbClr val="E6EAF4"/>
            </a:solidFill>
            <a:prstDash val="solid"/>
          </a:ln>
        </p:spPr>
        <p:txBody>
          <a:bodyPr/>
          <a:lstStyle/>
          <a:p>
            <a:endParaRPr lang="en-GB"/>
          </a:p>
        </p:txBody>
      </p:sp>
      <p:sp>
        <p:nvSpPr>
          <p:cNvPr id="58" name="Shape 53"/>
          <p:cNvSpPr/>
          <p:nvPr/>
        </p:nvSpPr>
        <p:spPr>
          <a:xfrm>
            <a:off x="4251960" y="5314950"/>
            <a:ext cx="457200" cy="457200"/>
          </a:xfrm>
          <a:prstGeom prst="rect">
            <a:avLst/>
          </a:prstGeom>
          <a:solidFill>
            <a:srgbClr val="6720FF"/>
          </a:solidFill>
          <a:ln/>
        </p:spPr>
        <p:txBody>
          <a:bodyPr/>
          <a:lstStyle/>
          <a:p>
            <a:endParaRPr lang="en-GB"/>
          </a:p>
        </p:txBody>
      </p:sp>
      <p:pic>
        <p:nvPicPr>
          <p:cNvPr id="59" name="Image 3" descr="User outcomes"/>
          <p:cNvPicPr>
            <a:picLocks noChangeAspect="1"/>
          </p:cNvPicPr>
          <p:nvPr/>
        </p:nvPicPr>
        <p:blipFill>
          <a:blip r:embed="rId6"/>
          <a:stretch>
            <a:fillRect/>
          </a:stretch>
        </p:blipFill>
        <p:spPr>
          <a:xfrm>
            <a:off x="4361688" y="5424678"/>
            <a:ext cx="237744" cy="237744"/>
          </a:xfrm>
          <a:prstGeom prst="rect">
            <a:avLst/>
          </a:prstGeom>
        </p:spPr>
      </p:pic>
      <p:sp>
        <p:nvSpPr>
          <p:cNvPr id="60" name="Text 54"/>
          <p:cNvSpPr txBox="1"/>
          <p:nvPr/>
        </p:nvSpPr>
        <p:spPr>
          <a:xfrm>
            <a:off x="4937760" y="525094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User outcomes</a:t>
            </a:r>
            <a:endParaRPr lang="en-US" sz="1500" dirty="0"/>
          </a:p>
        </p:txBody>
      </p:sp>
      <p:sp>
        <p:nvSpPr>
          <p:cNvPr id="61" name="Text 55"/>
          <p:cNvSpPr txBox="1"/>
          <p:nvPr/>
        </p:nvSpPr>
        <p:spPr>
          <a:xfrm>
            <a:off x="4937760" y="556183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What did Northstar's shoppers experience?</a:t>
            </a:r>
            <a:endParaRPr lang="en-US" sz="1150" dirty="0"/>
          </a:p>
        </p:txBody>
      </p:sp>
      <p:sp>
        <p:nvSpPr>
          <p:cNvPr id="62" name="Shape 56"/>
          <p:cNvSpPr/>
          <p:nvPr/>
        </p:nvSpPr>
        <p:spPr>
          <a:xfrm>
            <a:off x="9585655" y="5465826"/>
            <a:ext cx="155448" cy="155448"/>
          </a:xfrm>
          <a:prstGeom prst="rect">
            <a:avLst/>
          </a:prstGeom>
          <a:solidFill>
            <a:srgbClr val="E0D2FD"/>
          </a:solidFill>
          <a:ln/>
        </p:spPr>
        <p:txBody>
          <a:bodyPr/>
          <a:lstStyle/>
          <a:p>
            <a:endParaRPr lang="en-GB"/>
          </a:p>
        </p:txBody>
      </p:sp>
      <p:sp>
        <p:nvSpPr>
          <p:cNvPr id="63" name="Shape 57"/>
          <p:cNvSpPr/>
          <p:nvPr/>
        </p:nvSpPr>
        <p:spPr>
          <a:xfrm>
            <a:off x="9585655" y="5465826"/>
            <a:ext cx="155448" cy="155448"/>
          </a:xfrm>
          <a:prstGeom prst="rect">
            <a:avLst/>
          </a:prstGeom>
          <a:solidFill>
            <a:srgbClr val="6720FF"/>
          </a:solidFill>
          <a:ln/>
        </p:spPr>
        <p:txBody>
          <a:bodyPr/>
          <a:lstStyle/>
          <a:p>
            <a:endParaRPr lang="en-GB"/>
          </a:p>
        </p:txBody>
      </p:sp>
      <p:sp>
        <p:nvSpPr>
          <p:cNvPr id="64" name="Shape 58"/>
          <p:cNvSpPr/>
          <p:nvPr/>
        </p:nvSpPr>
        <p:spPr>
          <a:xfrm>
            <a:off x="9782251" y="5465826"/>
            <a:ext cx="155448" cy="155448"/>
          </a:xfrm>
          <a:prstGeom prst="rect">
            <a:avLst/>
          </a:prstGeom>
          <a:solidFill>
            <a:srgbClr val="E0D2FD"/>
          </a:solidFill>
          <a:ln/>
        </p:spPr>
        <p:txBody>
          <a:bodyPr/>
          <a:lstStyle/>
          <a:p>
            <a:endParaRPr lang="en-GB"/>
          </a:p>
        </p:txBody>
      </p:sp>
      <p:sp>
        <p:nvSpPr>
          <p:cNvPr id="65" name="Shape 59"/>
          <p:cNvSpPr/>
          <p:nvPr/>
        </p:nvSpPr>
        <p:spPr>
          <a:xfrm>
            <a:off x="9782251" y="5465826"/>
            <a:ext cx="155448" cy="155448"/>
          </a:xfrm>
          <a:prstGeom prst="rect">
            <a:avLst/>
          </a:prstGeom>
          <a:solidFill>
            <a:srgbClr val="6720FF"/>
          </a:solidFill>
          <a:ln/>
        </p:spPr>
        <p:txBody>
          <a:bodyPr/>
          <a:lstStyle/>
          <a:p>
            <a:endParaRPr lang="en-GB"/>
          </a:p>
        </p:txBody>
      </p:sp>
      <p:sp>
        <p:nvSpPr>
          <p:cNvPr id="66" name="Shape 60"/>
          <p:cNvSpPr/>
          <p:nvPr/>
        </p:nvSpPr>
        <p:spPr>
          <a:xfrm>
            <a:off x="9978847" y="5465826"/>
            <a:ext cx="155448" cy="155448"/>
          </a:xfrm>
          <a:prstGeom prst="rect">
            <a:avLst/>
          </a:prstGeom>
          <a:solidFill>
            <a:srgbClr val="E0D2FD"/>
          </a:solidFill>
          <a:ln/>
        </p:spPr>
        <p:txBody>
          <a:bodyPr/>
          <a:lstStyle/>
          <a:p>
            <a:endParaRPr lang="en-GB"/>
          </a:p>
        </p:txBody>
      </p:sp>
      <p:sp>
        <p:nvSpPr>
          <p:cNvPr id="67" name="Shape 61"/>
          <p:cNvSpPr/>
          <p:nvPr/>
        </p:nvSpPr>
        <p:spPr>
          <a:xfrm>
            <a:off x="9978847" y="5465826"/>
            <a:ext cx="155448" cy="155448"/>
          </a:xfrm>
          <a:prstGeom prst="rect">
            <a:avLst/>
          </a:prstGeom>
          <a:solidFill>
            <a:srgbClr val="6720FF"/>
          </a:solidFill>
          <a:ln/>
        </p:spPr>
        <p:txBody>
          <a:bodyPr/>
          <a:lstStyle/>
          <a:p>
            <a:endParaRPr lang="en-GB"/>
          </a:p>
        </p:txBody>
      </p:sp>
      <p:sp>
        <p:nvSpPr>
          <p:cNvPr id="68" name="Shape 62"/>
          <p:cNvSpPr/>
          <p:nvPr/>
        </p:nvSpPr>
        <p:spPr>
          <a:xfrm>
            <a:off x="10175443" y="5465826"/>
            <a:ext cx="155448" cy="155448"/>
          </a:xfrm>
          <a:prstGeom prst="rect">
            <a:avLst/>
          </a:prstGeom>
          <a:solidFill>
            <a:srgbClr val="E0D2FD"/>
          </a:solidFill>
          <a:ln/>
        </p:spPr>
        <p:txBody>
          <a:bodyPr/>
          <a:lstStyle/>
          <a:p>
            <a:endParaRPr lang="en-GB"/>
          </a:p>
        </p:txBody>
      </p:sp>
      <p:sp>
        <p:nvSpPr>
          <p:cNvPr id="69" name="Shape 63"/>
          <p:cNvSpPr/>
          <p:nvPr/>
        </p:nvSpPr>
        <p:spPr>
          <a:xfrm>
            <a:off x="10175443" y="5465826"/>
            <a:ext cx="155448" cy="155448"/>
          </a:xfrm>
          <a:prstGeom prst="rect">
            <a:avLst/>
          </a:prstGeom>
          <a:solidFill>
            <a:srgbClr val="6720FF"/>
          </a:solidFill>
          <a:ln/>
        </p:spPr>
        <p:txBody>
          <a:bodyPr/>
          <a:lstStyle/>
          <a:p>
            <a:endParaRPr lang="en-GB"/>
          </a:p>
        </p:txBody>
      </p:sp>
      <p:sp>
        <p:nvSpPr>
          <p:cNvPr id="70" name="Shape 64"/>
          <p:cNvSpPr/>
          <p:nvPr/>
        </p:nvSpPr>
        <p:spPr>
          <a:xfrm>
            <a:off x="10372039" y="5465826"/>
            <a:ext cx="155448" cy="155448"/>
          </a:xfrm>
          <a:prstGeom prst="rect">
            <a:avLst/>
          </a:prstGeom>
          <a:solidFill>
            <a:srgbClr val="E0D2FD"/>
          </a:solidFill>
          <a:ln/>
        </p:spPr>
        <p:txBody>
          <a:bodyPr/>
          <a:lstStyle/>
          <a:p>
            <a:endParaRPr lang="en-GB"/>
          </a:p>
        </p:txBody>
      </p:sp>
      <p:sp>
        <p:nvSpPr>
          <p:cNvPr id="71" name="Text 65"/>
          <p:cNvSpPr txBox="1"/>
          <p:nvPr/>
        </p:nvSpPr>
        <p:spPr>
          <a:xfrm>
            <a:off x="10692079" y="536067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4.0</a:t>
            </a:r>
            <a:endParaRPr lang="en-US" sz="1800" dirty="0"/>
          </a:p>
        </p:txBody>
      </p:sp>
      <p:sp>
        <p:nvSpPr>
          <p:cNvPr id="72"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Service reliability</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Find the cause before buying capacity</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Availability averaged 99.85% and met 99.9% on 4 of 31 days, so the gap is not only the two incident days. Daily metrics can’t show why; deployment telemetry can.</a:t>
            </a:r>
            <a:endParaRPr lang="en-US" sz="1300" dirty="0"/>
          </a:p>
        </p:txBody>
      </p:sp>
      <p:sp>
        <p:nvSpPr>
          <p:cNvPr id="5" name="chart-availability"/>
          <p:cNvSpPr/>
          <p:nvPr/>
        </p:nvSpPr>
        <p:spPr>
          <a:xfrm>
            <a:off x="731520" y="2103120"/>
            <a:ext cx="5486400" cy="3886200"/>
          </a:xfrm>
          <a:prstGeom prst="roundRect">
            <a:avLst>
              <a:gd name="adj" fmla="val 2824"/>
            </a:avLst>
          </a:prstGeom>
          <a:solidFill>
            <a:srgbClr val="FFFFFF"/>
          </a:solidFill>
          <a:ln w="9525">
            <a:solidFill>
              <a:srgbClr val="E6EAF4"/>
            </a:solidFill>
            <a:prstDash val="solid"/>
          </a:ln>
        </p:spPr>
        <p:txBody>
          <a:bodyPr/>
          <a:lstStyle/>
          <a:p>
            <a:endParaRPr lang="en-GB"/>
          </a:p>
        </p:txBody>
      </p:sp>
      <p:sp>
        <p:nvSpPr>
          <p:cNvPr id="6" name="Text 4"/>
          <p:cNvSpPr txBox="1"/>
          <p:nvPr/>
        </p:nvSpPr>
        <p:spPr>
          <a:xfrm>
            <a:off x="960120" y="2304288"/>
            <a:ext cx="5029200"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Availability</a:t>
            </a:r>
            <a:endParaRPr lang="en-US" sz="1400" dirty="0"/>
          </a:p>
        </p:txBody>
      </p:sp>
      <p:sp>
        <p:nvSpPr>
          <p:cNvPr id="7" name="Text 5"/>
          <p:cNvSpPr txBox="1"/>
          <p:nvPr/>
        </p:nvSpPr>
        <p:spPr>
          <a:xfrm>
            <a:off x="960120" y="2596896"/>
            <a:ext cx="5029200"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Averaged 99.85%; 99.9% met on 4 of 31 days, all in the final week. 99.9% is a proposed target; no SLA was in place for August.</a:t>
            </a:r>
            <a:endParaRPr lang="en-US" sz="1050" dirty="0"/>
          </a:p>
        </p:txBody>
      </p:sp>
      <p:graphicFrame>
        <p:nvGraphicFramePr>
          <p:cNvPr id="8" name="Chart 0"/>
          <p:cNvGraphicFramePr/>
          <p:nvPr/>
        </p:nvGraphicFramePr>
        <p:xfrm>
          <a:off x="841248" y="3090672"/>
          <a:ext cx="5212080" cy="244144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339139" y="3475452"/>
            <a:ext cx="2194560" cy="182880"/>
          </a:xfrm>
          <a:prstGeom prst="rect">
            <a:avLst/>
          </a:prstGeom>
          <a:noFill/>
          <a:ln/>
        </p:spPr>
        <p:txBody>
          <a:bodyPr wrap="square" lIns="0" tIns="0" rIns="0" bIns="0" rtlCol="0" anchor="t"/>
          <a:lstStyle/>
          <a:p>
            <a:pPr marL="0" indent="0">
              <a:buNone/>
            </a:pPr>
            <a:r>
              <a:rPr lang="en-US" sz="850" dirty="0">
                <a:solidFill>
                  <a:srgbClr val="5A5E63"/>
                </a:solidFill>
                <a:latin typeface="Inter" pitchFamily="34" charset="0"/>
                <a:ea typeface="Inter" pitchFamily="34" charset="-122"/>
                <a:cs typeface="Inter" pitchFamily="34" charset="-120"/>
              </a:rPr>
              <a:t>99.9% proposed target</a:t>
            </a:r>
            <a:endParaRPr lang="en-US" sz="850" dirty="0"/>
          </a:p>
        </p:txBody>
      </p:sp>
      <p:sp>
        <p:nvSpPr>
          <p:cNvPr id="10" name="Shape 7"/>
          <p:cNvSpPr/>
          <p:nvPr/>
        </p:nvSpPr>
        <p:spPr>
          <a:xfrm>
            <a:off x="2563336" y="3188330"/>
            <a:ext cx="0" cy="1953158"/>
          </a:xfrm>
          <a:prstGeom prst="line">
            <a:avLst/>
          </a:prstGeom>
          <a:noFill/>
          <a:ln w="12700">
            <a:solidFill>
              <a:srgbClr val="F14539"/>
            </a:solidFill>
            <a:prstDash val="dash"/>
          </a:ln>
        </p:spPr>
        <p:txBody>
          <a:bodyPr/>
          <a:lstStyle/>
          <a:p>
            <a:endParaRPr lang="en-GB"/>
          </a:p>
        </p:txBody>
      </p:sp>
      <p:sp>
        <p:nvSpPr>
          <p:cNvPr id="11" name="Shape 8"/>
          <p:cNvSpPr/>
          <p:nvPr/>
        </p:nvSpPr>
        <p:spPr>
          <a:xfrm>
            <a:off x="4369070" y="3188330"/>
            <a:ext cx="0" cy="1953158"/>
          </a:xfrm>
          <a:prstGeom prst="line">
            <a:avLst/>
          </a:prstGeom>
          <a:noFill/>
          <a:ln w="12700">
            <a:solidFill>
              <a:srgbClr val="F14539"/>
            </a:solidFill>
            <a:prstDash val="dash"/>
          </a:ln>
        </p:spPr>
        <p:txBody>
          <a:bodyPr/>
          <a:lstStyle/>
          <a:p>
            <a:endParaRPr lang="en-GB"/>
          </a:p>
        </p:txBody>
      </p:sp>
      <p:sp>
        <p:nvSpPr>
          <p:cNvPr id="12" name="Shape 9"/>
          <p:cNvSpPr/>
          <p:nvPr/>
        </p:nvSpPr>
        <p:spPr>
          <a:xfrm>
            <a:off x="4820503" y="3188330"/>
            <a:ext cx="0" cy="1953158"/>
          </a:xfrm>
          <a:prstGeom prst="line">
            <a:avLst/>
          </a:prstGeom>
          <a:noFill/>
          <a:ln w="12700">
            <a:solidFill>
              <a:srgbClr val="9D72FE"/>
            </a:solidFill>
            <a:prstDash val="dash"/>
          </a:ln>
        </p:spPr>
        <p:txBody>
          <a:bodyPr/>
          <a:lstStyle/>
          <a:p>
            <a:endParaRPr lang="en-GB"/>
          </a:p>
        </p:txBody>
      </p:sp>
      <p:sp>
        <p:nvSpPr>
          <p:cNvPr id="13" name="Shape 10"/>
          <p:cNvSpPr/>
          <p:nvPr/>
        </p:nvSpPr>
        <p:spPr>
          <a:xfrm>
            <a:off x="960120" y="5751576"/>
            <a:ext cx="182880" cy="0"/>
          </a:xfrm>
          <a:prstGeom prst="line">
            <a:avLst/>
          </a:prstGeom>
          <a:noFill/>
          <a:ln w="25400">
            <a:solidFill>
              <a:srgbClr val="6720FF"/>
            </a:solidFill>
            <a:prstDash val="solid"/>
          </a:ln>
        </p:spPr>
        <p:txBody>
          <a:bodyPr/>
          <a:lstStyle/>
          <a:p>
            <a:endParaRPr lang="en-GB"/>
          </a:p>
        </p:txBody>
      </p:sp>
      <p:sp>
        <p:nvSpPr>
          <p:cNvPr id="14" name="Text 11"/>
          <p:cNvSpPr txBox="1"/>
          <p:nvPr/>
        </p:nvSpPr>
        <p:spPr>
          <a:xfrm>
            <a:off x="1207008" y="5660136"/>
            <a:ext cx="837590"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Availability</a:t>
            </a:r>
            <a:endParaRPr lang="en-US" sz="950" dirty="0"/>
          </a:p>
        </p:txBody>
      </p:sp>
      <p:sp>
        <p:nvSpPr>
          <p:cNvPr id="15" name="Shape 12"/>
          <p:cNvSpPr/>
          <p:nvPr/>
        </p:nvSpPr>
        <p:spPr>
          <a:xfrm>
            <a:off x="2209190" y="5751576"/>
            <a:ext cx="182880" cy="0"/>
          </a:xfrm>
          <a:prstGeom prst="line">
            <a:avLst/>
          </a:prstGeom>
          <a:noFill/>
          <a:ln w="25400">
            <a:solidFill>
              <a:srgbClr val="F14539"/>
            </a:solidFill>
            <a:prstDash val="dash"/>
          </a:ln>
        </p:spPr>
        <p:txBody>
          <a:bodyPr/>
          <a:lstStyle/>
          <a:p>
            <a:endParaRPr lang="en-GB"/>
          </a:p>
        </p:txBody>
      </p:sp>
      <p:sp>
        <p:nvSpPr>
          <p:cNvPr id="16" name="Text 13"/>
          <p:cNvSpPr txBox="1"/>
          <p:nvPr/>
        </p:nvSpPr>
        <p:spPr>
          <a:xfrm>
            <a:off x="2456078" y="566013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17" name="Shape 14"/>
          <p:cNvSpPr/>
          <p:nvPr/>
        </p:nvSpPr>
        <p:spPr>
          <a:xfrm>
            <a:off x="3209544" y="5751576"/>
            <a:ext cx="182880" cy="0"/>
          </a:xfrm>
          <a:prstGeom prst="line">
            <a:avLst/>
          </a:prstGeom>
          <a:noFill/>
          <a:ln w="25400">
            <a:solidFill>
              <a:srgbClr val="9D72FE"/>
            </a:solidFill>
            <a:prstDash val="dash"/>
          </a:ln>
        </p:spPr>
        <p:txBody>
          <a:bodyPr/>
          <a:lstStyle/>
          <a:p>
            <a:endParaRPr lang="en-GB"/>
          </a:p>
        </p:txBody>
      </p:sp>
      <p:sp>
        <p:nvSpPr>
          <p:cNvPr id="18" name="Text 15"/>
          <p:cNvSpPr txBox="1"/>
          <p:nvPr/>
        </p:nvSpPr>
        <p:spPr>
          <a:xfrm>
            <a:off x="3456432" y="566013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19" name="option-1"/>
          <p:cNvSpPr/>
          <p:nvPr/>
        </p:nvSpPr>
        <p:spPr>
          <a:xfrm>
            <a:off x="6492240" y="2103120"/>
            <a:ext cx="4967935" cy="1210056"/>
          </a:xfrm>
          <a:prstGeom prst="roundRect">
            <a:avLst>
              <a:gd name="adj" fmla="val 9068"/>
            </a:avLst>
          </a:prstGeom>
          <a:solidFill>
            <a:srgbClr val="FFFFFF"/>
          </a:solidFill>
          <a:ln w="9525">
            <a:solidFill>
              <a:srgbClr val="E6EAF4"/>
            </a:solidFill>
            <a:prstDash val="solid"/>
          </a:ln>
        </p:spPr>
        <p:txBody>
          <a:bodyPr/>
          <a:lstStyle/>
          <a:p>
            <a:endParaRPr lang="en-GB"/>
          </a:p>
        </p:txBody>
      </p:sp>
      <p:sp>
        <p:nvSpPr>
          <p:cNvPr id="20" name="Shape 17"/>
          <p:cNvSpPr/>
          <p:nvPr/>
        </p:nvSpPr>
        <p:spPr>
          <a:xfrm>
            <a:off x="6693408" y="2249424"/>
            <a:ext cx="1217524" cy="237744"/>
          </a:xfrm>
          <a:prstGeom prst="rect">
            <a:avLst/>
          </a:prstGeom>
          <a:solidFill>
            <a:srgbClr val="1DA28F"/>
          </a:solidFill>
          <a:ln/>
        </p:spPr>
        <p:txBody>
          <a:bodyPr/>
          <a:lstStyle/>
          <a:p>
            <a:endParaRPr lang="en-GB"/>
          </a:p>
        </p:txBody>
      </p:sp>
      <p:sp>
        <p:nvSpPr>
          <p:cNvPr id="21" name="Text 18"/>
          <p:cNvSpPr txBox="1"/>
          <p:nvPr/>
        </p:nvSpPr>
        <p:spPr>
          <a:xfrm>
            <a:off x="6693408" y="2249424"/>
            <a:ext cx="1217524"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Recommended now</a:t>
            </a:r>
            <a:endParaRPr lang="en-US" sz="950" dirty="0"/>
          </a:p>
        </p:txBody>
      </p:sp>
      <p:sp>
        <p:nvSpPr>
          <p:cNvPr id="22" name="Text 19"/>
          <p:cNvSpPr txBox="1"/>
          <p:nvPr/>
        </p:nvSpPr>
        <p:spPr>
          <a:xfrm>
            <a:off x="6693408" y="2523744"/>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Diagnose and tune</a:t>
            </a:r>
            <a:endParaRPr lang="en-US" sz="1300" dirty="0"/>
          </a:p>
        </p:txBody>
      </p:sp>
      <p:sp>
        <p:nvSpPr>
          <p:cNvPr id="23" name="Text 20"/>
          <p:cNvSpPr txBox="1"/>
          <p:nvPr/>
        </p:nvSpPr>
        <p:spPr>
          <a:xfrm>
            <a:off x="6693408" y="2788920"/>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Review deployment telemetry together (scale-up events, error codes by hour), retune scale-up thresholds and pre-warm before promotions.</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Bill stays approx. $1.4k/month at current traffic</a:t>
            </a:r>
            <a:endParaRPr lang="en-US" sz="950" dirty="0"/>
          </a:p>
        </p:txBody>
      </p:sp>
      <p:sp>
        <p:nvSpPr>
          <p:cNvPr id="24" name="option-2"/>
          <p:cNvSpPr/>
          <p:nvPr/>
        </p:nvSpPr>
        <p:spPr>
          <a:xfrm>
            <a:off x="6492240" y="3441192"/>
            <a:ext cx="4967935" cy="1210056"/>
          </a:xfrm>
          <a:prstGeom prst="roundRect">
            <a:avLst>
              <a:gd name="adj" fmla="val 9068"/>
            </a:avLst>
          </a:prstGeom>
          <a:solidFill>
            <a:srgbClr val="FFFFFF"/>
          </a:solidFill>
          <a:ln w="9525">
            <a:solidFill>
              <a:srgbClr val="E6EAF4"/>
            </a:solidFill>
            <a:prstDash val="solid"/>
          </a:ln>
        </p:spPr>
        <p:txBody>
          <a:bodyPr/>
          <a:lstStyle/>
          <a:p>
            <a:endParaRPr lang="en-GB"/>
          </a:p>
        </p:txBody>
      </p:sp>
      <p:sp>
        <p:nvSpPr>
          <p:cNvPr id="25" name="Shape 22"/>
          <p:cNvSpPr/>
          <p:nvPr/>
        </p:nvSpPr>
        <p:spPr>
          <a:xfrm>
            <a:off x="6693408" y="3587496"/>
            <a:ext cx="1895094" cy="237744"/>
          </a:xfrm>
          <a:prstGeom prst="rect">
            <a:avLst/>
          </a:prstGeom>
          <a:solidFill>
            <a:srgbClr val="FDECD1"/>
          </a:solidFill>
          <a:ln/>
        </p:spPr>
        <p:txBody>
          <a:bodyPr/>
          <a:lstStyle/>
          <a:p>
            <a:endParaRPr lang="en-GB"/>
          </a:p>
        </p:txBody>
      </p:sp>
      <p:sp>
        <p:nvSpPr>
          <p:cNvPr id="26" name="Text 23"/>
          <p:cNvSpPr txBox="1"/>
          <p:nvPr/>
        </p:nvSpPr>
        <p:spPr>
          <a:xfrm>
            <a:off x="6693408" y="3587496"/>
            <a:ext cx="1895094" cy="237744"/>
          </a:xfrm>
          <a:prstGeom prst="rect">
            <a:avLst/>
          </a:prstGeom>
          <a:noFill/>
          <a:ln/>
        </p:spPr>
        <p:txBody>
          <a:bodyPr wrap="square" lIns="0" tIns="0" rIns="0" bIns="0" rtlCol="0" anchor="ctr"/>
          <a:lstStyle/>
          <a:p>
            <a:pPr marL="0" indent="0" algn="ctr">
              <a:buNone/>
            </a:pPr>
            <a:r>
              <a:rPr lang="en-US" sz="950" dirty="0">
                <a:solidFill>
                  <a:srgbClr val="975800"/>
                </a:solidFill>
                <a:latin typeface="Inter Medium" pitchFamily="34" charset="0"/>
                <a:ea typeface="Inter Medium" pitchFamily="34" charset="-122"/>
                <a:cs typeface="Inter Medium" pitchFamily="34" charset="-120"/>
              </a:rPr>
              <a:t>Only if the data shows it</a:t>
            </a:r>
            <a:endParaRPr lang="en-US" sz="950" dirty="0"/>
          </a:p>
        </p:txBody>
      </p:sp>
      <p:sp>
        <p:nvSpPr>
          <p:cNvPr id="27" name="Text 24"/>
          <p:cNvSpPr txBox="1"/>
          <p:nvPr/>
        </p:nvSpPr>
        <p:spPr>
          <a:xfrm>
            <a:off x="6693408" y="3861816"/>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Always-on capacity for Atlas alone</a:t>
            </a:r>
            <a:endParaRPr lang="en-US" sz="1300" dirty="0"/>
          </a:p>
        </p:txBody>
      </p:sp>
      <p:sp>
        <p:nvSpPr>
          <p:cNvPr id="28" name="Text 25"/>
          <p:cNvSpPr txBox="1"/>
          <p:nvPr/>
        </p:nvSpPr>
        <p:spPr>
          <a:xfrm>
            <a:off x="6693408" y="4126992"/>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Approx. $5,800/month, or $8,800 with EU-only placement.</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Justified only if scale-up is driving the misses</a:t>
            </a:r>
            <a:endParaRPr lang="en-US" sz="950" dirty="0"/>
          </a:p>
        </p:txBody>
      </p:sp>
      <p:sp>
        <p:nvSpPr>
          <p:cNvPr id="29" name="option-3"/>
          <p:cNvSpPr/>
          <p:nvPr/>
        </p:nvSpPr>
        <p:spPr>
          <a:xfrm>
            <a:off x="6492240" y="4779264"/>
            <a:ext cx="4967935" cy="1210056"/>
          </a:xfrm>
          <a:prstGeom prst="roundRect">
            <a:avLst>
              <a:gd name="adj" fmla="val 9068"/>
            </a:avLst>
          </a:prstGeom>
          <a:solidFill>
            <a:srgbClr val="FAF7FF"/>
          </a:solidFill>
          <a:ln w="9525">
            <a:solidFill>
              <a:srgbClr val="9D72FE"/>
            </a:solidFill>
            <a:prstDash val="solid"/>
          </a:ln>
        </p:spPr>
        <p:txBody>
          <a:bodyPr/>
          <a:lstStyle/>
          <a:p>
            <a:endParaRPr lang="en-GB"/>
          </a:p>
        </p:txBody>
      </p:sp>
      <p:sp>
        <p:nvSpPr>
          <p:cNvPr id="30" name="Shape 27"/>
          <p:cNvSpPr/>
          <p:nvPr/>
        </p:nvSpPr>
        <p:spPr>
          <a:xfrm>
            <a:off x="6693408" y="4925568"/>
            <a:ext cx="1149767" cy="237744"/>
          </a:xfrm>
          <a:prstGeom prst="rect">
            <a:avLst/>
          </a:prstGeom>
          <a:solidFill>
            <a:srgbClr val="6720FF"/>
          </a:solidFill>
          <a:ln/>
        </p:spPr>
        <p:txBody>
          <a:bodyPr/>
          <a:lstStyle/>
          <a:p>
            <a:endParaRPr lang="en-GB"/>
          </a:p>
        </p:txBody>
      </p:sp>
      <p:sp>
        <p:nvSpPr>
          <p:cNvPr id="31" name="Text 28"/>
          <p:cNvSpPr txBox="1"/>
          <p:nvPr/>
        </p:nvSpPr>
        <p:spPr>
          <a:xfrm>
            <a:off x="6693408" y="4925568"/>
            <a:ext cx="1149767"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With expansion</a:t>
            </a:r>
            <a:endParaRPr lang="en-US" sz="950" dirty="0"/>
          </a:p>
        </p:txBody>
      </p:sp>
      <p:sp>
        <p:nvSpPr>
          <p:cNvPr id="32" name="Text 29"/>
          <p:cNvSpPr txBox="1"/>
          <p:nvPr/>
        </p:nvSpPr>
        <p:spPr>
          <a:xfrm>
            <a:off x="6693408" y="5199888"/>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Shared five-brand deployment</a:t>
            </a:r>
            <a:endParaRPr lang="en-US" sz="1300" dirty="0"/>
          </a:p>
        </p:txBody>
      </p:sp>
      <p:sp>
        <p:nvSpPr>
          <p:cNvPr id="33" name="Text 30"/>
          <p:cNvSpPr txBox="1"/>
          <p:nvPr/>
        </p:nvSpPr>
        <p:spPr>
          <a:xfrm>
            <a:off x="6693408" y="5465064"/>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Always-on capacity shared by 5 brands, billed as dedicated capacity: approx. $1,200–$1,800 per brand per month.</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Baseline capacity is affordable once shared</a:t>
            </a:r>
            <a:endParaRPr lang="en-US" sz="950" dirty="0"/>
          </a:p>
        </p:txBody>
      </p:sp>
      <p:sp>
        <p:nvSpPr>
          <p:cNvPr id="34" name="Text 31"/>
          <p:cNvSpPr txBox="1"/>
          <p:nvPr/>
        </p:nvSpPr>
        <p:spPr>
          <a:xfrm>
            <a:off x="731520" y="6153912"/>
            <a:ext cx="10728655" cy="2286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Capacity figures at Fireworks list rates as of 5 Oct 2026; contracted terms may differ.</a:t>
            </a:r>
            <a:endParaRPr lang="en-US" sz="950" dirty="0"/>
          </a:p>
        </p:txBody>
      </p:sp>
      <p:sp>
        <p:nvSpPr>
          <p:cNvPr id="3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One base model, one adapter per brand, data kept apart</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Each brand keeps its own voice, knowledge and data on a single shared deployment.</a:t>
            </a:r>
            <a:endParaRPr lang="en-US" sz="1300" dirty="0"/>
          </a:p>
        </p:txBody>
      </p:sp>
      <p:sp>
        <p:nvSpPr>
          <p:cNvPr id="5" name="shared-deployment"/>
          <p:cNvSpPr/>
          <p:nvPr/>
        </p:nvSpPr>
        <p:spPr>
          <a:xfrm>
            <a:off x="731520" y="2103120"/>
            <a:ext cx="8001000" cy="4023360"/>
          </a:xfrm>
          <a:prstGeom prst="roundRect">
            <a:avLst>
              <a:gd name="adj" fmla="val 2727"/>
            </a:avLst>
          </a:prstGeom>
          <a:solidFill>
            <a:srgbClr val="FAF7FF"/>
          </a:solidFill>
          <a:ln w="9525">
            <a:solidFill>
              <a:srgbClr val="E6EAF4"/>
            </a:solidFill>
            <a:prstDash val="solid"/>
          </a:ln>
        </p:spPr>
        <p:txBody>
          <a:bodyPr/>
          <a:lstStyle/>
          <a:p>
            <a:endParaRPr lang="en-GB"/>
          </a:p>
        </p:txBody>
      </p:sp>
      <p:sp>
        <p:nvSpPr>
          <p:cNvPr id="6" name="Text 4"/>
          <p:cNvSpPr txBox="1"/>
          <p:nvPr/>
        </p:nvSpPr>
        <p:spPr>
          <a:xfrm>
            <a:off x="987552" y="2322576"/>
            <a:ext cx="3657600" cy="201168"/>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Shared deployment</a:t>
            </a:r>
            <a:endParaRPr lang="en-US" sz="1100" dirty="0"/>
          </a:p>
        </p:txBody>
      </p:sp>
      <p:sp>
        <p:nvSpPr>
          <p:cNvPr id="7" name="Shape 5"/>
          <p:cNvSpPr/>
          <p:nvPr/>
        </p:nvSpPr>
        <p:spPr>
          <a:xfrm>
            <a:off x="987552" y="2633472"/>
            <a:ext cx="7488936" cy="512064"/>
          </a:xfrm>
          <a:prstGeom prst="rect">
            <a:avLst/>
          </a:prstGeom>
          <a:solidFill>
            <a:srgbClr val="6720FF"/>
          </a:solidFill>
          <a:ln/>
        </p:spPr>
        <p:txBody>
          <a:bodyPr/>
          <a:lstStyle/>
          <a:p>
            <a:endParaRPr lang="en-GB"/>
          </a:p>
        </p:txBody>
      </p:sp>
      <p:sp>
        <p:nvSpPr>
          <p:cNvPr id="8" name="Text 6"/>
          <p:cNvSpPr txBox="1"/>
          <p:nvPr/>
        </p:nvSpPr>
        <p:spPr>
          <a:xfrm>
            <a:off x="987552" y="2633472"/>
            <a:ext cx="7488936" cy="512064"/>
          </a:xfrm>
          <a:prstGeom prst="rect">
            <a:avLst/>
          </a:prstGeom>
          <a:noFill/>
          <a:ln/>
        </p:spPr>
        <p:txBody>
          <a:bodyPr wrap="square" lIns="0" tIns="0" rIns="0" bIns="0" rtlCol="0" anchor="ctr"/>
          <a:lstStyle/>
          <a:p>
            <a:pPr marL="0" indent="0" algn="ctr">
              <a:buNone/>
            </a:pPr>
            <a:r>
              <a:rPr lang="en-US" sz="1400" dirty="0">
                <a:solidFill>
                  <a:srgbClr val="FFFFFF"/>
                </a:solidFill>
                <a:latin typeface="Inter Medium" pitchFamily="34" charset="0"/>
                <a:ea typeface="Inter Medium" pitchFamily="34" charset="-122"/>
                <a:cs typeface="Inter Medium" pitchFamily="34" charset="-120"/>
              </a:rPr>
              <a:t>Open-weight base model</a:t>
            </a:r>
            <a:endParaRPr lang="en-US" sz="1400" dirty="0"/>
          </a:p>
        </p:txBody>
      </p:sp>
      <p:sp>
        <p:nvSpPr>
          <p:cNvPr id="9" name="Shape 7"/>
          <p:cNvSpPr/>
          <p:nvPr/>
        </p:nvSpPr>
        <p:spPr>
          <a:xfrm>
            <a:off x="987552" y="3310128"/>
            <a:ext cx="1395374" cy="2560320"/>
          </a:xfrm>
          <a:prstGeom prst="roundRect">
            <a:avLst>
              <a:gd name="adj" fmla="val 5242"/>
            </a:avLst>
          </a:prstGeom>
          <a:solidFill>
            <a:srgbClr val="FFFFFF"/>
          </a:solidFill>
          <a:ln w="9525">
            <a:solidFill>
              <a:srgbClr val="E6EAF4"/>
            </a:solidFill>
            <a:prstDash val="solid"/>
          </a:ln>
        </p:spPr>
        <p:txBody>
          <a:bodyPr/>
          <a:lstStyle/>
          <a:p>
            <a:endParaRPr lang="en-GB"/>
          </a:p>
        </p:txBody>
      </p:sp>
      <p:sp>
        <p:nvSpPr>
          <p:cNvPr id="10" name="Text 8"/>
          <p:cNvSpPr txBox="1"/>
          <p:nvPr/>
        </p:nvSpPr>
        <p:spPr>
          <a:xfrm>
            <a:off x="1097280"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Atlas</a:t>
            </a:r>
            <a:endParaRPr lang="en-US" sz="1150" dirty="0"/>
          </a:p>
        </p:txBody>
      </p:sp>
      <p:sp>
        <p:nvSpPr>
          <p:cNvPr id="11" name="Shape 9"/>
          <p:cNvSpPr/>
          <p:nvPr/>
        </p:nvSpPr>
        <p:spPr>
          <a:xfrm>
            <a:off x="1097280" y="3767328"/>
            <a:ext cx="457932" cy="237744"/>
          </a:xfrm>
          <a:prstGeom prst="rect">
            <a:avLst/>
          </a:prstGeom>
          <a:solidFill>
            <a:srgbClr val="1DA28F"/>
          </a:solidFill>
          <a:ln/>
        </p:spPr>
        <p:txBody>
          <a:bodyPr/>
          <a:lstStyle/>
          <a:p>
            <a:endParaRPr lang="en-GB"/>
          </a:p>
        </p:txBody>
      </p:sp>
      <p:sp>
        <p:nvSpPr>
          <p:cNvPr id="12" name="Text 10"/>
          <p:cNvSpPr txBox="1"/>
          <p:nvPr/>
        </p:nvSpPr>
        <p:spPr>
          <a:xfrm>
            <a:off x="1097280" y="3767328"/>
            <a:ext cx="457932" cy="237744"/>
          </a:xfrm>
          <a:prstGeom prst="rect">
            <a:avLst/>
          </a:prstGeom>
          <a:noFill/>
          <a:ln/>
        </p:spPr>
        <p:txBody>
          <a:bodyPr wrap="square" lIns="0" tIns="0" rIns="0" bIns="0" rtlCol="0" anchor="ctr"/>
          <a:lstStyle/>
          <a:p>
            <a:pPr marL="0" indent="0" algn="ctr">
              <a:buNone/>
            </a:pPr>
            <a:r>
              <a:rPr lang="en-US" sz="900" dirty="0">
                <a:solidFill>
                  <a:srgbClr val="FFFFFF"/>
                </a:solidFill>
                <a:latin typeface="Inter Medium" pitchFamily="34" charset="0"/>
                <a:ea typeface="Inter Medium" pitchFamily="34" charset="-122"/>
                <a:cs typeface="Inter Medium" pitchFamily="34" charset="-120"/>
              </a:rPr>
              <a:t>Live</a:t>
            </a:r>
            <a:endParaRPr lang="en-US" sz="900" dirty="0"/>
          </a:p>
        </p:txBody>
      </p:sp>
      <p:sp>
        <p:nvSpPr>
          <p:cNvPr id="13" name="Text 11"/>
          <p:cNvSpPr txBox="1"/>
          <p:nvPr/>
        </p:nvSpPr>
        <p:spPr>
          <a:xfrm>
            <a:off x="1097280"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Existing adapter, unchanged</a:t>
            </a:r>
            <a:endParaRPr lang="en-US" sz="950" dirty="0"/>
          </a:p>
        </p:txBody>
      </p:sp>
      <p:sp>
        <p:nvSpPr>
          <p:cNvPr id="14" name="Shape 12"/>
          <p:cNvSpPr/>
          <p:nvPr/>
        </p:nvSpPr>
        <p:spPr>
          <a:xfrm>
            <a:off x="1097280" y="4608576"/>
            <a:ext cx="1175918" cy="329184"/>
          </a:xfrm>
          <a:prstGeom prst="rect">
            <a:avLst/>
          </a:prstGeom>
          <a:solidFill>
            <a:srgbClr val="E0D2FD"/>
          </a:solidFill>
          <a:ln w="9525">
            <a:solidFill>
              <a:srgbClr val="9D72FE"/>
            </a:solidFill>
            <a:prstDash val="solid"/>
          </a:ln>
        </p:spPr>
        <p:txBody>
          <a:bodyPr/>
          <a:lstStyle/>
          <a:p>
            <a:endParaRPr lang="en-GB"/>
          </a:p>
        </p:txBody>
      </p:sp>
      <p:sp>
        <p:nvSpPr>
          <p:cNvPr id="15" name="Text 13"/>
          <p:cNvSpPr txBox="1"/>
          <p:nvPr/>
        </p:nvSpPr>
        <p:spPr>
          <a:xfrm>
            <a:off x="1097280"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16" name="Shape 14"/>
          <p:cNvSpPr/>
          <p:nvPr/>
        </p:nvSpPr>
        <p:spPr>
          <a:xfrm>
            <a:off x="1097280" y="5010912"/>
            <a:ext cx="1175918" cy="329184"/>
          </a:xfrm>
          <a:prstGeom prst="rect">
            <a:avLst/>
          </a:prstGeom>
          <a:solidFill>
            <a:srgbClr val="FFFFFF"/>
          </a:solidFill>
          <a:ln w="9525">
            <a:solidFill>
              <a:srgbClr val="E6EAF4"/>
            </a:solidFill>
            <a:prstDash val="solid"/>
          </a:ln>
        </p:spPr>
        <p:txBody>
          <a:bodyPr/>
          <a:lstStyle/>
          <a:p>
            <a:endParaRPr lang="en-GB"/>
          </a:p>
        </p:txBody>
      </p:sp>
      <p:sp>
        <p:nvSpPr>
          <p:cNvPr id="17" name="Text 15"/>
          <p:cNvSpPr txBox="1"/>
          <p:nvPr/>
        </p:nvSpPr>
        <p:spPr>
          <a:xfrm>
            <a:off x="1097280"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18" name="Shape 16"/>
          <p:cNvSpPr/>
          <p:nvPr/>
        </p:nvSpPr>
        <p:spPr>
          <a:xfrm>
            <a:off x="1097280" y="5413248"/>
            <a:ext cx="1175918" cy="329184"/>
          </a:xfrm>
          <a:prstGeom prst="rect">
            <a:avLst/>
          </a:prstGeom>
          <a:solidFill>
            <a:srgbClr val="FFFFFF"/>
          </a:solidFill>
          <a:ln w="9525">
            <a:solidFill>
              <a:srgbClr val="E6EAF4"/>
            </a:solidFill>
            <a:prstDash val="solid"/>
          </a:ln>
        </p:spPr>
        <p:txBody>
          <a:bodyPr/>
          <a:lstStyle/>
          <a:p>
            <a:endParaRPr lang="en-GB"/>
          </a:p>
        </p:txBody>
      </p:sp>
      <p:sp>
        <p:nvSpPr>
          <p:cNvPr id="19" name="Text 17"/>
          <p:cNvSpPr txBox="1"/>
          <p:nvPr/>
        </p:nvSpPr>
        <p:spPr>
          <a:xfrm>
            <a:off x="1097280"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20" name="Shape 18"/>
          <p:cNvSpPr/>
          <p:nvPr/>
        </p:nvSpPr>
        <p:spPr>
          <a:xfrm>
            <a:off x="2510942" y="3310128"/>
            <a:ext cx="1395374" cy="2560320"/>
          </a:xfrm>
          <a:prstGeom prst="roundRect">
            <a:avLst>
              <a:gd name="adj" fmla="val 5242"/>
            </a:avLst>
          </a:prstGeom>
          <a:solidFill>
            <a:srgbClr val="FFFFFF"/>
          </a:solidFill>
          <a:ln w="9525">
            <a:solidFill>
              <a:srgbClr val="E6EAF4"/>
            </a:solidFill>
            <a:prstDash val="solid"/>
          </a:ln>
        </p:spPr>
        <p:txBody>
          <a:bodyPr/>
          <a:lstStyle/>
          <a:p>
            <a:endParaRPr lang="en-GB"/>
          </a:p>
        </p:txBody>
      </p:sp>
      <p:sp>
        <p:nvSpPr>
          <p:cNvPr id="21" name="Text 19"/>
          <p:cNvSpPr txBox="1"/>
          <p:nvPr/>
        </p:nvSpPr>
        <p:spPr>
          <a:xfrm>
            <a:off x="2620670"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Ridgeline</a:t>
            </a:r>
            <a:endParaRPr lang="en-US" sz="1150" dirty="0"/>
          </a:p>
        </p:txBody>
      </p:sp>
      <p:sp>
        <p:nvSpPr>
          <p:cNvPr id="22" name="Shape 20"/>
          <p:cNvSpPr/>
          <p:nvPr/>
        </p:nvSpPr>
        <p:spPr>
          <a:xfrm>
            <a:off x="2620670" y="3767328"/>
            <a:ext cx="522122" cy="237744"/>
          </a:xfrm>
          <a:prstGeom prst="rect">
            <a:avLst/>
          </a:prstGeom>
          <a:solidFill>
            <a:srgbClr val="6720FF"/>
          </a:solidFill>
          <a:ln/>
        </p:spPr>
        <p:txBody>
          <a:bodyPr/>
          <a:lstStyle/>
          <a:p>
            <a:endParaRPr lang="en-GB"/>
          </a:p>
        </p:txBody>
      </p:sp>
      <p:sp>
        <p:nvSpPr>
          <p:cNvPr id="23" name="Text 21"/>
          <p:cNvSpPr txBox="1"/>
          <p:nvPr/>
        </p:nvSpPr>
        <p:spPr>
          <a:xfrm>
            <a:off x="2620670" y="3767328"/>
            <a:ext cx="522122" cy="237744"/>
          </a:xfrm>
          <a:prstGeom prst="rect">
            <a:avLst/>
          </a:prstGeom>
          <a:noFill/>
          <a:ln/>
        </p:spPr>
        <p:txBody>
          <a:bodyPr wrap="square" lIns="0" tIns="0" rIns="0" bIns="0" rtlCol="0" anchor="ctr"/>
          <a:lstStyle/>
          <a:p>
            <a:pPr marL="0" indent="0" algn="ctr">
              <a:buNone/>
            </a:pPr>
            <a:r>
              <a:rPr lang="en-US" sz="900" dirty="0">
                <a:solidFill>
                  <a:srgbClr val="FFFFFF"/>
                </a:solidFill>
                <a:latin typeface="Inter Medium" pitchFamily="34" charset="0"/>
                <a:ea typeface="Inter Medium" pitchFamily="34" charset="-122"/>
                <a:cs typeface="Inter Medium" pitchFamily="34" charset="-120"/>
              </a:rPr>
              <a:t>Pilot</a:t>
            </a:r>
            <a:endParaRPr lang="en-US" sz="900" dirty="0"/>
          </a:p>
        </p:txBody>
      </p:sp>
      <p:sp>
        <p:nvSpPr>
          <p:cNvPr id="24" name="Text 22"/>
          <p:cNvSpPr txBox="1"/>
          <p:nvPr/>
        </p:nvSpPr>
        <p:spPr>
          <a:xfrm>
            <a:off x="2620670"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25" name="Shape 23"/>
          <p:cNvSpPr/>
          <p:nvPr/>
        </p:nvSpPr>
        <p:spPr>
          <a:xfrm>
            <a:off x="2620670" y="4608576"/>
            <a:ext cx="1175918" cy="329184"/>
          </a:xfrm>
          <a:prstGeom prst="rect">
            <a:avLst/>
          </a:prstGeom>
          <a:solidFill>
            <a:srgbClr val="E0D2FD"/>
          </a:solidFill>
          <a:ln w="9525">
            <a:solidFill>
              <a:srgbClr val="9D72FE"/>
            </a:solidFill>
            <a:prstDash val="solid"/>
          </a:ln>
        </p:spPr>
        <p:txBody>
          <a:bodyPr/>
          <a:lstStyle/>
          <a:p>
            <a:endParaRPr lang="en-GB"/>
          </a:p>
        </p:txBody>
      </p:sp>
      <p:sp>
        <p:nvSpPr>
          <p:cNvPr id="26" name="Text 24"/>
          <p:cNvSpPr txBox="1"/>
          <p:nvPr/>
        </p:nvSpPr>
        <p:spPr>
          <a:xfrm>
            <a:off x="2620670"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27" name="Shape 25"/>
          <p:cNvSpPr/>
          <p:nvPr/>
        </p:nvSpPr>
        <p:spPr>
          <a:xfrm>
            <a:off x="2620670" y="5010912"/>
            <a:ext cx="1175918" cy="329184"/>
          </a:xfrm>
          <a:prstGeom prst="rect">
            <a:avLst/>
          </a:prstGeom>
          <a:solidFill>
            <a:srgbClr val="FFFFFF"/>
          </a:solidFill>
          <a:ln w="9525">
            <a:solidFill>
              <a:srgbClr val="E6EAF4"/>
            </a:solidFill>
            <a:prstDash val="solid"/>
          </a:ln>
        </p:spPr>
        <p:txBody>
          <a:bodyPr/>
          <a:lstStyle/>
          <a:p>
            <a:endParaRPr lang="en-GB"/>
          </a:p>
        </p:txBody>
      </p:sp>
      <p:sp>
        <p:nvSpPr>
          <p:cNvPr id="28" name="Text 26"/>
          <p:cNvSpPr txBox="1"/>
          <p:nvPr/>
        </p:nvSpPr>
        <p:spPr>
          <a:xfrm>
            <a:off x="2620670"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29" name="Shape 27"/>
          <p:cNvSpPr/>
          <p:nvPr/>
        </p:nvSpPr>
        <p:spPr>
          <a:xfrm>
            <a:off x="2620670" y="5413248"/>
            <a:ext cx="1175918" cy="329184"/>
          </a:xfrm>
          <a:prstGeom prst="rect">
            <a:avLst/>
          </a:prstGeom>
          <a:solidFill>
            <a:srgbClr val="FFFFFF"/>
          </a:solidFill>
          <a:ln w="9525">
            <a:solidFill>
              <a:srgbClr val="E6EAF4"/>
            </a:solidFill>
            <a:prstDash val="solid"/>
          </a:ln>
        </p:spPr>
        <p:txBody>
          <a:bodyPr/>
          <a:lstStyle/>
          <a:p>
            <a:endParaRPr lang="en-GB"/>
          </a:p>
        </p:txBody>
      </p:sp>
      <p:sp>
        <p:nvSpPr>
          <p:cNvPr id="30" name="Text 28"/>
          <p:cNvSpPr txBox="1"/>
          <p:nvPr/>
        </p:nvSpPr>
        <p:spPr>
          <a:xfrm>
            <a:off x="2620670"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31" name="Shape 29"/>
          <p:cNvSpPr/>
          <p:nvPr/>
        </p:nvSpPr>
        <p:spPr>
          <a:xfrm>
            <a:off x="4034333" y="3310128"/>
            <a:ext cx="1395374" cy="2560320"/>
          </a:xfrm>
          <a:prstGeom prst="roundRect">
            <a:avLst>
              <a:gd name="adj" fmla="val 5242"/>
            </a:avLst>
          </a:prstGeom>
          <a:solidFill>
            <a:srgbClr val="FFFFFF"/>
          </a:solidFill>
          <a:ln w="9525">
            <a:solidFill>
              <a:srgbClr val="E6EAF4"/>
            </a:solidFill>
            <a:prstDash val="solid"/>
          </a:ln>
        </p:spPr>
        <p:txBody>
          <a:bodyPr/>
          <a:lstStyle/>
          <a:p>
            <a:endParaRPr lang="en-GB"/>
          </a:p>
        </p:txBody>
      </p:sp>
      <p:sp>
        <p:nvSpPr>
          <p:cNvPr id="32" name="Text 30"/>
          <p:cNvSpPr txBox="1"/>
          <p:nvPr/>
        </p:nvSpPr>
        <p:spPr>
          <a:xfrm>
            <a:off x="4144061"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Halden</a:t>
            </a:r>
            <a:endParaRPr lang="en-US" sz="1150" dirty="0"/>
          </a:p>
        </p:txBody>
      </p:sp>
      <p:sp>
        <p:nvSpPr>
          <p:cNvPr id="33" name="Shape 31"/>
          <p:cNvSpPr/>
          <p:nvPr/>
        </p:nvSpPr>
        <p:spPr>
          <a:xfrm>
            <a:off x="4144061" y="3767328"/>
            <a:ext cx="586313" cy="237744"/>
          </a:xfrm>
          <a:prstGeom prst="rect">
            <a:avLst/>
          </a:prstGeom>
          <a:solidFill>
            <a:srgbClr val="F2F2F2"/>
          </a:solidFill>
          <a:ln/>
        </p:spPr>
        <p:txBody>
          <a:bodyPr/>
          <a:lstStyle/>
          <a:p>
            <a:endParaRPr lang="en-GB"/>
          </a:p>
        </p:txBody>
      </p:sp>
      <p:sp>
        <p:nvSpPr>
          <p:cNvPr id="34" name="Text 32"/>
          <p:cNvSpPr txBox="1"/>
          <p:nvPr/>
        </p:nvSpPr>
        <p:spPr>
          <a:xfrm>
            <a:off x="4144061"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2</a:t>
            </a:r>
            <a:endParaRPr lang="en-US" sz="900" dirty="0"/>
          </a:p>
        </p:txBody>
      </p:sp>
      <p:sp>
        <p:nvSpPr>
          <p:cNvPr id="35" name="Text 33"/>
          <p:cNvSpPr txBox="1"/>
          <p:nvPr/>
        </p:nvSpPr>
        <p:spPr>
          <a:xfrm>
            <a:off x="4144061"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 own deployment later</a:t>
            </a:r>
            <a:endParaRPr lang="en-US" sz="950" dirty="0"/>
          </a:p>
        </p:txBody>
      </p:sp>
      <p:sp>
        <p:nvSpPr>
          <p:cNvPr id="36" name="Shape 34"/>
          <p:cNvSpPr/>
          <p:nvPr/>
        </p:nvSpPr>
        <p:spPr>
          <a:xfrm>
            <a:off x="4144061" y="4608576"/>
            <a:ext cx="1175918" cy="329184"/>
          </a:xfrm>
          <a:prstGeom prst="rect">
            <a:avLst/>
          </a:prstGeom>
          <a:solidFill>
            <a:srgbClr val="E0D2FD"/>
          </a:solidFill>
          <a:ln w="9525">
            <a:solidFill>
              <a:srgbClr val="9D72FE"/>
            </a:solidFill>
            <a:prstDash val="solid"/>
          </a:ln>
        </p:spPr>
        <p:txBody>
          <a:bodyPr/>
          <a:lstStyle/>
          <a:p>
            <a:endParaRPr lang="en-GB"/>
          </a:p>
        </p:txBody>
      </p:sp>
      <p:sp>
        <p:nvSpPr>
          <p:cNvPr id="37" name="Text 35"/>
          <p:cNvSpPr txBox="1"/>
          <p:nvPr/>
        </p:nvSpPr>
        <p:spPr>
          <a:xfrm>
            <a:off x="4144061"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38" name="Shape 36"/>
          <p:cNvSpPr/>
          <p:nvPr/>
        </p:nvSpPr>
        <p:spPr>
          <a:xfrm>
            <a:off x="4144061" y="5010912"/>
            <a:ext cx="1175918" cy="329184"/>
          </a:xfrm>
          <a:prstGeom prst="rect">
            <a:avLst/>
          </a:prstGeom>
          <a:solidFill>
            <a:srgbClr val="FFFFFF"/>
          </a:solidFill>
          <a:ln w="9525">
            <a:solidFill>
              <a:srgbClr val="E6EAF4"/>
            </a:solidFill>
            <a:prstDash val="solid"/>
          </a:ln>
        </p:spPr>
        <p:txBody>
          <a:bodyPr/>
          <a:lstStyle/>
          <a:p>
            <a:endParaRPr lang="en-GB"/>
          </a:p>
        </p:txBody>
      </p:sp>
      <p:sp>
        <p:nvSpPr>
          <p:cNvPr id="39" name="Text 37"/>
          <p:cNvSpPr txBox="1"/>
          <p:nvPr/>
        </p:nvSpPr>
        <p:spPr>
          <a:xfrm>
            <a:off x="4144061"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40" name="Shape 38"/>
          <p:cNvSpPr/>
          <p:nvPr/>
        </p:nvSpPr>
        <p:spPr>
          <a:xfrm>
            <a:off x="4144061" y="5413248"/>
            <a:ext cx="1175918" cy="329184"/>
          </a:xfrm>
          <a:prstGeom prst="rect">
            <a:avLst/>
          </a:prstGeom>
          <a:solidFill>
            <a:srgbClr val="FFFFFF"/>
          </a:solidFill>
          <a:ln w="9525">
            <a:solidFill>
              <a:srgbClr val="E6EAF4"/>
            </a:solidFill>
            <a:prstDash val="solid"/>
          </a:ln>
        </p:spPr>
        <p:txBody>
          <a:bodyPr/>
          <a:lstStyle/>
          <a:p>
            <a:endParaRPr lang="en-GB"/>
          </a:p>
        </p:txBody>
      </p:sp>
      <p:sp>
        <p:nvSpPr>
          <p:cNvPr id="41" name="Text 39"/>
          <p:cNvSpPr txBox="1"/>
          <p:nvPr/>
        </p:nvSpPr>
        <p:spPr>
          <a:xfrm>
            <a:off x="4144061"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42" name="Shape 40"/>
          <p:cNvSpPr/>
          <p:nvPr/>
        </p:nvSpPr>
        <p:spPr>
          <a:xfrm>
            <a:off x="5557723" y="3310128"/>
            <a:ext cx="1395374" cy="2560320"/>
          </a:xfrm>
          <a:prstGeom prst="roundRect">
            <a:avLst>
              <a:gd name="adj" fmla="val 5242"/>
            </a:avLst>
          </a:prstGeom>
          <a:solidFill>
            <a:srgbClr val="FFFFFF"/>
          </a:solidFill>
          <a:ln w="9525">
            <a:solidFill>
              <a:srgbClr val="E6EAF4"/>
            </a:solidFill>
            <a:prstDash val="solid"/>
          </a:ln>
        </p:spPr>
        <p:txBody>
          <a:bodyPr/>
          <a:lstStyle/>
          <a:p>
            <a:endParaRPr lang="en-GB"/>
          </a:p>
        </p:txBody>
      </p:sp>
      <p:sp>
        <p:nvSpPr>
          <p:cNvPr id="43" name="Text 41"/>
          <p:cNvSpPr txBox="1"/>
          <p:nvPr/>
        </p:nvSpPr>
        <p:spPr>
          <a:xfrm>
            <a:off x="5667451"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Polar</a:t>
            </a:r>
            <a:endParaRPr lang="en-US" sz="1150" dirty="0"/>
          </a:p>
        </p:txBody>
      </p:sp>
      <p:sp>
        <p:nvSpPr>
          <p:cNvPr id="44" name="Shape 42"/>
          <p:cNvSpPr/>
          <p:nvPr/>
        </p:nvSpPr>
        <p:spPr>
          <a:xfrm>
            <a:off x="5667451" y="3767328"/>
            <a:ext cx="586313" cy="237744"/>
          </a:xfrm>
          <a:prstGeom prst="rect">
            <a:avLst/>
          </a:prstGeom>
          <a:solidFill>
            <a:srgbClr val="F2F2F2"/>
          </a:solidFill>
          <a:ln/>
        </p:spPr>
        <p:txBody>
          <a:bodyPr/>
          <a:lstStyle/>
          <a:p>
            <a:endParaRPr lang="en-GB"/>
          </a:p>
        </p:txBody>
      </p:sp>
      <p:sp>
        <p:nvSpPr>
          <p:cNvPr id="45" name="Text 43"/>
          <p:cNvSpPr txBox="1"/>
          <p:nvPr/>
        </p:nvSpPr>
        <p:spPr>
          <a:xfrm>
            <a:off x="5667451"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2</a:t>
            </a:r>
            <a:endParaRPr lang="en-US" sz="900" dirty="0"/>
          </a:p>
        </p:txBody>
      </p:sp>
      <p:sp>
        <p:nvSpPr>
          <p:cNvPr id="46" name="Text 44"/>
          <p:cNvSpPr txBox="1"/>
          <p:nvPr/>
        </p:nvSpPr>
        <p:spPr>
          <a:xfrm>
            <a:off x="5667451"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47" name="Shape 45"/>
          <p:cNvSpPr/>
          <p:nvPr/>
        </p:nvSpPr>
        <p:spPr>
          <a:xfrm>
            <a:off x="5667451" y="4608576"/>
            <a:ext cx="1175918" cy="329184"/>
          </a:xfrm>
          <a:prstGeom prst="rect">
            <a:avLst/>
          </a:prstGeom>
          <a:solidFill>
            <a:srgbClr val="E0D2FD"/>
          </a:solidFill>
          <a:ln w="9525">
            <a:solidFill>
              <a:srgbClr val="9D72FE"/>
            </a:solidFill>
            <a:prstDash val="solid"/>
          </a:ln>
        </p:spPr>
        <p:txBody>
          <a:bodyPr/>
          <a:lstStyle/>
          <a:p>
            <a:endParaRPr lang="en-GB"/>
          </a:p>
        </p:txBody>
      </p:sp>
      <p:sp>
        <p:nvSpPr>
          <p:cNvPr id="48" name="Text 46"/>
          <p:cNvSpPr txBox="1"/>
          <p:nvPr/>
        </p:nvSpPr>
        <p:spPr>
          <a:xfrm>
            <a:off x="5667451"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49" name="Shape 47"/>
          <p:cNvSpPr/>
          <p:nvPr/>
        </p:nvSpPr>
        <p:spPr>
          <a:xfrm>
            <a:off x="5667451" y="5010912"/>
            <a:ext cx="1175918" cy="329184"/>
          </a:xfrm>
          <a:prstGeom prst="rect">
            <a:avLst/>
          </a:prstGeom>
          <a:solidFill>
            <a:srgbClr val="FFFFFF"/>
          </a:solidFill>
          <a:ln w="9525">
            <a:solidFill>
              <a:srgbClr val="E6EAF4"/>
            </a:solidFill>
            <a:prstDash val="solid"/>
          </a:ln>
        </p:spPr>
        <p:txBody>
          <a:bodyPr/>
          <a:lstStyle/>
          <a:p>
            <a:endParaRPr lang="en-GB"/>
          </a:p>
        </p:txBody>
      </p:sp>
      <p:sp>
        <p:nvSpPr>
          <p:cNvPr id="50" name="Text 48"/>
          <p:cNvSpPr txBox="1"/>
          <p:nvPr/>
        </p:nvSpPr>
        <p:spPr>
          <a:xfrm>
            <a:off x="5667451"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51" name="Shape 49"/>
          <p:cNvSpPr/>
          <p:nvPr/>
        </p:nvSpPr>
        <p:spPr>
          <a:xfrm>
            <a:off x="5667451" y="5413248"/>
            <a:ext cx="1175918" cy="329184"/>
          </a:xfrm>
          <a:prstGeom prst="rect">
            <a:avLst/>
          </a:prstGeom>
          <a:solidFill>
            <a:srgbClr val="FFFFFF"/>
          </a:solidFill>
          <a:ln w="9525">
            <a:solidFill>
              <a:srgbClr val="E6EAF4"/>
            </a:solidFill>
            <a:prstDash val="solid"/>
          </a:ln>
        </p:spPr>
        <p:txBody>
          <a:bodyPr/>
          <a:lstStyle/>
          <a:p>
            <a:endParaRPr lang="en-GB"/>
          </a:p>
        </p:txBody>
      </p:sp>
      <p:sp>
        <p:nvSpPr>
          <p:cNvPr id="52" name="Text 50"/>
          <p:cNvSpPr txBox="1"/>
          <p:nvPr/>
        </p:nvSpPr>
        <p:spPr>
          <a:xfrm>
            <a:off x="5667451"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53" name="Shape 51"/>
          <p:cNvSpPr/>
          <p:nvPr/>
        </p:nvSpPr>
        <p:spPr>
          <a:xfrm>
            <a:off x="7081114" y="3310128"/>
            <a:ext cx="1395374" cy="2560320"/>
          </a:xfrm>
          <a:prstGeom prst="roundRect">
            <a:avLst>
              <a:gd name="adj" fmla="val 5242"/>
            </a:avLst>
          </a:prstGeom>
          <a:solidFill>
            <a:srgbClr val="FFFFFF"/>
          </a:solidFill>
          <a:ln w="9525">
            <a:solidFill>
              <a:srgbClr val="E6EAF4"/>
            </a:solidFill>
            <a:prstDash val="solid"/>
          </a:ln>
        </p:spPr>
        <p:txBody>
          <a:bodyPr/>
          <a:lstStyle/>
          <a:p>
            <a:endParaRPr lang="en-GB"/>
          </a:p>
        </p:txBody>
      </p:sp>
      <p:sp>
        <p:nvSpPr>
          <p:cNvPr id="54" name="Text 52"/>
          <p:cNvSpPr txBox="1"/>
          <p:nvPr/>
        </p:nvSpPr>
        <p:spPr>
          <a:xfrm>
            <a:off x="7190842"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Harbour &amp; Hide</a:t>
            </a:r>
            <a:endParaRPr lang="en-US" sz="1150" dirty="0"/>
          </a:p>
        </p:txBody>
      </p:sp>
      <p:sp>
        <p:nvSpPr>
          <p:cNvPr id="55" name="Shape 53"/>
          <p:cNvSpPr/>
          <p:nvPr/>
        </p:nvSpPr>
        <p:spPr>
          <a:xfrm>
            <a:off x="7190842" y="3767328"/>
            <a:ext cx="586313" cy="237744"/>
          </a:xfrm>
          <a:prstGeom prst="rect">
            <a:avLst/>
          </a:prstGeom>
          <a:solidFill>
            <a:srgbClr val="F2F2F2"/>
          </a:solidFill>
          <a:ln/>
        </p:spPr>
        <p:txBody>
          <a:bodyPr/>
          <a:lstStyle/>
          <a:p>
            <a:endParaRPr lang="en-GB"/>
          </a:p>
        </p:txBody>
      </p:sp>
      <p:sp>
        <p:nvSpPr>
          <p:cNvPr id="56" name="Text 54"/>
          <p:cNvSpPr txBox="1"/>
          <p:nvPr/>
        </p:nvSpPr>
        <p:spPr>
          <a:xfrm>
            <a:off x="7190842"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3</a:t>
            </a:r>
            <a:endParaRPr lang="en-US" sz="900" dirty="0"/>
          </a:p>
        </p:txBody>
      </p:sp>
      <p:sp>
        <p:nvSpPr>
          <p:cNvPr id="57" name="Text 55"/>
          <p:cNvSpPr txBox="1"/>
          <p:nvPr/>
        </p:nvSpPr>
        <p:spPr>
          <a:xfrm>
            <a:off x="7190842"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58" name="Shape 56"/>
          <p:cNvSpPr/>
          <p:nvPr/>
        </p:nvSpPr>
        <p:spPr>
          <a:xfrm>
            <a:off x="7190842" y="4608576"/>
            <a:ext cx="1175918" cy="329184"/>
          </a:xfrm>
          <a:prstGeom prst="rect">
            <a:avLst/>
          </a:prstGeom>
          <a:solidFill>
            <a:srgbClr val="E0D2FD"/>
          </a:solidFill>
          <a:ln w="9525">
            <a:solidFill>
              <a:srgbClr val="9D72FE"/>
            </a:solidFill>
            <a:prstDash val="solid"/>
          </a:ln>
        </p:spPr>
        <p:txBody>
          <a:bodyPr/>
          <a:lstStyle/>
          <a:p>
            <a:endParaRPr lang="en-GB"/>
          </a:p>
        </p:txBody>
      </p:sp>
      <p:sp>
        <p:nvSpPr>
          <p:cNvPr id="59" name="Text 57"/>
          <p:cNvSpPr txBox="1"/>
          <p:nvPr/>
        </p:nvSpPr>
        <p:spPr>
          <a:xfrm>
            <a:off x="7190842"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60" name="Shape 58"/>
          <p:cNvSpPr/>
          <p:nvPr/>
        </p:nvSpPr>
        <p:spPr>
          <a:xfrm>
            <a:off x="7190842" y="5010912"/>
            <a:ext cx="1175918" cy="329184"/>
          </a:xfrm>
          <a:prstGeom prst="rect">
            <a:avLst/>
          </a:prstGeom>
          <a:solidFill>
            <a:srgbClr val="FFFFFF"/>
          </a:solidFill>
          <a:ln w="9525">
            <a:solidFill>
              <a:srgbClr val="E6EAF4"/>
            </a:solidFill>
            <a:prstDash val="solid"/>
          </a:ln>
        </p:spPr>
        <p:txBody>
          <a:bodyPr/>
          <a:lstStyle/>
          <a:p>
            <a:endParaRPr lang="en-GB"/>
          </a:p>
        </p:txBody>
      </p:sp>
      <p:sp>
        <p:nvSpPr>
          <p:cNvPr id="61" name="Text 59"/>
          <p:cNvSpPr txBox="1"/>
          <p:nvPr/>
        </p:nvSpPr>
        <p:spPr>
          <a:xfrm>
            <a:off x="7190842"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62" name="Shape 60"/>
          <p:cNvSpPr/>
          <p:nvPr/>
        </p:nvSpPr>
        <p:spPr>
          <a:xfrm>
            <a:off x="7190842" y="5413248"/>
            <a:ext cx="1175918" cy="329184"/>
          </a:xfrm>
          <a:prstGeom prst="rect">
            <a:avLst/>
          </a:prstGeom>
          <a:solidFill>
            <a:srgbClr val="FFFFFF"/>
          </a:solidFill>
          <a:ln w="9525">
            <a:solidFill>
              <a:srgbClr val="E6EAF4"/>
            </a:solidFill>
            <a:prstDash val="solid"/>
          </a:ln>
        </p:spPr>
        <p:txBody>
          <a:bodyPr/>
          <a:lstStyle/>
          <a:p>
            <a:endParaRPr lang="en-GB"/>
          </a:p>
        </p:txBody>
      </p:sp>
      <p:sp>
        <p:nvSpPr>
          <p:cNvPr id="63" name="Text 61"/>
          <p:cNvSpPr txBox="1"/>
          <p:nvPr/>
        </p:nvSpPr>
        <p:spPr>
          <a:xfrm>
            <a:off x="7190842"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64" name="Shape 62"/>
          <p:cNvSpPr/>
          <p:nvPr/>
        </p:nvSpPr>
        <p:spPr>
          <a:xfrm>
            <a:off x="9098280" y="2203704"/>
            <a:ext cx="118872" cy="118872"/>
          </a:xfrm>
          <a:prstGeom prst="rect">
            <a:avLst/>
          </a:prstGeom>
          <a:solidFill>
            <a:srgbClr val="1DA28F"/>
          </a:solidFill>
          <a:ln/>
        </p:spPr>
        <p:txBody>
          <a:bodyPr/>
          <a:lstStyle/>
          <a:p>
            <a:endParaRPr lang="en-GB"/>
          </a:p>
        </p:txBody>
      </p:sp>
      <p:sp>
        <p:nvSpPr>
          <p:cNvPr id="65" name="Text 63"/>
          <p:cNvSpPr txBox="1"/>
          <p:nvPr/>
        </p:nvSpPr>
        <p:spPr>
          <a:xfrm>
            <a:off x="9372600" y="21488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Data isolation</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Each brand’s catalogue and policy facts sit in its own knowledge index; each adapter is trained on that brand’s transcripts.</a:t>
            </a:r>
            <a:endParaRPr lang="en-US" sz="1300" dirty="0"/>
          </a:p>
        </p:txBody>
      </p:sp>
      <p:sp>
        <p:nvSpPr>
          <p:cNvPr id="66" name="Shape 64"/>
          <p:cNvSpPr/>
          <p:nvPr/>
        </p:nvSpPr>
        <p:spPr>
          <a:xfrm>
            <a:off x="9098280" y="3575304"/>
            <a:ext cx="118872" cy="118872"/>
          </a:xfrm>
          <a:prstGeom prst="rect">
            <a:avLst/>
          </a:prstGeom>
          <a:solidFill>
            <a:srgbClr val="6720FF"/>
          </a:solidFill>
          <a:ln/>
        </p:spPr>
        <p:txBody>
          <a:bodyPr/>
          <a:lstStyle/>
          <a:p>
            <a:endParaRPr lang="en-GB"/>
          </a:p>
        </p:txBody>
      </p:sp>
      <p:sp>
        <p:nvSpPr>
          <p:cNvPr id="67" name="Text 65"/>
          <p:cNvSpPr txBox="1"/>
          <p:nvPr/>
        </p:nvSpPr>
        <p:spPr>
          <a:xfrm>
            <a:off x="9372600" y="35204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Why not reuse Atlas with a new prompt?</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Atlas’s tone and policy-handling habits are learned into its adapter and would leak into other brands.</a:t>
            </a:r>
            <a:endParaRPr lang="en-US" sz="1300" dirty="0"/>
          </a:p>
        </p:txBody>
      </p:sp>
      <p:sp>
        <p:nvSpPr>
          <p:cNvPr id="68" name="Shape 66"/>
          <p:cNvSpPr/>
          <p:nvPr/>
        </p:nvSpPr>
        <p:spPr>
          <a:xfrm>
            <a:off x="9098280" y="4946904"/>
            <a:ext cx="118872" cy="118872"/>
          </a:xfrm>
          <a:prstGeom prst="rect">
            <a:avLst/>
          </a:prstGeom>
          <a:solidFill>
            <a:srgbClr val="6720FF"/>
          </a:solidFill>
          <a:ln/>
        </p:spPr>
        <p:txBody>
          <a:bodyPr/>
          <a:lstStyle/>
          <a:p>
            <a:endParaRPr lang="en-GB"/>
          </a:p>
        </p:txBody>
      </p:sp>
      <p:sp>
        <p:nvSpPr>
          <p:cNvPr id="69" name="Text 67"/>
          <p:cNvSpPr txBox="1"/>
          <p:nvPr/>
        </p:nvSpPr>
        <p:spPr>
          <a:xfrm>
            <a:off x="9372600" y="48920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Why not five separate models?</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Five deployments to run and retrain, and the smaller brands lack the data to train them well.</a:t>
            </a:r>
            <a:endParaRPr lang="en-US" sz="1300" dirty="0"/>
          </a:p>
        </p:txBody>
      </p:sp>
      <p:sp>
        <p:nvSpPr>
          <p:cNvPr id="70"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Ridgeline pilot: two arms, criteria agreed up front</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Closest to Atlas in product and customer, on the same Zendesk tooling, at moderate volume: it tests tone and return-policy handling with limited exposure.</a:t>
            </a:r>
            <a:endParaRPr lang="en-US" sz="1300" dirty="0"/>
          </a:p>
        </p:txBody>
      </p:sp>
      <p:sp>
        <p:nvSpPr>
          <p:cNvPr id="5" name="arm-a"/>
          <p:cNvSpPr/>
          <p:nvPr/>
        </p:nvSpPr>
        <p:spPr>
          <a:xfrm>
            <a:off x="731520" y="2103120"/>
            <a:ext cx="4983480" cy="1783080"/>
          </a:xfrm>
          <a:prstGeom prst="roundRect">
            <a:avLst>
              <a:gd name="adj" fmla="val 6154"/>
            </a:avLst>
          </a:prstGeom>
          <a:solidFill>
            <a:srgbClr val="FFFFFF"/>
          </a:solidFill>
          <a:ln w="9525">
            <a:solidFill>
              <a:srgbClr val="E6EAF4"/>
            </a:solidFill>
            <a:prstDash val="solid"/>
          </a:ln>
        </p:spPr>
        <p:txBody>
          <a:bodyPr/>
          <a:lstStyle/>
          <a:p>
            <a:endParaRPr lang="en-GB"/>
          </a:p>
        </p:txBody>
      </p:sp>
      <p:sp>
        <p:nvSpPr>
          <p:cNvPr id="6" name="Shape 4"/>
          <p:cNvSpPr/>
          <p:nvPr/>
        </p:nvSpPr>
        <p:spPr>
          <a:xfrm>
            <a:off x="960120" y="2322576"/>
            <a:ext cx="1488552" cy="237744"/>
          </a:xfrm>
          <a:prstGeom prst="rect">
            <a:avLst/>
          </a:prstGeom>
          <a:solidFill>
            <a:srgbClr val="1DA28F"/>
          </a:solidFill>
          <a:ln/>
        </p:spPr>
        <p:txBody>
          <a:bodyPr/>
          <a:lstStyle/>
          <a:p>
            <a:endParaRPr lang="en-GB"/>
          </a:p>
        </p:txBody>
      </p:sp>
      <p:sp>
        <p:nvSpPr>
          <p:cNvPr id="7" name="Text 5"/>
          <p:cNvSpPr txBox="1"/>
          <p:nvPr/>
        </p:nvSpPr>
        <p:spPr>
          <a:xfrm>
            <a:off x="960120" y="2322576"/>
            <a:ext cx="1488552"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Arm A · Lowest cost</a:t>
            </a:r>
            <a:endParaRPr lang="en-US" sz="950" dirty="0"/>
          </a:p>
        </p:txBody>
      </p:sp>
      <p:sp>
        <p:nvSpPr>
          <p:cNvPr id="8" name="Text 6"/>
          <p:cNvSpPr txBox="1"/>
          <p:nvPr/>
        </p:nvSpPr>
        <p:spPr>
          <a:xfrm>
            <a:off x="960120" y="2670048"/>
            <a:ext cx="4526280" cy="5029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Base model + Ridgeline system prompt + Ridgeline knowledge index</a:t>
            </a:r>
            <a:endParaRPr lang="en-US" sz="1300" dirty="0"/>
          </a:p>
        </p:txBody>
      </p:sp>
      <p:sp>
        <p:nvSpPr>
          <p:cNvPr id="9" name="Text 7"/>
          <p:cNvSpPr txBox="1"/>
          <p:nvPr/>
        </p:nvSpPr>
        <p:spPr>
          <a:xfrm>
            <a:off x="960120" y="3200400"/>
            <a:ext cx="4526280" cy="54864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No brand-specific training. If it clears every criterion, no adapter is needed.</a:t>
            </a:r>
            <a:endParaRPr lang="en-US" sz="1100" dirty="0"/>
          </a:p>
        </p:txBody>
      </p:sp>
      <p:sp>
        <p:nvSpPr>
          <p:cNvPr id="10" name="arm-b"/>
          <p:cNvSpPr/>
          <p:nvPr/>
        </p:nvSpPr>
        <p:spPr>
          <a:xfrm>
            <a:off x="731520" y="4114800"/>
            <a:ext cx="4983480" cy="1783080"/>
          </a:xfrm>
          <a:prstGeom prst="roundRect">
            <a:avLst>
              <a:gd name="adj" fmla="val 6154"/>
            </a:avLst>
          </a:prstGeom>
          <a:solidFill>
            <a:srgbClr val="FAF7FF"/>
          </a:solidFill>
          <a:ln w="9525">
            <a:solidFill>
              <a:srgbClr val="9D72FE"/>
            </a:solidFill>
            <a:prstDash val="solid"/>
          </a:ln>
        </p:spPr>
        <p:txBody>
          <a:bodyPr/>
          <a:lstStyle/>
          <a:p>
            <a:endParaRPr lang="en-GB"/>
          </a:p>
        </p:txBody>
      </p:sp>
      <p:sp>
        <p:nvSpPr>
          <p:cNvPr id="11" name="Shape 9"/>
          <p:cNvSpPr/>
          <p:nvPr/>
        </p:nvSpPr>
        <p:spPr>
          <a:xfrm>
            <a:off x="960120" y="4334256"/>
            <a:ext cx="1488552" cy="237744"/>
          </a:xfrm>
          <a:prstGeom prst="rect">
            <a:avLst/>
          </a:prstGeom>
          <a:solidFill>
            <a:srgbClr val="6720FF"/>
          </a:solidFill>
          <a:ln/>
        </p:spPr>
        <p:txBody>
          <a:bodyPr/>
          <a:lstStyle/>
          <a:p>
            <a:endParaRPr lang="en-GB"/>
          </a:p>
        </p:txBody>
      </p:sp>
      <p:sp>
        <p:nvSpPr>
          <p:cNvPr id="12" name="Text 10"/>
          <p:cNvSpPr txBox="1"/>
          <p:nvPr/>
        </p:nvSpPr>
        <p:spPr>
          <a:xfrm>
            <a:off x="960120" y="4334256"/>
            <a:ext cx="1488552"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Arm B · Brand-tuned</a:t>
            </a:r>
            <a:endParaRPr lang="en-US" sz="950" dirty="0"/>
          </a:p>
        </p:txBody>
      </p:sp>
      <p:sp>
        <p:nvSpPr>
          <p:cNvPr id="13" name="Text 11"/>
          <p:cNvSpPr txBox="1"/>
          <p:nvPr/>
        </p:nvSpPr>
        <p:spPr>
          <a:xfrm>
            <a:off x="960120" y="4681728"/>
            <a:ext cx="4526280" cy="5029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Base model + Ridgeline adapter + Ridgeline system prompt + knowledge index</a:t>
            </a:r>
            <a:endParaRPr lang="en-US" sz="1300" dirty="0"/>
          </a:p>
        </p:txBody>
      </p:sp>
      <p:sp>
        <p:nvSpPr>
          <p:cNvPr id="14" name="Text 12"/>
          <p:cNvSpPr txBox="1"/>
          <p:nvPr/>
        </p:nvSpPr>
        <p:spPr>
          <a:xfrm>
            <a:off x="960120" y="5212080"/>
            <a:ext cx="4526280" cy="54864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Tone, workflow and policy-following learned from Ridgeline transcripts; policy facts stay in the knowledge index.</a:t>
            </a:r>
            <a:endParaRPr lang="en-US" sz="1100" dirty="0"/>
          </a:p>
        </p:txBody>
      </p:sp>
      <p:sp>
        <p:nvSpPr>
          <p:cNvPr id="15" name="Shape 13"/>
          <p:cNvSpPr/>
          <p:nvPr/>
        </p:nvSpPr>
        <p:spPr>
          <a:xfrm>
            <a:off x="6035040" y="2103120"/>
            <a:ext cx="5425135" cy="3127248"/>
          </a:xfrm>
          <a:prstGeom prst="roundRect">
            <a:avLst>
              <a:gd name="adj" fmla="val 3509"/>
            </a:avLst>
          </a:prstGeom>
          <a:solidFill>
            <a:srgbClr val="FFFFFF"/>
          </a:solidFill>
          <a:ln/>
        </p:spPr>
        <p:txBody>
          <a:bodyPr/>
          <a:lstStyle/>
          <a:p>
            <a:endParaRPr lang="en-GB"/>
          </a:p>
        </p:txBody>
      </p:sp>
      <p:sp>
        <p:nvSpPr>
          <p:cNvPr id="16" name="Shape 14"/>
          <p:cNvSpPr/>
          <p:nvPr/>
        </p:nvSpPr>
        <p:spPr>
          <a:xfrm>
            <a:off x="6035040" y="2103120"/>
            <a:ext cx="5425135" cy="384048"/>
          </a:xfrm>
          <a:prstGeom prst="round2SameRect">
            <a:avLst/>
          </a:prstGeom>
          <a:solidFill>
            <a:srgbClr val="FAF7FF"/>
          </a:solidFill>
          <a:ln/>
        </p:spPr>
        <p:txBody>
          <a:bodyPr/>
          <a:lstStyle/>
          <a:p>
            <a:endParaRPr lang="en-GB"/>
          </a:p>
        </p:txBody>
      </p:sp>
      <p:sp>
        <p:nvSpPr>
          <p:cNvPr id="17" name="Shape 15"/>
          <p:cNvSpPr/>
          <p:nvPr/>
        </p:nvSpPr>
        <p:spPr>
          <a:xfrm>
            <a:off x="6035040" y="2487168"/>
            <a:ext cx="5425135" cy="0"/>
          </a:xfrm>
          <a:prstGeom prst="line">
            <a:avLst/>
          </a:prstGeom>
          <a:noFill/>
          <a:ln w="9525">
            <a:solidFill>
              <a:srgbClr val="E6EAF4"/>
            </a:solidFill>
            <a:prstDash val="solid"/>
          </a:ln>
        </p:spPr>
        <p:txBody>
          <a:bodyPr/>
          <a:lstStyle/>
          <a:p>
            <a:endParaRPr lang="en-GB"/>
          </a:p>
        </p:txBody>
      </p:sp>
      <p:sp>
        <p:nvSpPr>
          <p:cNvPr id="18" name="Text 16"/>
          <p:cNvSpPr txBox="1"/>
          <p:nvPr/>
        </p:nvSpPr>
        <p:spPr>
          <a:xfrm>
            <a:off x="6236208" y="2103120"/>
            <a:ext cx="2712568" cy="384048"/>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Success criterion, four weeks</a:t>
            </a:r>
            <a:endParaRPr lang="en-US" sz="950" dirty="0"/>
          </a:p>
        </p:txBody>
      </p:sp>
      <p:sp>
        <p:nvSpPr>
          <p:cNvPr id="19" name="Text 17"/>
          <p:cNvSpPr txBox="1"/>
          <p:nvPr/>
        </p:nvSpPr>
        <p:spPr>
          <a:xfrm>
            <a:off x="8747608" y="2103120"/>
            <a:ext cx="2529688" cy="384048"/>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Target</a:t>
            </a:r>
            <a:endParaRPr lang="en-US" sz="950" dirty="0"/>
          </a:p>
        </p:txBody>
      </p:sp>
      <p:sp>
        <p:nvSpPr>
          <p:cNvPr id="20" name="Text 18"/>
          <p:cNvSpPr txBox="1"/>
          <p:nvPr/>
        </p:nvSpPr>
        <p:spPr>
          <a:xfrm>
            <a:off x="6236208" y="248716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Grounded answers</a:t>
            </a:r>
            <a:endParaRPr lang="en-US" sz="1150" dirty="0"/>
          </a:p>
        </p:txBody>
      </p:sp>
      <p:sp>
        <p:nvSpPr>
          <p:cNvPr id="21" name="Text 19"/>
          <p:cNvSpPr txBox="1"/>
          <p:nvPr/>
        </p:nvSpPr>
        <p:spPr>
          <a:xfrm>
            <a:off x="8747608" y="248716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95%</a:t>
            </a:r>
            <a:endParaRPr lang="en-US" sz="1150" dirty="0"/>
          </a:p>
        </p:txBody>
      </p:sp>
      <p:sp>
        <p:nvSpPr>
          <p:cNvPr id="22" name="Shape 20"/>
          <p:cNvSpPr/>
          <p:nvPr/>
        </p:nvSpPr>
        <p:spPr>
          <a:xfrm>
            <a:off x="6035040" y="3035808"/>
            <a:ext cx="5425135" cy="0"/>
          </a:xfrm>
          <a:prstGeom prst="line">
            <a:avLst/>
          </a:prstGeom>
          <a:noFill/>
          <a:ln w="9525">
            <a:solidFill>
              <a:srgbClr val="E6EAF4"/>
            </a:solidFill>
            <a:prstDash val="solid"/>
          </a:ln>
        </p:spPr>
        <p:txBody>
          <a:bodyPr/>
          <a:lstStyle/>
          <a:p>
            <a:endParaRPr lang="en-GB"/>
          </a:p>
        </p:txBody>
      </p:sp>
      <p:sp>
        <p:nvSpPr>
          <p:cNvPr id="23" name="Text 21"/>
          <p:cNvSpPr txBox="1"/>
          <p:nvPr/>
        </p:nvSpPr>
        <p:spPr>
          <a:xfrm>
            <a:off x="6236208" y="303580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Eval pass rate</a:t>
            </a:r>
            <a:endParaRPr lang="en-US" sz="1150" dirty="0"/>
          </a:p>
        </p:txBody>
      </p:sp>
      <p:sp>
        <p:nvSpPr>
          <p:cNvPr id="24" name="Text 22"/>
          <p:cNvSpPr txBox="1"/>
          <p:nvPr/>
        </p:nvSpPr>
        <p:spPr>
          <a:xfrm>
            <a:off x="8747608" y="303580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93%</a:t>
            </a:r>
            <a:endParaRPr lang="en-US" sz="1150" dirty="0"/>
          </a:p>
        </p:txBody>
      </p:sp>
      <p:sp>
        <p:nvSpPr>
          <p:cNvPr id="25" name="Shape 23"/>
          <p:cNvSpPr/>
          <p:nvPr/>
        </p:nvSpPr>
        <p:spPr>
          <a:xfrm>
            <a:off x="6035040" y="3584448"/>
            <a:ext cx="5425135" cy="0"/>
          </a:xfrm>
          <a:prstGeom prst="line">
            <a:avLst/>
          </a:prstGeom>
          <a:noFill/>
          <a:ln w="9525">
            <a:solidFill>
              <a:srgbClr val="E6EAF4"/>
            </a:solidFill>
            <a:prstDash val="solid"/>
          </a:ln>
        </p:spPr>
        <p:txBody>
          <a:bodyPr/>
          <a:lstStyle/>
          <a:p>
            <a:endParaRPr lang="en-GB"/>
          </a:p>
        </p:txBody>
      </p:sp>
      <p:sp>
        <p:nvSpPr>
          <p:cNvPr id="26" name="Text 24"/>
          <p:cNvSpPr txBox="1"/>
          <p:nvPr/>
        </p:nvSpPr>
        <p:spPr>
          <a:xfrm>
            <a:off x="6236208" y="358444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Escalation rate</a:t>
            </a:r>
            <a:endParaRPr lang="en-US" sz="1150" dirty="0"/>
          </a:p>
        </p:txBody>
      </p:sp>
      <p:sp>
        <p:nvSpPr>
          <p:cNvPr id="27" name="Text 25"/>
          <p:cNvSpPr txBox="1"/>
          <p:nvPr/>
        </p:nvSpPr>
        <p:spPr>
          <a:xfrm>
            <a:off x="8747608" y="358444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12%</a:t>
            </a:r>
            <a:endParaRPr lang="en-US" sz="1150" dirty="0"/>
          </a:p>
        </p:txBody>
      </p:sp>
      <p:sp>
        <p:nvSpPr>
          <p:cNvPr id="28" name="Shape 26"/>
          <p:cNvSpPr/>
          <p:nvPr/>
        </p:nvSpPr>
        <p:spPr>
          <a:xfrm>
            <a:off x="6035040" y="4133088"/>
            <a:ext cx="5425135" cy="0"/>
          </a:xfrm>
          <a:prstGeom prst="line">
            <a:avLst/>
          </a:prstGeom>
          <a:noFill/>
          <a:ln w="9525">
            <a:solidFill>
              <a:srgbClr val="E6EAF4"/>
            </a:solidFill>
            <a:prstDash val="solid"/>
          </a:ln>
        </p:spPr>
        <p:txBody>
          <a:bodyPr/>
          <a:lstStyle/>
          <a:p>
            <a:endParaRPr lang="en-GB"/>
          </a:p>
        </p:txBody>
      </p:sp>
      <p:sp>
        <p:nvSpPr>
          <p:cNvPr id="29" name="Text 27"/>
          <p:cNvSpPr txBox="1"/>
          <p:nvPr/>
        </p:nvSpPr>
        <p:spPr>
          <a:xfrm>
            <a:off x="6236208" y="413308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CSAT</a:t>
            </a:r>
            <a:endParaRPr lang="en-US" sz="1150" dirty="0"/>
          </a:p>
        </p:txBody>
      </p:sp>
      <p:sp>
        <p:nvSpPr>
          <p:cNvPr id="30" name="Text 28"/>
          <p:cNvSpPr txBox="1"/>
          <p:nvPr/>
        </p:nvSpPr>
        <p:spPr>
          <a:xfrm>
            <a:off x="8747608" y="413308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Atlas final week (83.7)</a:t>
            </a:r>
            <a:endParaRPr lang="en-US" sz="1150" dirty="0"/>
          </a:p>
        </p:txBody>
      </p:sp>
      <p:sp>
        <p:nvSpPr>
          <p:cNvPr id="31" name="Shape 29"/>
          <p:cNvSpPr/>
          <p:nvPr/>
        </p:nvSpPr>
        <p:spPr>
          <a:xfrm>
            <a:off x="6035040" y="4681728"/>
            <a:ext cx="5425135" cy="0"/>
          </a:xfrm>
          <a:prstGeom prst="line">
            <a:avLst/>
          </a:prstGeom>
          <a:noFill/>
          <a:ln w="9525">
            <a:solidFill>
              <a:srgbClr val="E6EAF4"/>
            </a:solidFill>
            <a:prstDash val="solid"/>
          </a:ln>
        </p:spPr>
        <p:txBody>
          <a:bodyPr/>
          <a:lstStyle/>
          <a:p>
            <a:endParaRPr lang="en-GB"/>
          </a:p>
        </p:txBody>
      </p:sp>
      <p:sp>
        <p:nvSpPr>
          <p:cNvPr id="32" name="Text 30"/>
          <p:cNvSpPr txBox="1"/>
          <p:nvPr/>
        </p:nvSpPr>
        <p:spPr>
          <a:xfrm>
            <a:off x="6236208" y="468172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P95 latency</a:t>
            </a:r>
            <a:endParaRPr lang="en-US" sz="1150" dirty="0"/>
          </a:p>
        </p:txBody>
      </p:sp>
      <p:sp>
        <p:nvSpPr>
          <p:cNvPr id="33" name="Text 31"/>
          <p:cNvSpPr txBox="1"/>
          <p:nvPr/>
        </p:nvSpPr>
        <p:spPr>
          <a:xfrm>
            <a:off x="8747608" y="468172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1.3 s, held through one promotion peak</a:t>
            </a:r>
            <a:endParaRPr lang="en-US" sz="1150" dirty="0"/>
          </a:p>
        </p:txBody>
      </p:sp>
      <p:sp>
        <p:nvSpPr>
          <p:cNvPr id="34" name="pilot-criteria"/>
          <p:cNvSpPr/>
          <p:nvPr/>
        </p:nvSpPr>
        <p:spPr>
          <a:xfrm>
            <a:off x="6035040" y="2103120"/>
            <a:ext cx="5425135" cy="3127248"/>
          </a:xfrm>
          <a:prstGeom prst="roundRect">
            <a:avLst>
              <a:gd name="adj" fmla="val 3509"/>
            </a:avLst>
          </a:prstGeom>
          <a:ln w="9525">
            <a:solidFill>
              <a:srgbClr val="E6EAF4"/>
            </a:solidFill>
            <a:prstDash val="solid"/>
          </a:ln>
        </p:spPr>
        <p:txBody>
          <a:bodyPr/>
          <a:lstStyle/>
          <a:p>
            <a:endParaRPr lang="en-GB"/>
          </a:p>
        </p:txBody>
      </p:sp>
      <p:sp>
        <p:nvSpPr>
          <p:cNvPr id="35" name="Text 33"/>
          <p:cNvSpPr txBox="1"/>
          <p:nvPr/>
        </p:nvSpPr>
        <p:spPr>
          <a:xfrm>
            <a:off x="6035040" y="5394960"/>
            <a:ext cx="5425135" cy="566928"/>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Wave 2 goes ahead when one arm clears every criterion. The arm is chosen on quality, and Ridgeline’s handle-time and CSAT baselines are captured before launch so the uplift is measured directly.</a:t>
            </a:r>
            <a:endParaRPr lang="en-US" sz="1000" dirty="0"/>
          </a:p>
        </p:txBody>
      </p:sp>
      <p:sp>
        <p:nvSpPr>
          <p:cNvPr id="36"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From pilot to five brands by mid-2027</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Each step has a gate; wave 2 starts only after the pilot readout.</a:t>
            </a:r>
            <a:endParaRPr lang="en-US" sz="1300" dirty="0"/>
          </a:p>
        </p:txBody>
      </p:sp>
      <p:sp>
        <p:nvSpPr>
          <p:cNvPr id="5" name="Shape 3"/>
          <p:cNvSpPr/>
          <p:nvPr/>
        </p:nvSpPr>
        <p:spPr>
          <a:xfrm>
            <a:off x="731520" y="2368296"/>
            <a:ext cx="10728655" cy="0"/>
          </a:xfrm>
          <a:prstGeom prst="line">
            <a:avLst/>
          </a:prstGeom>
          <a:noFill/>
          <a:ln w="19050">
            <a:solidFill>
              <a:srgbClr val="E6EAF4"/>
            </a:solidFill>
            <a:prstDash val="solid"/>
          </a:ln>
        </p:spPr>
        <p:txBody>
          <a:bodyPr/>
          <a:lstStyle/>
          <a:p>
            <a:endParaRPr lang="en-GB"/>
          </a:p>
        </p:txBody>
      </p:sp>
      <p:sp>
        <p:nvSpPr>
          <p:cNvPr id="6" name="Shape 4"/>
          <p:cNvSpPr/>
          <p:nvPr/>
        </p:nvSpPr>
        <p:spPr>
          <a:xfrm>
            <a:off x="731520" y="2286000"/>
            <a:ext cx="164592" cy="164592"/>
          </a:xfrm>
          <a:prstGeom prst="rect">
            <a:avLst/>
          </a:prstGeom>
          <a:solidFill>
            <a:srgbClr val="6720FF"/>
          </a:solidFill>
          <a:ln/>
        </p:spPr>
        <p:txBody>
          <a:bodyPr/>
          <a:lstStyle/>
          <a:p>
            <a:endParaRPr lang="en-GB"/>
          </a:p>
        </p:txBody>
      </p:sp>
      <p:sp>
        <p:nvSpPr>
          <p:cNvPr id="7" name="Text 5"/>
          <p:cNvSpPr txBox="1"/>
          <p:nvPr/>
        </p:nvSpPr>
        <p:spPr>
          <a:xfrm>
            <a:off x="731520"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Oct 2026</a:t>
            </a:r>
            <a:endParaRPr lang="en-US" sz="1300" dirty="0"/>
          </a:p>
        </p:txBody>
      </p:sp>
      <p:sp>
        <p:nvSpPr>
          <p:cNvPr id="8" name="Text 6"/>
          <p:cNvSpPr txBox="1"/>
          <p:nvPr/>
        </p:nvSpPr>
        <p:spPr>
          <a:xfrm>
            <a:off x="731520"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Executive review, sponsor and dependencies</a:t>
            </a:r>
            <a:endParaRPr lang="en-US" sz="1050" dirty="0"/>
          </a:p>
        </p:txBody>
      </p:sp>
      <p:sp>
        <p:nvSpPr>
          <p:cNvPr id="9" name="Shape 7"/>
          <p:cNvSpPr/>
          <p:nvPr/>
        </p:nvSpPr>
        <p:spPr>
          <a:xfrm>
            <a:off x="2519629" y="2286000"/>
            <a:ext cx="164592" cy="164592"/>
          </a:xfrm>
          <a:prstGeom prst="rect">
            <a:avLst/>
          </a:prstGeom>
          <a:solidFill>
            <a:srgbClr val="6720FF"/>
          </a:solidFill>
          <a:ln/>
        </p:spPr>
        <p:txBody>
          <a:bodyPr/>
          <a:lstStyle/>
          <a:p>
            <a:endParaRPr lang="en-GB"/>
          </a:p>
        </p:txBody>
      </p:sp>
      <p:sp>
        <p:nvSpPr>
          <p:cNvPr id="10" name="Text 8"/>
          <p:cNvSpPr txBox="1"/>
          <p:nvPr/>
        </p:nvSpPr>
        <p:spPr>
          <a:xfrm>
            <a:off x="2519629"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Nov 2026</a:t>
            </a:r>
            <a:endParaRPr lang="en-US" sz="1300" dirty="0"/>
          </a:p>
        </p:txBody>
      </p:sp>
      <p:sp>
        <p:nvSpPr>
          <p:cNvPr id="11" name="Text 9"/>
          <p:cNvSpPr txBox="1"/>
          <p:nvPr/>
        </p:nvSpPr>
        <p:spPr>
          <a:xfrm>
            <a:off x="2519629"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Shared deployment live; Atlas parity; Ridgeline adapter</a:t>
            </a:r>
            <a:endParaRPr lang="en-US" sz="1050" dirty="0"/>
          </a:p>
        </p:txBody>
      </p:sp>
      <p:sp>
        <p:nvSpPr>
          <p:cNvPr id="12" name="Shape 10"/>
          <p:cNvSpPr/>
          <p:nvPr/>
        </p:nvSpPr>
        <p:spPr>
          <a:xfrm>
            <a:off x="4307738" y="2286000"/>
            <a:ext cx="164592" cy="164592"/>
          </a:xfrm>
          <a:prstGeom prst="rect">
            <a:avLst/>
          </a:prstGeom>
          <a:solidFill>
            <a:srgbClr val="6720FF"/>
          </a:solidFill>
          <a:ln/>
        </p:spPr>
        <p:txBody>
          <a:bodyPr/>
          <a:lstStyle/>
          <a:p>
            <a:endParaRPr lang="en-GB"/>
          </a:p>
        </p:txBody>
      </p:sp>
      <p:sp>
        <p:nvSpPr>
          <p:cNvPr id="13" name="Text 11"/>
          <p:cNvSpPr txBox="1"/>
          <p:nvPr/>
        </p:nvSpPr>
        <p:spPr>
          <a:xfrm>
            <a:off x="4307738"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Nov–Dec</a:t>
            </a:r>
            <a:endParaRPr lang="en-US" sz="1300" dirty="0"/>
          </a:p>
        </p:txBody>
      </p:sp>
      <p:sp>
        <p:nvSpPr>
          <p:cNvPr id="14" name="Text 12"/>
          <p:cNvSpPr txBox="1"/>
          <p:nvPr/>
        </p:nvSpPr>
        <p:spPr>
          <a:xfrm>
            <a:off x="4307738"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Ridgeline pilot, four weeks</a:t>
            </a:r>
            <a:endParaRPr lang="en-US" sz="1050" dirty="0"/>
          </a:p>
        </p:txBody>
      </p:sp>
      <p:sp>
        <p:nvSpPr>
          <p:cNvPr id="15" name="Shape 13"/>
          <p:cNvSpPr/>
          <p:nvPr/>
        </p:nvSpPr>
        <p:spPr>
          <a:xfrm>
            <a:off x="6095848" y="2286000"/>
            <a:ext cx="164592" cy="164592"/>
          </a:xfrm>
          <a:prstGeom prst="rect">
            <a:avLst/>
          </a:prstGeom>
          <a:solidFill>
            <a:srgbClr val="6720FF"/>
          </a:solidFill>
          <a:ln/>
        </p:spPr>
        <p:txBody>
          <a:bodyPr/>
          <a:lstStyle/>
          <a:p>
            <a:endParaRPr lang="en-GB"/>
          </a:p>
        </p:txBody>
      </p:sp>
      <p:sp>
        <p:nvSpPr>
          <p:cNvPr id="16" name="Text 14"/>
          <p:cNvSpPr txBox="1"/>
          <p:nvPr/>
        </p:nvSpPr>
        <p:spPr>
          <a:xfrm>
            <a:off x="6095848"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Jan 2027</a:t>
            </a:r>
            <a:endParaRPr lang="en-US" sz="1300" dirty="0"/>
          </a:p>
        </p:txBody>
      </p:sp>
      <p:sp>
        <p:nvSpPr>
          <p:cNvPr id="17" name="Text 15"/>
          <p:cNvSpPr txBox="1"/>
          <p:nvPr/>
        </p:nvSpPr>
        <p:spPr>
          <a:xfrm>
            <a:off x="6095848"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Readout and wave-2 decision</a:t>
            </a:r>
            <a:endParaRPr lang="en-US" sz="1050" dirty="0"/>
          </a:p>
        </p:txBody>
      </p:sp>
      <p:sp>
        <p:nvSpPr>
          <p:cNvPr id="18" name="Shape 16"/>
          <p:cNvSpPr/>
          <p:nvPr/>
        </p:nvSpPr>
        <p:spPr>
          <a:xfrm>
            <a:off x="7883957" y="2286000"/>
            <a:ext cx="164592" cy="164592"/>
          </a:xfrm>
          <a:prstGeom prst="rect">
            <a:avLst/>
          </a:prstGeom>
          <a:solidFill>
            <a:srgbClr val="E0D2FD"/>
          </a:solidFill>
          <a:ln/>
        </p:spPr>
        <p:txBody>
          <a:bodyPr/>
          <a:lstStyle/>
          <a:p>
            <a:endParaRPr lang="en-GB"/>
          </a:p>
        </p:txBody>
      </p:sp>
      <p:sp>
        <p:nvSpPr>
          <p:cNvPr id="19" name="Text 17"/>
          <p:cNvSpPr txBox="1"/>
          <p:nvPr/>
        </p:nvSpPr>
        <p:spPr>
          <a:xfrm>
            <a:off x="7883957"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Q1 2027</a:t>
            </a:r>
            <a:endParaRPr lang="en-US" sz="1300" dirty="0"/>
          </a:p>
        </p:txBody>
      </p:sp>
      <p:sp>
        <p:nvSpPr>
          <p:cNvPr id="20" name="Text 18"/>
          <p:cNvSpPr txBox="1"/>
          <p:nvPr/>
        </p:nvSpPr>
        <p:spPr>
          <a:xfrm>
            <a:off x="7883957"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Halden and Polar</a:t>
            </a:r>
            <a:endParaRPr lang="en-US" sz="1050" dirty="0"/>
          </a:p>
        </p:txBody>
      </p:sp>
      <p:sp>
        <p:nvSpPr>
          <p:cNvPr id="21" name="Shape 19"/>
          <p:cNvSpPr/>
          <p:nvPr/>
        </p:nvSpPr>
        <p:spPr>
          <a:xfrm>
            <a:off x="9672066" y="2286000"/>
            <a:ext cx="164592" cy="164592"/>
          </a:xfrm>
          <a:prstGeom prst="rect">
            <a:avLst/>
          </a:prstGeom>
          <a:solidFill>
            <a:srgbClr val="E0D2FD"/>
          </a:solidFill>
          <a:ln/>
        </p:spPr>
        <p:txBody>
          <a:bodyPr/>
          <a:lstStyle/>
          <a:p>
            <a:endParaRPr lang="en-GB"/>
          </a:p>
        </p:txBody>
      </p:sp>
      <p:sp>
        <p:nvSpPr>
          <p:cNvPr id="22" name="Text 20"/>
          <p:cNvSpPr txBox="1"/>
          <p:nvPr/>
        </p:nvSpPr>
        <p:spPr>
          <a:xfrm>
            <a:off x="9672066"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Q2 2027</a:t>
            </a:r>
            <a:endParaRPr lang="en-US" sz="1300" dirty="0"/>
          </a:p>
        </p:txBody>
      </p:sp>
      <p:sp>
        <p:nvSpPr>
          <p:cNvPr id="23" name="Text 21"/>
          <p:cNvSpPr txBox="1"/>
          <p:nvPr/>
        </p:nvSpPr>
        <p:spPr>
          <a:xfrm>
            <a:off x="9672066"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Harbour &amp; Hide</a:t>
            </a:r>
            <a:endParaRPr lang="en-US" sz="1050" dirty="0"/>
          </a:p>
        </p:txBody>
      </p:sp>
      <p:sp>
        <p:nvSpPr>
          <p:cNvPr id="24" name="budget-1"/>
          <p:cNvSpPr/>
          <p:nvPr/>
        </p:nvSpPr>
        <p:spPr>
          <a:xfrm>
            <a:off x="731520" y="3794760"/>
            <a:ext cx="3393338" cy="1783080"/>
          </a:xfrm>
          <a:prstGeom prst="roundRect">
            <a:avLst>
              <a:gd name="adj" fmla="val 6154"/>
            </a:avLst>
          </a:prstGeom>
          <a:solidFill>
            <a:srgbClr val="FAF7FF"/>
          </a:solidFill>
          <a:ln w="9525">
            <a:solidFill>
              <a:srgbClr val="E6EAF4"/>
            </a:solidFill>
            <a:prstDash val="solid"/>
          </a:ln>
        </p:spPr>
        <p:txBody>
          <a:bodyPr/>
          <a:lstStyle/>
          <a:p>
            <a:endParaRPr lang="en-GB"/>
          </a:p>
        </p:txBody>
      </p:sp>
      <p:sp>
        <p:nvSpPr>
          <p:cNvPr id="25" name="Text 23"/>
          <p:cNvSpPr txBox="1"/>
          <p:nvPr/>
        </p:nvSpPr>
        <p:spPr>
          <a:xfrm>
            <a:off x="960120"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Pilot window</a:t>
            </a:r>
            <a:endParaRPr lang="en-US" sz="1050" dirty="0"/>
          </a:p>
        </p:txBody>
      </p:sp>
      <p:sp>
        <p:nvSpPr>
          <p:cNvPr id="26" name="Text 24"/>
          <p:cNvSpPr txBox="1"/>
          <p:nvPr/>
        </p:nvSpPr>
        <p:spPr>
          <a:xfrm>
            <a:off x="960120"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Approx. $5,800–$8,800/month for the shared deployment, billed as dedicated capacity (EU-only placement is the upper figure). Adapter training cost is immaterial.</a:t>
            </a:r>
            <a:endParaRPr lang="en-US" sz="1150" dirty="0"/>
          </a:p>
        </p:txBody>
      </p:sp>
      <p:sp>
        <p:nvSpPr>
          <p:cNvPr id="27" name="budget-2"/>
          <p:cNvSpPr/>
          <p:nvPr/>
        </p:nvSpPr>
        <p:spPr>
          <a:xfrm>
            <a:off x="4399178" y="3794760"/>
            <a:ext cx="3393338" cy="1783080"/>
          </a:xfrm>
          <a:prstGeom prst="roundRect">
            <a:avLst>
              <a:gd name="adj" fmla="val 6154"/>
            </a:avLst>
          </a:prstGeom>
          <a:solidFill>
            <a:srgbClr val="FAF7FF"/>
          </a:solidFill>
          <a:ln w="9525">
            <a:solidFill>
              <a:srgbClr val="E6EAF4"/>
            </a:solidFill>
            <a:prstDash val="solid"/>
          </a:ln>
        </p:spPr>
        <p:txBody>
          <a:bodyPr/>
          <a:lstStyle/>
          <a:p>
            <a:endParaRPr lang="en-GB"/>
          </a:p>
        </p:txBody>
      </p:sp>
      <p:sp>
        <p:nvSpPr>
          <p:cNvPr id="28" name="Text 26"/>
          <p:cNvSpPr txBox="1"/>
          <p:nvPr/>
        </p:nvSpPr>
        <p:spPr>
          <a:xfrm>
            <a:off x="4627778"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Steady state</a:t>
            </a:r>
            <a:endParaRPr lang="en-US" sz="1050" dirty="0"/>
          </a:p>
        </p:txBody>
      </p:sp>
      <p:sp>
        <p:nvSpPr>
          <p:cNvPr id="29" name="Text 27"/>
          <p:cNvSpPr txBox="1"/>
          <p:nvPr/>
        </p:nvSpPr>
        <p:spPr>
          <a:xfrm>
            <a:off x="4627778"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One always-on deployment shared by Atlas, Ridgeline, Polar and Harbour &amp; Hide; a second for Halden once its volume justifies it. Replica count is sized from a load benchmark.</a:t>
            </a:r>
            <a:endParaRPr lang="en-US" sz="1150" dirty="0"/>
          </a:p>
        </p:txBody>
      </p:sp>
      <p:sp>
        <p:nvSpPr>
          <p:cNvPr id="30" name="budget-3"/>
          <p:cNvSpPr/>
          <p:nvPr/>
        </p:nvSpPr>
        <p:spPr>
          <a:xfrm>
            <a:off x="8066837" y="3794760"/>
            <a:ext cx="3393338" cy="1783080"/>
          </a:xfrm>
          <a:prstGeom prst="roundRect">
            <a:avLst>
              <a:gd name="adj" fmla="val 6154"/>
            </a:avLst>
          </a:prstGeom>
          <a:solidFill>
            <a:srgbClr val="FAF7FF"/>
          </a:solidFill>
          <a:ln w="9525">
            <a:solidFill>
              <a:srgbClr val="E6EAF4"/>
            </a:solidFill>
            <a:prstDash val="solid"/>
          </a:ln>
        </p:spPr>
        <p:txBody>
          <a:bodyPr/>
          <a:lstStyle/>
          <a:p>
            <a:endParaRPr lang="en-GB"/>
          </a:p>
        </p:txBody>
      </p:sp>
      <p:sp>
        <p:nvSpPr>
          <p:cNvPr id="31" name="Text 29"/>
          <p:cNvSpPr txBox="1"/>
          <p:nvPr/>
        </p:nvSpPr>
        <p:spPr>
          <a:xfrm>
            <a:off x="8295437"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Migration overlap</a:t>
            </a:r>
            <a:endParaRPr lang="en-US" sz="1050" dirty="0"/>
          </a:p>
        </p:txBody>
      </p:sp>
      <p:sp>
        <p:nvSpPr>
          <p:cNvPr id="32" name="Text 30"/>
          <p:cNvSpPr txBox="1"/>
          <p:nvPr/>
        </p:nvSpPr>
        <p:spPr>
          <a:xfrm>
            <a:off x="8295437"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Atlas runs on both deployments while it moves over, with rollback at every step. Budgeted in weeks, not months.</a:t>
            </a:r>
            <a:endParaRPr lang="en-US" sz="1150" dirty="0"/>
          </a:p>
        </p:txBody>
      </p:sp>
      <p:sp>
        <p:nvSpPr>
          <p:cNvPr id="33" name="Text 31"/>
          <p:cNvSpPr txBox="1"/>
          <p:nvPr/>
        </p:nvSpPr>
        <p:spPr>
          <a:xfrm>
            <a:off x="731520" y="5742432"/>
            <a:ext cx="10728655" cy="2286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Capacity figures at Fireworks list rates as of 5 Oct 2026; contracted terms may differ.</a:t>
            </a:r>
            <a:endParaRPr lang="en-US" sz="950" dirty="0"/>
          </a:p>
        </p:txBody>
      </p:sp>
      <p:sp>
        <p:nvSpPr>
          <p:cNvPr id="34"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Biggest risk: the rollout stalls at one brand</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The risk is commercial and organisational rather than technical: month one worked, but no one owns the rollout above brand level yet.</a:t>
            </a:r>
            <a:endParaRPr lang="en-US" sz="1300" dirty="0"/>
          </a:p>
        </p:txBody>
      </p:sp>
      <p:sp>
        <p:nvSpPr>
          <p:cNvPr id="5" name="biggest-risk"/>
          <p:cNvSpPr/>
          <p:nvPr/>
        </p:nvSpPr>
        <p:spPr>
          <a:xfrm>
            <a:off x="731520" y="2080116"/>
            <a:ext cx="5120640" cy="3977640"/>
          </a:xfrm>
          <a:prstGeom prst="roundRect">
            <a:avLst>
              <a:gd name="adj" fmla="val 2759"/>
            </a:avLst>
          </a:prstGeom>
          <a:solidFill>
            <a:srgbClr val="FAF7FF"/>
          </a:solidFill>
          <a:ln w="9525">
            <a:solidFill>
              <a:srgbClr val="E6EAF4"/>
            </a:solidFill>
            <a:prstDash val="solid"/>
          </a:ln>
        </p:spPr>
        <p:txBody>
          <a:bodyPr/>
          <a:lstStyle/>
          <a:p>
            <a:endParaRPr lang="en-GB"/>
          </a:p>
        </p:txBody>
      </p:sp>
      <p:sp>
        <p:nvSpPr>
          <p:cNvPr id="8" name="Text 6"/>
          <p:cNvSpPr txBox="1"/>
          <p:nvPr/>
        </p:nvSpPr>
        <p:spPr>
          <a:xfrm>
            <a:off x="987552" y="2304288"/>
            <a:ext cx="4608576" cy="1188720"/>
          </a:xfrm>
          <a:prstGeom prst="rect">
            <a:avLst/>
          </a:prstGeom>
          <a:noFill/>
          <a:ln/>
        </p:spPr>
        <p:txBody>
          <a:bodyPr wrap="square" lIns="0" tIns="0" rIns="0" bIns="0" rtlCol="0" anchor="t"/>
          <a:lstStyle/>
          <a:p>
            <a:pPr marL="0" indent="0">
              <a:buNone/>
            </a:pPr>
            <a:r>
              <a:rPr lang="en-US" sz="1600" dirty="0">
                <a:solidFill>
                  <a:srgbClr val="16181D"/>
                </a:solidFill>
                <a:latin typeface="Inter Medium" pitchFamily="34" charset="0"/>
                <a:ea typeface="Inter Medium" pitchFamily="34" charset="-122"/>
                <a:cs typeface="Inter Medium" pitchFamily="34" charset="-120"/>
              </a:rPr>
              <a:t>Without group-level sponsorship the rollout stays with Atlas, and shared capacity never carries enough volume to make per-brand cost efficient.</a:t>
            </a:r>
            <a:endParaRPr lang="en-US" sz="1600" dirty="0"/>
          </a:p>
        </p:txBody>
      </p:sp>
      <p:sp>
        <p:nvSpPr>
          <p:cNvPr id="9" name="Text 7"/>
          <p:cNvSpPr txBox="1"/>
          <p:nvPr/>
        </p:nvSpPr>
        <p:spPr>
          <a:xfrm>
            <a:off x="987552" y="3582093"/>
            <a:ext cx="2743200"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Why it matters</a:t>
            </a:r>
            <a:endParaRPr lang="en-US" sz="1050" dirty="0"/>
          </a:p>
        </p:txBody>
      </p:sp>
      <p:sp>
        <p:nvSpPr>
          <p:cNvPr id="10" name="Shape 8"/>
          <p:cNvSpPr/>
          <p:nvPr/>
        </p:nvSpPr>
        <p:spPr>
          <a:xfrm>
            <a:off x="1005840" y="3989145"/>
            <a:ext cx="100584" cy="100584"/>
          </a:xfrm>
          <a:prstGeom prst="rect">
            <a:avLst/>
          </a:prstGeom>
          <a:solidFill>
            <a:schemeClr val="tx1"/>
          </a:solidFill>
          <a:ln/>
        </p:spPr>
        <p:txBody>
          <a:bodyPr/>
          <a:lstStyle/>
          <a:p>
            <a:endParaRPr lang="en-GB"/>
          </a:p>
        </p:txBody>
      </p:sp>
      <p:sp>
        <p:nvSpPr>
          <p:cNvPr id="11" name="Text 9"/>
          <p:cNvSpPr txBox="1"/>
          <p:nvPr/>
        </p:nvSpPr>
        <p:spPr>
          <a:xfrm>
            <a:off x="1261872" y="3902133"/>
            <a:ext cx="4297680" cy="457200"/>
          </a:xfrm>
          <a:prstGeom prst="rect">
            <a:avLst/>
          </a:prstGeom>
          <a:noFill/>
          <a:ln/>
        </p:spPr>
        <p:txBody>
          <a:bodyPr wrap="square" lIns="0" tIns="0" rIns="0" bIns="0" rtlCol="0" anchor="t"/>
          <a:lstStyle/>
          <a:p>
            <a:pPr marL="0" indent="0">
              <a:buNone/>
            </a:pPr>
            <a:r>
              <a:rPr lang="en-US" sz="1100" dirty="0">
                <a:solidFill>
                  <a:srgbClr val="28282E"/>
                </a:solidFill>
                <a:latin typeface="Inter" pitchFamily="34" charset="0"/>
                <a:ea typeface="Inter" pitchFamily="34" charset="-122"/>
                <a:cs typeface="Inter" pitchFamily="34" charset="-120"/>
              </a:rPr>
              <a:t>Always-on capacity stays a single-brand cost (approx. $5,800/month) rather than $1,200–$1,800 per brand shared.</a:t>
            </a:r>
            <a:endParaRPr lang="en-US" sz="1100" dirty="0"/>
          </a:p>
        </p:txBody>
      </p:sp>
      <p:sp>
        <p:nvSpPr>
          <p:cNvPr id="12" name="Shape 10"/>
          <p:cNvSpPr/>
          <p:nvPr/>
        </p:nvSpPr>
        <p:spPr>
          <a:xfrm>
            <a:off x="1005840" y="4537785"/>
            <a:ext cx="100584" cy="100584"/>
          </a:xfrm>
          <a:prstGeom prst="rect">
            <a:avLst/>
          </a:prstGeom>
          <a:solidFill>
            <a:schemeClr val="tx1"/>
          </a:solidFill>
          <a:ln/>
        </p:spPr>
        <p:txBody>
          <a:bodyPr/>
          <a:lstStyle/>
          <a:p>
            <a:endParaRPr lang="en-GB"/>
          </a:p>
        </p:txBody>
      </p:sp>
      <p:sp>
        <p:nvSpPr>
          <p:cNvPr id="13" name="Text 11"/>
          <p:cNvSpPr txBox="1"/>
          <p:nvPr/>
        </p:nvSpPr>
        <p:spPr>
          <a:xfrm>
            <a:off x="1261872" y="4450773"/>
            <a:ext cx="4297680" cy="457200"/>
          </a:xfrm>
          <a:prstGeom prst="rect">
            <a:avLst/>
          </a:prstGeom>
          <a:noFill/>
          <a:ln/>
        </p:spPr>
        <p:txBody>
          <a:bodyPr wrap="square" lIns="0" tIns="0" rIns="0" bIns="0" rtlCol="0" anchor="t"/>
          <a:lstStyle/>
          <a:p>
            <a:pPr marL="0" indent="0">
              <a:buNone/>
            </a:pPr>
            <a:r>
              <a:rPr lang="en-US" sz="1100" dirty="0">
                <a:solidFill>
                  <a:srgbClr val="28282E"/>
                </a:solidFill>
                <a:latin typeface="Inter" pitchFamily="34" charset="0"/>
                <a:ea typeface="Inter" pitchFamily="34" charset="-122"/>
                <a:cs typeface="Inter" pitchFamily="34" charset="-120"/>
              </a:rPr>
              <a:t>The four sister brands, with most of the group’s Tier-1 volume, don’t get the gains Atlas has shown.</a:t>
            </a:r>
            <a:endParaRPr lang="en-US" sz="1100" dirty="0"/>
          </a:p>
        </p:txBody>
      </p:sp>
      <p:sp>
        <p:nvSpPr>
          <p:cNvPr id="14" name="Shape 12"/>
          <p:cNvSpPr/>
          <p:nvPr/>
        </p:nvSpPr>
        <p:spPr>
          <a:xfrm>
            <a:off x="1005840" y="5086425"/>
            <a:ext cx="100584" cy="100584"/>
          </a:xfrm>
          <a:prstGeom prst="rect">
            <a:avLst/>
          </a:prstGeom>
          <a:solidFill>
            <a:schemeClr val="tx1"/>
          </a:solidFill>
          <a:ln/>
        </p:spPr>
        <p:txBody>
          <a:bodyPr/>
          <a:lstStyle/>
          <a:p>
            <a:endParaRPr lang="en-GB"/>
          </a:p>
        </p:txBody>
      </p:sp>
      <p:sp>
        <p:nvSpPr>
          <p:cNvPr id="15" name="Text 13"/>
          <p:cNvSpPr txBox="1"/>
          <p:nvPr/>
        </p:nvSpPr>
        <p:spPr>
          <a:xfrm>
            <a:off x="1261872" y="4999413"/>
            <a:ext cx="4297680" cy="457200"/>
          </a:xfrm>
          <a:prstGeom prst="rect">
            <a:avLst/>
          </a:prstGeom>
          <a:noFill/>
          <a:ln/>
        </p:spPr>
        <p:txBody>
          <a:bodyPr wrap="square" lIns="0" tIns="0" rIns="0" bIns="0" rtlCol="0" anchor="t"/>
          <a:lstStyle/>
          <a:p>
            <a:pPr marL="0" indent="0">
              <a:buNone/>
            </a:pPr>
            <a:r>
              <a:rPr lang="en-US" sz="1100" dirty="0">
                <a:solidFill>
                  <a:srgbClr val="28282E"/>
                </a:solidFill>
                <a:latin typeface="Inter" pitchFamily="34" charset="0"/>
                <a:ea typeface="Inter" pitchFamily="34" charset="-122"/>
                <a:cs typeface="Inter" pitchFamily="34" charset="-120"/>
              </a:rPr>
              <a:t>Each brand would make its own platform decision, so the group ends up with several tools to run at a meaningfully higher cost.</a:t>
            </a:r>
            <a:endParaRPr lang="en-US" sz="1100" dirty="0"/>
          </a:p>
        </p:txBody>
      </p:sp>
      <p:sp>
        <p:nvSpPr>
          <p:cNvPr id="16" name="mitigation"/>
          <p:cNvSpPr/>
          <p:nvPr/>
        </p:nvSpPr>
        <p:spPr>
          <a:xfrm>
            <a:off x="6172200" y="2103120"/>
            <a:ext cx="5287975" cy="3977640"/>
          </a:xfrm>
          <a:prstGeom prst="roundRect">
            <a:avLst>
              <a:gd name="adj" fmla="val 2759"/>
            </a:avLst>
          </a:prstGeom>
          <a:solidFill>
            <a:srgbClr val="FFFFFF"/>
          </a:solidFill>
          <a:ln w="9525">
            <a:solidFill>
              <a:srgbClr val="E6EAF4"/>
            </a:solidFill>
            <a:prstDash val="solid"/>
          </a:ln>
        </p:spPr>
        <p:txBody>
          <a:bodyPr/>
          <a:lstStyle/>
          <a:p>
            <a:endParaRPr lang="en-GB"/>
          </a:p>
        </p:txBody>
      </p:sp>
      <p:sp>
        <p:nvSpPr>
          <p:cNvPr id="17" name="Text 15"/>
          <p:cNvSpPr txBox="1"/>
          <p:nvPr/>
        </p:nvSpPr>
        <p:spPr>
          <a:xfrm>
            <a:off x="6428232" y="2359152"/>
            <a:ext cx="2743200"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How we mitigate it</a:t>
            </a:r>
            <a:endParaRPr lang="en-US" sz="1050" dirty="0"/>
          </a:p>
        </p:txBody>
      </p:sp>
      <p:sp>
        <p:nvSpPr>
          <p:cNvPr id="18" name="Shape 16"/>
          <p:cNvSpPr/>
          <p:nvPr/>
        </p:nvSpPr>
        <p:spPr>
          <a:xfrm>
            <a:off x="6446520" y="2889504"/>
            <a:ext cx="109728" cy="109728"/>
          </a:xfrm>
          <a:prstGeom prst="rect">
            <a:avLst/>
          </a:prstGeom>
          <a:solidFill>
            <a:srgbClr val="6720FF"/>
          </a:solidFill>
          <a:ln/>
        </p:spPr>
        <p:txBody>
          <a:bodyPr/>
          <a:lstStyle/>
          <a:p>
            <a:endParaRPr lang="en-GB"/>
          </a:p>
        </p:txBody>
      </p:sp>
      <p:sp>
        <p:nvSpPr>
          <p:cNvPr id="19" name="Text 17"/>
          <p:cNvSpPr txBox="1"/>
          <p:nvPr/>
        </p:nvSpPr>
        <p:spPr>
          <a:xfrm>
            <a:off x="6720840" y="2816352"/>
            <a:ext cx="3550615" cy="2743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Name a group sponsor at this review</a:t>
            </a:r>
            <a:endParaRPr lang="en-US" sz="1300" dirty="0"/>
          </a:p>
        </p:txBody>
      </p:sp>
      <p:sp>
        <p:nvSpPr>
          <p:cNvPr id="20" name="Text 18"/>
          <p:cNvSpPr txBox="1"/>
          <p:nvPr/>
        </p:nvSpPr>
        <p:spPr>
          <a:xfrm>
            <a:off x="10271455" y="2816352"/>
            <a:ext cx="932688" cy="274320"/>
          </a:xfrm>
          <a:prstGeom prst="rect">
            <a:avLst/>
          </a:prstGeom>
          <a:noFill/>
          <a:ln/>
        </p:spPr>
        <p:txBody>
          <a:bodyPr wrap="square" lIns="0" tIns="0" rIns="0" bIns="0" rtlCol="0" anchor="t"/>
          <a:lstStyle/>
          <a:p>
            <a:pPr marL="0" indent="0" algn="r">
              <a:buNone/>
            </a:pPr>
            <a:r>
              <a:rPr lang="en-US" sz="1100" dirty="0">
                <a:solidFill>
                  <a:srgbClr val="501BC4"/>
                </a:solidFill>
                <a:latin typeface="Inter Medium" pitchFamily="34" charset="0"/>
                <a:ea typeface="Inter Medium" pitchFamily="34" charset="-122"/>
                <a:cs typeface="Inter Medium" pitchFamily="34" charset="-120"/>
              </a:rPr>
              <a:t>22 Oct</a:t>
            </a:r>
            <a:endParaRPr lang="en-US" sz="1100" dirty="0"/>
          </a:p>
        </p:txBody>
      </p:sp>
      <p:sp>
        <p:nvSpPr>
          <p:cNvPr id="21" name="Text 19"/>
          <p:cNvSpPr txBox="1"/>
          <p:nvPr/>
        </p:nvSpPr>
        <p:spPr>
          <a:xfrm>
            <a:off x="6720840" y="3127248"/>
            <a:ext cx="4465015" cy="5791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Someone above brand level who owns the rollout and the wave-2 decision.</a:t>
            </a:r>
            <a:endParaRPr lang="en-US" sz="1100" dirty="0"/>
          </a:p>
        </p:txBody>
      </p:sp>
      <p:sp>
        <p:nvSpPr>
          <p:cNvPr id="22" name="Shape 20"/>
          <p:cNvSpPr/>
          <p:nvPr/>
        </p:nvSpPr>
        <p:spPr>
          <a:xfrm>
            <a:off x="6428232" y="3797808"/>
            <a:ext cx="4775911" cy="0"/>
          </a:xfrm>
          <a:prstGeom prst="line">
            <a:avLst/>
          </a:prstGeom>
          <a:noFill/>
          <a:ln w="9525">
            <a:solidFill>
              <a:srgbClr val="E6EAF4"/>
            </a:solidFill>
            <a:prstDash val="solid"/>
          </a:ln>
        </p:spPr>
        <p:txBody>
          <a:bodyPr/>
          <a:lstStyle/>
          <a:p>
            <a:endParaRPr lang="en-GB"/>
          </a:p>
        </p:txBody>
      </p:sp>
      <p:sp>
        <p:nvSpPr>
          <p:cNvPr id="23" name="Shape 21"/>
          <p:cNvSpPr/>
          <p:nvPr/>
        </p:nvSpPr>
        <p:spPr>
          <a:xfrm>
            <a:off x="6446520" y="4017264"/>
            <a:ext cx="109728" cy="109728"/>
          </a:xfrm>
          <a:prstGeom prst="rect">
            <a:avLst/>
          </a:prstGeom>
          <a:solidFill>
            <a:srgbClr val="6720FF"/>
          </a:solidFill>
          <a:ln/>
        </p:spPr>
        <p:txBody>
          <a:bodyPr/>
          <a:lstStyle/>
          <a:p>
            <a:endParaRPr lang="en-GB"/>
          </a:p>
        </p:txBody>
      </p:sp>
      <p:sp>
        <p:nvSpPr>
          <p:cNvPr id="24" name="Text 22"/>
          <p:cNvSpPr txBox="1"/>
          <p:nvPr/>
        </p:nvSpPr>
        <p:spPr>
          <a:xfrm>
            <a:off x="6720840" y="3944112"/>
            <a:ext cx="3550615" cy="2743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Agree the Ridgeline pilot criteria together</a:t>
            </a:r>
            <a:endParaRPr lang="en-US" sz="1300" dirty="0"/>
          </a:p>
        </p:txBody>
      </p:sp>
      <p:sp>
        <p:nvSpPr>
          <p:cNvPr id="25" name="Text 23"/>
          <p:cNvSpPr txBox="1"/>
          <p:nvPr/>
        </p:nvSpPr>
        <p:spPr>
          <a:xfrm>
            <a:off x="10271455" y="3944112"/>
            <a:ext cx="932688" cy="274320"/>
          </a:xfrm>
          <a:prstGeom prst="rect">
            <a:avLst/>
          </a:prstGeom>
          <a:noFill/>
          <a:ln/>
        </p:spPr>
        <p:txBody>
          <a:bodyPr wrap="square" lIns="0" tIns="0" rIns="0" bIns="0" rtlCol="0" anchor="t"/>
          <a:lstStyle/>
          <a:p>
            <a:pPr marL="0" indent="0" algn="r">
              <a:buNone/>
            </a:pPr>
            <a:r>
              <a:rPr lang="en-US" sz="1100" dirty="0">
                <a:solidFill>
                  <a:srgbClr val="501BC4"/>
                </a:solidFill>
                <a:latin typeface="Inter Medium" pitchFamily="34" charset="0"/>
                <a:ea typeface="Inter Medium" pitchFamily="34" charset="-122"/>
                <a:cs typeface="Inter Medium" pitchFamily="34" charset="-120"/>
              </a:rPr>
              <a:t>22 Oct</a:t>
            </a:r>
            <a:endParaRPr lang="en-US" sz="1100" dirty="0"/>
          </a:p>
        </p:txBody>
      </p:sp>
      <p:sp>
        <p:nvSpPr>
          <p:cNvPr id="26" name="Text 24"/>
          <p:cNvSpPr txBox="1"/>
          <p:nvPr/>
        </p:nvSpPr>
        <p:spPr>
          <a:xfrm>
            <a:off x="6720840" y="4255008"/>
            <a:ext cx="4465015" cy="5791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Success is defined jointly up front, so the readout is a decision rather than a debate.</a:t>
            </a:r>
            <a:endParaRPr lang="en-US" sz="1100" dirty="0"/>
          </a:p>
        </p:txBody>
      </p:sp>
      <p:sp>
        <p:nvSpPr>
          <p:cNvPr id="27" name="Shape 25"/>
          <p:cNvSpPr/>
          <p:nvPr/>
        </p:nvSpPr>
        <p:spPr>
          <a:xfrm>
            <a:off x="6428232" y="4925568"/>
            <a:ext cx="4775911" cy="0"/>
          </a:xfrm>
          <a:prstGeom prst="line">
            <a:avLst/>
          </a:prstGeom>
          <a:noFill/>
          <a:ln w="9525">
            <a:solidFill>
              <a:srgbClr val="E6EAF4"/>
            </a:solidFill>
            <a:prstDash val="solid"/>
          </a:ln>
        </p:spPr>
        <p:txBody>
          <a:bodyPr/>
          <a:lstStyle/>
          <a:p>
            <a:endParaRPr lang="en-GB"/>
          </a:p>
        </p:txBody>
      </p:sp>
      <p:sp>
        <p:nvSpPr>
          <p:cNvPr id="28" name="Shape 26"/>
          <p:cNvSpPr/>
          <p:nvPr/>
        </p:nvSpPr>
        <p:spPr>
          <a:xfrm>
            <a:off x="6446520" y="5145024"/>
            <a:ext cx="109728" cy="109728"/>
          </a:xfrm>
          <a:prstGeom prst="rect">
            <a:avLst/>
          </a:prstGeom>
          <a:solidFill>
            <a:srgbClr val="6720FF"/>
          </a:solidFill>
          <a:ln/>
        </p:spPr>
        <p:txBody>
          <a:bodyPr/>
          <a:lstStyle/>
          <a:p>
            <a:endParaRPr lang="en-GB"/>
          </a:p>
        </p:txBody>
      </p:sp>
      <p:sp>
        <p:nvSpPr>
          <p:cNvPr id="29" name="Text 27"/>
          <p:cNvSpPr txBox="1"/>
          <p:nvPr/>
        </p:nvSpPr>
        <p:spPr>
          <a:xfrm>
            <a:off x="6720840" y="5071872"/>
            <a:ext cx="3550615" cy="2743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Size shared capacity with a second brand</a:t>
            </a:r>
            <a:endParaRPr lang="en-US" sz="1300" dirty="0"/>
          </a:p>
        </p:txBody>
      </p:sp>
      <p:sp>
        <p:nvSpPr>
          <p:cNvPr id="30" name="Text 28"/>
          <p:cNvSpPr txBox="1"/>
          <p:nvPr/>
        </p:nvSpPr>
        <p:spPr>
          <a:xfrm>
            <a:off x="10271455" y="5071872"/>
            <a:ext cx="932688" cy="274320"/>
          </a:xfrm>
          <a:prstGeom prst="rect">
            <a:avLst/>
          </a:prstGeom>
          <a:noFill/>
          <a:ln/>
        </p:spPr>
        <p:txBody>
          <a:bodyPr wrap="square" lIns="0" tIns="0" rIns="0" bIns="0" rtlCol="0" anchor="t"/>
          <a:lstStyle/>
          <a:p>
            <a:pPr marL="0" indent="0" algn="r">
              <a:buNone/>
            </a:pPr>
            <a:r>
              <a:rPr lang="en-US" sz="1100" dirty="0">
                <a:solidFill>
                  <a:srgbClr val="501BC4"/>
                </a:solidFill>
                <a:latin typeface="Inter Medium" pitchFamily="34" charset="0"/>
                <a:ea typeface="Inter Medium" pitchFamily="34" charset="-122"/>
                <a:cs typeface="Inter Medium" pitchFamily="34" charset="-120"/>
              </a:rPr>
              <a:t>Nov 2026</a:t>
            </a:r>
            <a:endParaRPr lang="en-US" sz="1100" dirty="0"/>
          </a:p>
        </p:txBody>
      </p:sp>
      <p:sp>
        <p:nvSpPr>
          <p:cNvPr id="31" name="Text 29"/>
          <p:cNvSpPr txBox="1"/>
          <p:nvPr/>
        </p:nvSpPr>
        <p:spPr>
          <a:xfrm>
            <a:off x="6720840" y="5382768"/>
            <a:ext cx="4465015" cy="5791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Capacity is committed with Ridgeline from a load benchmark, never for Atlas alone.</a:t>
            </a:r>
            <a:endParaRPr lang="en-US" sz="1100" dirty="0"/>
          </a:p>
        </p:txBody>
      </p:sp>
      <p:sp>
        <p:nvSpPr>
          <p:cNvPr id="32"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 xmlns:ma14="http://schemas.microsoft.com/office/mac/drawingml/2011/main"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1"/>
          <p:cNvSpPr txBox="1"/>
          <p:nvPr/>
        </p:nvSpPr>
        <p:spPr>
          <a:xfrm>
            <a:off x="731520" y="1371600"/>
            <a:ext cx="5486400" cy="914400"/>
          </a:xfrm>
          <a:prstGeom prst="rect">
            <a:avLst/>
          </a:prstGeom>
          <a:noFill/>
          <a:ln/>
        </p:spPr>
        <p:txBody>
          <a:bodyPr wrap="square" lIns="0" tIns="0" rIns="0" bIns="0" rtlCol="0" anchor="t"/>
          <a:lstStyle/>
          <a:p>
            <a:pPr marL="0" indent="0">
              <a:buNone/>
            </a:pPr>
            <a:r>
              <a:rPr lang="en-US" sz="5400" kern="0" spc="-220" dirty="0">
                <a:solidFill>
                  <a:srgbClr val="16181D"/>
                </a:solidFill>
                <a:latin typeface="Inter Medium" pitchFamily="34" charset="0"/>
                <a:ea typeface="Inter Medium" pitchFamily="34" charset="-122"/>
                <a:cs typeface="Inter Medium" pitchFamily="34" charset="-120"/>
              </a:rPr>
              <a:t>Thank you</a:t>
            </a:r>
            <a:endParaRPr lang="en-US" sz="5400" dirty="0"/>
          </a:p>
        </p:txBody>
      </p:sp>
      <p:sp>
        <p:nvSpPr>
          <p:cNvPr id="4" name="Text 2"/>
          <p:cNvSpPr txBox="1"/>
          <p:nvPr/>
        </p:nvSpPr>
        <p:spPr>
          <a:xfrm>
            <a:off x="731520" y="2331720"/>
            <a:ext cx="5486400" cy="411480"/>
          </a:xfrm>
          <a:prstGeom prst="rect">
            <a:avLst/>
          </a:prstGeom>
          <a:noFill/>
          <a:ln/>
        </p:spPr>
        <p:txBody>
          <a:bodyPr wrap="square" lIns="0" tIns="0" rIns="0" bIns="0" rtlCol="0" anchor="t"/>
          <a:lstStyle/>
          <a:p>
            <a:pPr marL="0" indent="0">
              <a:buNone/>
            </a:pPr>
            <a:r>
              <a:rPr lang="en-US" sz="2000" dirty="0">
                <a:solidFill>
                  <a:srgbClr val="5A5E63"/>
                </a:solidFill>
                <a:latin typeface="Inter" pitchFamily="34" charset="0"/>
                <a:ea typeface="Inter" pitchFamily="34" charset="-122"/>
                <a:cs typeface="Inter" pitchFamily="34" charset="-120"/>
              </a:rPr>
              <a:t>Q&amp;A</a:t>
            </a:r>
            <a:endParaRPr lang="en-US" sz="2000" dirty="0"/>
          </a:p>
        </p:txBody>
      </p:sp>
      <p:sp>
        <p:nvSpPr>
          <p:cNvPr id="5" name="Shape 3"/>
          <p:cNvSpPr/>
          <p:nvPr/>
        </p:nvSpPr>
        <p:spPr>
          <a:xfrm>
            <a:off x="1865376" y="3785616"/>
            <a:ext cx="219456" cy="219456"/>
          </a:xfrm>
          <a:prstGeom prst="rect">
            <a:avLst/>
          </a:prstGeom>
          <a:solidFill>
            <a:srgbClr val="6720FF"/>
          </a:solidFill>
          <a:ln/>
        </p:spPr>
        <p:txBody>
          <a:bodyPr/>
          <a:lstStyle/>
          <a:p>
            <a:endParaRPr lang="en-GB"/>
          </a:p>
        </p:txBody>
      </p:sp>
      <p:sp>
        <p:nvSpPr>
          <p:cNvPr id="6" name="Shape 4"/>
          <p:cNvSpPr/>
          <p:nvPr/>
        </p:nvSpPr>
        <p:spPr>
          <a:xfrm>
            <a:off x="2148840" y="3785616"/>
            <a:ext cx="219456" cy="219456"/>
          </a:xfrm>
          <a:prstGeom prst="rect">
            <a:avLst/>
          </a:prstGeom>
          <a:solidFill>
            <a:srgbClr val="6720FF"/>
          </a:solidFill>
          <a:ln/>
        </p:spPr>
        <p:txBody>
          <a:bodyPr/>
          <a:lstStyle/>
          <a:p>
            <a:endParaRPr lang="en-GB"/>
          </a:p>
        </p:txBody>
      </p:sp>
      <p:sp>
        <p:nvSpPr>
          <p:cNvPr id="7" name="Shape 5"/>
          <p:cNvSpPr/>
          <p:nvPr/>
        </p:nvSpPr>
        <p:spPr>
          <a:xfrm>
            <a:off x="1581912" y="4069080"/>
            <a:ext cx="219456" cy="219456"/>
          </a:xfrm>
          <a:prstGeom prst="rect">
            <a:avLst/>
          </a:prstGeom>
          <a:solidFill>
            <a:srgbClr val="6720FF"/>
          </a:solidFill>
          <a:ln/>
        </p:spPr>
        <p:txBody>
          <a:bodyPr/>
          <a:lstStyle/>
          <a:p>
            <a:endParaRPr lang="en-GB"/>
          </a:p>
        </p:txBody>
      </p:sp>
      <p:sp>
        <p:nvSpPr>
          <p:cNvPr id="8" name="Shape 6"/>
          <p:cNvSpPr/>
          <p:nvPr/>
        </p:nvSpPr>
        <p:spPr>
          <a:xfrm>
            <a:off x="1865376" y="4069080"/>
            <a:ext cx="219456" cy="219456"/>
          </a:xfrm>
          <a:prstGeom prst="rect">
            <a:avLst/>
          </a:prstGeom>
          <a:solidFill>
            <a:srgbClr val="CEB4FF"/>
          </a:solidFill>
          <a:ln/>
        </p:spPr>
        <p:txBody>
          <a:bodyPr/>
          <a:lstStyle/>
          <a:p>
            <a:endParaRPr lang="en-GB"/>
          </a:p>
        </p:txBody>
      </p:sp>
      <p:sp>
        <p:nvSpPr>
          <p:cNvPr id="9" name="Shape 7"/>
          <p:cNvSpPr/>
          <p:nvPr/>
        </p:nvSpPr>
        <p:spPr>
          <a:xfrm>
            <a:off x="2148840" y="4069080"/>
            <a:ext cx="219456" cy="219456"/>
          </a:xfrm>
          <a:prstGeom prst="rect">
            <a:avLst/>
          </a:prstGeom>
          <a:solidFill>
            <a:srgbClr val="6720FF"/>
          </a:solidFill>
          <a:ln/>
        </p:spPr>
        <p:txBody>
          <a:bodyPr/>
          <a:lstStyle/>
          <a:p>
            <a:endParaRPr lang="en-GB"/>
          </a:p>
        </p:txBody>
      </p:sp>
      <p:sp>
        <p:nvSpPr>
          <p:cNvPr id="10" name="Shape 8"/>
          <p:cNvSpPr/>
          <p:nvPr/>
        </p:nvSpPr>
        <p:spPr>
          <a:xfrm>
            <a:off x="1298448" y="4352544"/>
            <a:ext cx="219456" cy="219456"/>
          </a:xfrm>
          <a:prstGeom prst="rect">
            <a:avLst/>
          </a:prstGeom>
          <a:solidFill>
            <a:srgbClr val="6720FF"/>
          </a:solidFill>
          <a:ln/>
        </p:spPr>
        <p:txBody>
          <a:bodyPr/>
          <a:lstStyle/>
          <a:p>
            <a:endParaRPr lang="en-GB"/>
          </a:p>
        </p:txBody>
      </p:sp>
      <p:sp>
        <p:nvSpPr>
          <p:cNvPr id="11" name="Shape 9"/>
          <p:cNvSpPr/>
          <p:nvPr/>
        </p:nvSpPr>
        <p:spPr>
          <a:xfrm>
            <a:off x="1581912" y="4352544"/>
            <a:ext cx="219456" cy="219456"/>
          </a:xfrm>
          <a:prstGeom prst="rect">
            <a:avLst/>
          </a:prstGeom>
          <a:solidFill>
            <a:srgbClr val="CEB4FF"/>
          </a:solidFill>
          <a:ln/>
        </p:spPr>
        <p:txBody>
          <a:bodyPr/>
          <a:lstStyle/>
          <a:p>
            <a:endParaRPr lang="en-GB"/>
          </a:p>
        </p:txBody>
      </p:sp>
      <p:sp>
        <p:nvSpPr>
          <p:cNvPr id="12" name="Shape 10"/>
          <p:cNvSpPr/>
          <p:nvPr/>
        </p:nvSpPr>
        <p:spPr>
          <a:xfrm>
            <a:off x="1865376" y="4352544"/>
            <a:ext cx="219456" cy="219456"/>
          </a:xfrm>
          <a:prstGeom prst="rect">
            <a:avLst/>
          </a:prstGeom>
          <a:solidFill>
            <a:srgbClr val="E0D2FD"/>
          </a:solidFill>
          <a:ln/>
        </p:spPr>
        <p:txBody>
          <a:bodyPr/>
          <a:lstStyle/>
          <a:p>
            <a:endParaRPr lang="en-GB"/>
          </a:p>
        </p:txBody>
      </p:sp>
      <p:sp>
        <p:nvSpPr>
          <p:cNvPr id="13" name="Shape 11"/>
          <p:cNvSpPr/>
          <p:nvPr/>
        </p:nvSpPr>
        <p:spPr>
          <a:xfrm>
            <a:off x="2148840" y="4352544"/>
            <a:ext cx="219456" cy="219456"/>
          </a:xfrm>
          <a:prstGeom prst="rect">
            <a:avLst/>
          </a:prstGeom>
          <a:solidFill>
            <a:srgbClr val="CEB4FF"/>
          </a:solidFill>
          <a:ln/>
        </p:spPr>
        <p:txBody>
          <a:bodyPr/>
          <a:lstStyle/>
          <a:p>
            <a:endParaRPr lang="en-GB"/>
          </a:p>
        </p:txBody>
      </p:sp>
      <p:sp>
        <p:nvSpPr>
          <p:cNvPr id="14" name="Shape 12"/>
          <p:cNvSpPr/>
          <p:nvPr/>
        </p:nvSpPr>
        <p:spPr>
          <a:xfrm>
            <a:off x="1014984" y="4636008"/>
            <a:ext cx="219456" cy="219456"/>
          </a:xfrm>
          <a:prstGeom prst="rect">
            <a:avLst/>
          </a:prstGeom>
          <a:solidFill>
            <a:srgbClr val="6720FF"/>
          </a:solidFill>
          <a:ln/>
        </p:spPr>
        <p:txBody>
          <a:bodyPr/>
          <a:lstStyle/>
          <a:p>
            <a:endParaRPr lang="en-GB"/>
          </a:p>
        </p:txBody>
      </p:sp>
      <p:sp>
        <p:nvSpPr>
          <p:cNvPr id="15" name="Shape 13"/>
          <p:cNvSpPr/>
          <p:nvPr/>
        </p:nvSpPr>
        <p:spPr>
          <a:xfrm>
            <a:off x="1298448" y="4636008"/>
            <a:ext cx="219456" cy="219456"/>
          </a:xfrm>
          <a:prstGeom prst="rect">
            <a:avLst/>
          </a:prstGeom>
          <a:solidFill>
            <a:srgbClr val="CEB4FF"/>
          </a:solidFill>
          <a:ln/>
        </p:spPr>
        <p:txBody>
          <a:bodyPr/>
          <a:lstStyle/>
          <a:p>
            <a:endParaRPr lang="en-GB"/>
          </a:p>
        </p:txBody>
      </p:sp>
      <p:sp>
        <p:nvSpPr>
          <p:cNvPr id="16" name="Shape 14"/>
          <p:cNvSpPr/>
          <p:nvPr/>
        </p:nvSpPr>
        <p:spPr>
          <a:xfrm>
            <a:off x="1581912" y="4636008"/>
            <a:ext cx="219456" cy="219456"/>
          </a:xfrm>
          <a:prstGeom prst="rect">
            <a:avLst/>
          </a:prstGeom>
          <a:solidFill>
            <a:srgbClr val="E0D2FD"/>
          </a:solidFill>
          <a:ln/>
        </p:spPr>
        <p:txBody>
          <a:bodyPr/>
          <a:lstStyle/>
          <a:p>
            <a:endParaRPr lang="en-GB"/>
          </a:p>
        </p:txBody>
      </p:sp>
      <p:sp>
        <p:nvSpPr>
          <p:cNvPr id="17" name="Shape 15"/>
          <p:cNvSpPr/>
          <p:nvPr/>
        </p:nvSpPr>
        <p:spPr>
          <a:xfrm>
            <a:off x="731520" y="4919472"/>
            <a:ext cx="219456" cy="219456"/>
          </a:xfrm>
          <a:prstGeom prst="rect">
            <a:avLst/>
          </a:prstGeom>
          <a:solidFill>
            <a:srgbClr val="6720FF"/>
          </a:solidFill>
          <a:ln/>
        </p:spPr>
        <p:txBody>
          <a:bodyPr/>
          <a:lstStyle/>
          <a:p>
            <a:endParaRPr lang="en-GB"/>
          </a:p>
        </p:txBody>
      </p:sp>
      <p:sp>
        <p:nvSpPr>
          <p:cNvPr id="18" name="Shape 16"/>
          <p:cNvSpPr/>
          <p:nvPr/>
        </p:nvSpPr>
        <p:spPr>
          <a:xfrm>
            <a:off x="1014984" y="4919472"/>
            <a:ext cx="219456" cy="219456"/>
          </a:xfrm>
          <a:prstGeom prst="rect">
            <a:avLst/>
          </a:prstGeom>
          <a:solidFill>
            <a:srgbClr val="CEB4FF"/>
          </a:solidFill>
          <a:ln/>
        </p:spPr>
        <p:txBody>
          <a:bodyPr/>
          <a:lstStyle/>
          <a:p>
            <a:endParaRPr lang="en-GB"/>
          </a:p>
        </p:txBody>
      </p:sp>
      <p:sp>
        <p:nvSpPr>
          <p:cNvPr id="19" name="Shape 17"/>
          <p:cNvSpPr/>
          <p:nvPr/>
        </p:nvSpPr>
        <p:spPr>
          <a:xfrm>
            <a:off x="1298448" y="4919472"/>
            <a:ext cx="219456" cy="219456"/>
          </a:xfrm>
          <a:prstGeom prst="rect">
            <a:avLst/>
          </a:prstGeom>
          <a:solidFill>
            <a:srgbClr val="E0D2FD"/>
          </a:solidFill>
          <a:ln/>
        </p:spPr>
        <p:txBody>
          <a:bodyPr/>
          <a:lstStyle/>
          <a:p>
            <a:endParaRPr lang="en-GB"/>
          </a:p>
        </p:txBody>
      </p:sp>
      <p:sp>
        <p:nvSpPr>
          <p:cNvPr id="20" name="Text 18"/>
          <p:cNvSpPr txBox="1"/>
          <p:nvPr/>
        </p:nvSpPr>
        <p:spPr>
          <a:xfrm>
            <a:off x="5303520" y="1005840"/>
            <a:ext cx="365760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Joint next actions</a:t>
            </a:r>
            <a:endParaRPr lang="en-US" sz="1100" dirty="0"/>
          </a:p>
        </p:txBody>
      </p:sp>
      <p:sp>
        <p:nvSpPr>
          <p:cNvPr id="21" name="Shape 19"/>
          <p:cNvSpPr/>
          <p:nvPr/>
        </p:nvSpPr>
        <p:spPr>
          <a:xfrm>
            <a:off x="5303520" y="1371600"/>
            <a:ext cx="6156655" cy="3767328"/>
          </a:xfrm>
          <a:prstGeom prst="roundRect">
            <a:avLst>
              <a:gd name="adj" fmla="val 2913"/>
            </a:avLst>
          </a:prstGeom>
          <a:solidFill>
            <a:srgbClr val="FFFFFF"/>
          </a:solidFill>
          <a:ln/>
        </p:spPr>
        <p:txBody>
          <a:bodyPr/>
          <a:lstStyle/>
          <a:p>
            <a:endParaRPr lang="en-GB"/>
          </a:p>
        </p:txBody>
      </p:sp>
      <p:sp>
        <p:nvSpPr>
          <p:cNvPr id="22" name="Shape 20"/>
          <p:cNvSpPr/>
          <p:nvPr/>
        </p:nvSpPr>
        <p:spPr>
          <a:xfrm>
            <a:off x="5303520" y="1371600"/>
            <a:ext cx="6156655" cy="365760"/>
          </a:xfrm>
          <a:prstGeom prst="round2SameRect">
            <a:avLst/>
          </a:prstGeom>
          <a:solidFill>
            <a:srgbClr val="FAF7FF"/>
          </a:solidFill>
          <a:ln/>
        </p:spPr>
        <p:txBody>
          <a:bodyPr/>
          <a:lstStyle/>
          <a:p>
            <a:endParaRPr lang="en-GB"/>
          </a:p>
        </p:txBody>
      </p:sp>
      <p:sp>
        <p:nvSpPr>
          <p:cNvPr id="23" name="Shape 21"/>
          <p:cNvSpPr/>
          <p:nvPr/>
        </p:nvSpPr>
        <p:spPr>
          <a:xfrm>
            <a:off x="5303520" y="1737360"/>
            <a:ext cx="6156655" cy="0"/>
          </a:xfrm>
          <a:prstGeom prst="line">
            <a:avLst/>
          </a:prstGeom>
          <a:noFill/>
          <a:ln w="9525">
            <a:solidFill>
              <a:srgbClr val="E6EAF4"/>
            </a:solidFill>
            <a:prstDash val="solid"/>
          </a:ln>
        </p:spPr>
        <p:txBody>
          <a:bodyPr/>
          <a:lstStyle/>
          <a:p>
            <a:endParaRPr lang="en-GB"/>
          </a:p>
        </p:txBody>
      </p:sp>
      <p:sp>
        <p:nvSpPr>
          <p:cNvPr id="24" name="Text 22"/>
          <p:cNvSpPr txBox="1"/>
          <p:nvPr/>
        </p:nvSpPr>
        <p:spPr>
          <a:xfrm>
            <a:off x="5486400" y="1371600"/>
            <a:ext cx="320040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Action</a:t>
            </a:r>
            <a:endParaRPr lang="en-US" sz="950" dirty="0"/>
          </a:p>
        </p:txBody>
      </p:sp>
      <p:sp>
        <p:nvSpPr>
          <p:cNvPr id="25" name="Text 23"/>
          <p:cNvSpPr txBox="1"/>
          <p:nvPr/>
        </p:nvSpPr>
        <p:spPr>
          <a:xfrm>
            <a:off x="8823960" y="1371600"/>
            <a:ext cx="178308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Owner</a:t>
            </a:r>
            <a:endParaRPr lang="en-US" sz="950" dirty="0"/>
          </a:p>
        </p:txBody>
      </p:sp>
      <p:sp>
        <p:nvSpPr>
          <p:cNvPr id="26" name="Text 24"/>
          <p:cNvSpPr txBox="1"/>
          <p:nvPr/>
        </p:nvSpPr>
        <p:spPr>
          <a:xfrm>
            <a:off x="10618927" y="1371600"/>
            <a:ext cx="73152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Due</a:t>
            </a:r>
            <a:endParaRPr lang="en-US" sz="950" dirty="0"/>
          </a:p>
        </p:txBody>
      </p:sp>
      <p:sp>
        <p:nvSpPr>
          <p:cNvPr id="27" name="Text 25"/>
          <p:cNvSpPr txBox="1"/>
          <p:nvPr/>
        </p:nvSpPr>
        <p:spPr>
          <a:xfrm>
            <a:off x="5486400" y="1737360"/>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Retune scale-up thresholds and agree a pre-warm runbook for planned promotions</a:t>
            </a:r>
            <a:endParaRPr lang="en-US" sz="1050" dirty="0"/>
          </a:p>
        </p:txBody>
      </p:sp>
      <p:sp>
        <p:nvSpPr>
          <p:cNvPr id="28" name="Text 26"/>
          <p:cNvSpPr txBox="1"/>
          <p:nvPr/>
        </p:nvSpPr>
        <p:spPr>
          <a:xfrm>
            <a:off x="8823960" y="1737360"/>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Fireworks Engineering + Northstar CX operations</a:t>
            </a:r>
            <a:endParaRPr lang="en-US" sz="900" dirty="0"/>
          </a:p>
        </p:txBody>
      </p:sp>
      <p:sp>
        <p:nvSpPr>
          <p:cNvPr id="29" name="Text 27"/>
          <p:cNvSpPr txBox="1"/>
          <p:nvPr/>
        </p:nvSpPr>
        <p:spPr>
          <a:xfrm>
            <a:off x="10618927" y="1737360"/>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16 Oct</a:t>
            </a:r>
            <a:endParaRPr lang="en-US" sz="1050" dirty="0"/>
          </a:p>
        </p:txBody>
      </p:sp>
      <p:sp>
        <p:nvSpPr>
          <p:cNvPr id="30" name="Shape 28"/>
          <p:cNvSpPr/>
          <p:nvPr/>
        </p:nvSpPr>
        <p:spPr>
          <a:xfrm>
            <a:off x="5303520" y="2304288"/>
            <a:ext cx="6156655" cy="0"/>
          </a:xfrm>
          <a:prstGeom prst="line">
            <a:avLst/>
          </a:prstGeom>
          <a:noFill/>
          <a:ln w="9525">
            <a:solidFill>
              <a:srgbClr val="E6EAF4"/>
            </a:solidFill>
            <a:prstDash val="solid"/>
          </a:ln>
        </p:spPr>
        <p:txBody>
          <a:bodyPr/>
          <a:lstStyle/>
          <a:p>
            <a:endParaRPr lang="en-GB"/>
          </a:p>
        </p:txBody>
      </p:sp>
      <p:sp>
        <p:nvSpPr>
          <p:cNvPr id="31" name="Text 29"/>
          <p:cNvSpPr txBox="1"/>
          <p:nvPr/>
        </p:nvSpPr>
        <p:spPr>
          <a:xfrm>
            <a:off x="5486400" y="2304288"/>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Share pre-launch handle-time and CSAT baselines for Atlas</a:t>
            </a:r>
            <a:endParaRPr lang="en-US" sz="1050" dirty="0"/>
          </a:p>
        </p:txBody>
      </p:sp>
      <p:sp>
        <p:nvSpPr>
          <p:cNvPr id="32" name="Text 30"/>
          <p:cNvSpPr txBox="1"/>
          <p:nvPr/>
        </p:nvSpPr>
        <p:spPr>
          <a:xfrm>
            <a:off x="8823960" y="2304288"/>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CX</a:t>
            </a:r>
            <a:endParaRPr lang="en-US" sz="900" dirty="0"/>
          </a:p>
        </p:txBody>
      </p:sp>
      <p:sp>
        <p:nvSpPr>
          <p:cNvPr id="33" name="Text 31"/>
          <p:cNvSpPr txBox="1"/>
          <p:nvPr/>
        </p:nvSpPr>
        <p:spPr>
          <a:xfrm>
            <a:off x="10618927" y="2304288"/>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16 Oct</a:t>
            </a:r>
            <a:endParaRPr lang="en-US" sz="1050" dirty="0"/>
          </a:p>
        </p:txBody>
      </p:sp>
      <p:sp>
        <p:nvSpPr>
          <p:cNvPr id="34" name="Shape 32"/>
          <p:cNvSpPr/>
          <p:nvPr/>
        </p:nvSpPr>
        <p:spPr>
          <a:xfrm>
            <a:off x="5303520" y="2871216"/>
            <a:ext cx="6156655" cy="0"/>
          </a:xfrm>
          <a:prstGeom prst="line">
            <a:avLst/>
          </a:prstGeom>
          <a:noFill/>
          <a:ln w="9525">
            <a:solidFill>
              <a:srgbClr val="E6EAF4"/>
            </a:solidFill>
            <a:prstDash val="solid"/>
          </a:ln>
        </p:spPr>
        <p:txBody>
          <a:bodyPr/>
          <a:lstStyle/>
          <a:p>
            <a:endParaRPr lang="en-GB"/>
          </a:p>
        </p:txBody>
      </p:sp>
      <p:sp>
        <p:nvSpPr>
          <p:cNvPr id="35" name="Text 33"/>
          <p:cNvSpPr txBox="1"/>
          <p:nvPr/>
        </p:nvSpPr>
        <p:spPr>
          <a:xfrm>
            <a:off x="5486400" y="2871216"/>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Executive review: agree a group sponsor, the Ridgeline pilot and its success criteria</a:t>
            </a:r>
            <a:endParaRPr lang="en-US" sz="1050" dirty="0"/>
          </a:p>
        </p:txBody>
      </p:sp>
      <p:sp>
        <p:nvSpPr>
          <p:cNvPr id="36" name="Text 34"/>
          <p:cNvSpPr txBox="1"/>
          <p:nvPr/>
        </p:nvSpPr>
        <p:spPr>
          <a:xfrm>
            <a:off x="8823960" y="2871216"/>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Account Executive</a:t>
            </a:r>
            <a:endParaRPr lang="en-US" sz="900" dirty="0"/>
          </a:p>
        </p:txBody>
      </p:sp>
      <p:sp>
        <p:nvSpPr>
          <p:cNvPr id="37" name="Text 35"/>
          <p:cNvSpPr txBox="1"/>
          <p:nvPr/>
        </p:nvSpPr>
        <p:spPr>
          <a:xfrm>
            <a:off x="10618927" y="2871216"/>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22 Oct</a:t>
            </a:r>
            <a:endParaRPr lang="en-US" sz="1050" dirty="0"/>
          </a:p>
        </p:txBody>
      </p:sp>
      <p:sp>
        <p:nvSpPr>
          <p:cNvPr id="38" name="Shape 36"/>
          <p:cNvSpPr/>
          <p:nvPr/>
        </p:nvSpPr>
        <p:spPr>
          <a:xfrm>
            <a:off x="5303520" y="3438144"/>
            <a:ext cx="6156655" cy="0"/>
          </a:xfrm>
          <a:prstGeom prst="line">
            <a:avLst/>
          </a:prstGeom>
          <a:noFill/>
          <a:ln w="9525">
            <a:solidFill>
              <a:srgbClr val="E6EAF4"/>
            </a:solidFill>
            <a:prstDash val="solid"/>
          </a:ln>
        </p:spPr>
        <p:txBody>
          <a:bodyPr/>
          <a:lstStyle/>
          <a:p>
            <a:endParaRPr lang="en-GB"/>
          </a:p>
        </p:txBody>
      </p:sp>
      <p:sp>
        <p:nvSpPr>
          <p:cNvPr id="39" name="Text 37"/>
          <p:cNvSpPr txBox="1"/>
          <p:nvPr/>
        </p:nvSpPr>
        <p:spPr>
          <a:xfrm>
            <a:off x="5486400" y="3438144"/>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Joint review of rising requests per ticket (4.6 → 6.2)</a:t>
            </a:r>
            <a:endParaRPr lang="en-US" sz="1050" dirty="0"/>
          </a:p>
        </p:txBody>
      </p:sp>
      <p:sp>
        <p:nvSpPr>
          <p:cNvPr id="40" name="Text 38"/>
          <p:cNvSpPr txBox="1"/>
          <p:nvPr/>
        </p:nvSpPr>
        <p:spPr>
          <a:xfrm>
            <a:off x="8823960" y="3438144"/>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Engineering</a:t>
            </a:r>
            <a:endParaRPr lang="en-US" sz="900" dirty="0"/>
          </a:p>
        </p:txBody>
      </p:sp>
      <p:sp>
        <p:nvSpPr>
          <p:cNvPr id="41" name="Text 39"/>
          <p:cNvSpPr txBox="1"/>
          <p:nvPr/>
        </p:nvSpPr>
        <p:spPr>
          <a:xfrm>
            <a:off x="10618927" y="3438144"/>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23 Oct</a:t>
            </a:r>
            <a:endParaRPr lang="en-US" sz="1050" dirty="0"/>
          </a:p>
        </p:txBody>
      </p:sp>
      <p:sp>
        <p:nvSpPr>
          <p:cNvPr id="42" name="Shape 40"/>
          <p:cNvSpPr/>
          <p:nvPr/>
        </p:nvSpPr>
        <p:spPr>
          <a:xfrm>
            <a:off x="5303520" y="4005072"/>
            <a:ext cx="6156655" cy="0"/>
          </a:xfrm>
          <a:prstGeom prst="line">
            <a:avLst/>
          </a:prstGeom>
          <a:noFill/>
          <a:ln w="9525">
            <a:solidFill>
              <a:srgbClr val="E6EAF4"/>
            </a:solidFill>
            <a:prstDash val="solid"/>
          </a:ln>
        </p:spPr>
        <p:txBody>
          <a:bodyPr/>
          <a:lstStyle/>
          <a:p>
            <a:endParaRPr lang="en-GB"/>
          </a:p>
        </p:txBody>
      </p:sp>
      <p:sp>
        <p:nvSpPr>
          <p:cNvPr id="43" name="Text 41"/>
          <p:cNvSpPr txBox="1"/>
          <p:nvPr/>
        </p:nvSpPr>
        <p:spPr>
          <a:xfrm>
            <a:off x="5486400" y="4005072"/>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Train the Ridgeline adapter and run the two-arm pilot</a:t>
            </a:r>
            <a:endParaRPr lang="en-US" sz="1050" dirty="0"/>
          </a:p>
        </p:txBody>
      </p:sp>
      <p:sp>
        <p:nvSpPr>
          <p:cNvPr id="44" name="Text 42"/>
          <p:cNvSpPr txBox="1"/>
          <p:nvPr/>
        </p:nvSpPr>
        <p:spPr>
          <a:xfrm>
            <a:off x="8823960" y="4005072"/>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Fireworks Applied ML + Northstar Engineering</a:t>
            </a:r>
            <a:endParaRPr lang="en-US" sz="900" dirty="0"/>
          </a:p>
        </p:txBody>
      </p:sp>
      <p:sp>
        <p:nvSpPr>
          <p:cNvPr id="45" name="Text 43"/>
          <p:cNvSpPr txBox="1"/>
          <p:nvPr/>
        </p:nvSpPr>
        <p:spPr>
          <a:xfrm>
            <a:off x="10618927" y="4005072"/>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18 Dec</a:t>
            </a:r>
            <a:endParaRPr lang="en-US" sz="1050" dirty="0"/>
          </a:p>
        </p:txBody>
      </p:sp>
      <p:sp>
        <p:nvSpPr>
          <p:cNvPr id="46" name="Shape 44"/>
          <p:cNvSpPr/>
          <p:nvPr/>
        </p:nvSpPr>
        <p:spPr>
          <a:xfrm>
            <a:off x="5303520" y="4572000"/>
            <a:ext cx="6156655" cy="0"/>
          </a:xfrm>
          <a:prstGeom prst="line">
            <a:avLst/>
          </a:prstGeom>
          <a:noFill/>
          <a:ln w="9525">
            <a:solidFill>
              <a:srgbClr val="E6EAF4"/>
            </a:solidFill>
            <a:prstDash val="solid"/>
          </a:ln>
        </p:spPr>
        <p:txBody>
          <a:bodyPr/>
          <a:lstStyle/>
          <a:p>
            <a:endParaRPr lang="en-GB"/>
          </a:p>
        </p:txBody>
      </p:sp>
      <p:sp>
        <p:nvSpPr>
          <p:cNvPr id="47" name="Text 45"/>
          <p:cNvSpPr txBox="1"/>
          <p:nvPr/>
        </p:nvSpPr>
        <p:spPr>
          <a:xfrm>
            <a:off x="5486400" y="4572000"/>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Pilot readout and wave-2 decision</a:t>
            </a:r>
            <a:endParaRPr lang="en-US" sz="1050" dirty="0"/>
          </a:p>
        </p:txBody>
      </p:sp>
      <p:sp>
        <p:nvSpPr>
          <p:cNvPr id="48" name="Text 46"/>
          <p:cNvSpPr txBox="1"/>
          <p:nvPr/>
        </p:nvSpPr>
        <p:spPr>
          <a:xfrm>
            <a:off x="8823960" y="4572000"/>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sponsor</a:t>
            </a:r>
            <a:endParaRPr lang="en-US" sz="900" dirty="0"/>
          </a:p>
        </p:txBody>
      </p:sp>
      <p:sp>
        <p:nvSpPr>
          <p:cNvPr id="49" name="Text 47"/>
          <p:cNvSpPr txBox="1"/>
          <p:nvPr/>
        </p:nvSpPr>
        <p:spPr>
          <a:xfrm>
            <a:off x="10618927" y="4572000"/>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8 Jan 2027</a:t>
            </a:r>
            <a:endParaRPr lang="en-US" sz="1050" dirty="0"/>
          </a:p>
        </p:txBody>
      </p:sp>
      <p:sp>
        <p:nvSpPr>
          <p:cNvPr id="50" name="joint-next-actions"/>
          <p:cNvSpPr/>
          <p:nvPr/>
        </p:nvSpPr>
        <p:spPr>
          <a:xfrm>
            <a:off x="5303520" y="1371600"/>
            <a:ext cx="6156655" cy="3767328"/>
          </a:xfrm>
          <a:prstGeom prst="roundRect">
            <a:avLst>
              <a:gd name="adj" fmla="val 2913"/>
            </a:avLst>
          </a:prstGeom>
          <a:ln w="9525">
            <a:solidFill>
              <a:srgbClr val="E6EAF4"/>
            </a:solidFill>
            <a:prstDash val="solid"/>
          </a:ln>
        </p:spPr>
        <p:txBody>
          <a:bodyPr/>
          <a:lstStyle/>
          <a:p>
            <a:endParaRPr lang="en-GB"/>
          </a:p>
        </p:txBody>
      </p:sp>
    </p:spTree>
  </p:cSld>
  <p:clrMapOvr>
    <a:masterClrMapping/>
  </p:clrMapOvr>
</p:sld>
</file>

<file path=ppt/theme/theme1.xml><?xml version="1.0" encoding="utf-8"?>
<a:theme xmlns:a="http://schemas.openxmlformats.org/drawingml/2006/main" name="Fireworks">
  <a:themeElements>
    <a:clrScheme name="Fireworks">
      <a:dk1>
        <a:srgbClr val="16181D"/>
      </a:dk1>
      <a:lt1>
        <a:srgbClr val="FFFFFF"/>
      </a:lt1>
      <a:dk2>
        <a:srgbClr val="28282E"/>
      </a:dk2>
      <a:lt2>
        <a:srgbClr val="FAF7FF"/>
      </a:lt2>
      <a:accent1>
        <a:srgbClr val="6720FF"/>
      </a:accent1>
      <a:accent2>
        <a:srgbClr val="1DA28F"/>
      </a:accent2>
      <a:accent3>
        <a:srgbClr val="1756FF"/>
      </a:accent3>
      <a:accent4>
        <a:srgbClr val="9D72FE"/>
      </a:accent4>
      <a:accent5>
        <a:srgbClr val="F14539"/>
      </a:accent5>
      <a:accent6>
        <a:srgbClr val="E8A127"/>
      </a:accent6>
      <a:hlink>
        <a:srgbClr val="6720FF"/>
      </a:hlink>
      <a:folHlink>
        <a:srgbClr val="501BC4"/>
      </a:folHlink>
    </a:clrScheme>
    <a:fontScheme name="Fireworks">
      <a:majorFont>
        <a:latin typeface="Inter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2380</Words>
  <Application>Microsoft Office PowerPoint</Application>
  <PresentationFormat>Widescreen</PresentationFormat>
  <Paragraphs>240</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Inter Medium</vt:lpstr>
      <vt:lpstr>Inter</vt:lpstr>
      <vt:lpstr>Fireworks</vt:lpstr>
      <vt:lpstr>PowerPoint Presentation</vt:lpstr>
      <vt:lpstr>Month one: Tier-1 automation reached 70% by the final week</vt:lpstr>
      <vt:lpstr>Operational health is on-track for current deployment stage</vt:lpstr>
      <vt:lpstr>Find the cause before buying capacity</vt:lpstr>
      <vt:lpstr>One base model, one adapter per brand, data kept apart</vt:lpstr>
      <vt:lpstr>Ridgeline pilot: two arms, criteria agreed up front</vt:lpstr>
      <vt:lpstr>From pilot to five brands by mid-2027</vt:lpstr>
      <vt:lpstr>Biggest risk: the rollout stalls at one brand</vt:lpstr>
      <vt:lpstr>PowerPoint Presentation</vt:lpstr>
    </vt:vector>
  </TitlesOfParts>
  <Company>Fireworks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Retail Group — Atlas: Executive Business Review, October 2026</dc:title>
  <dc:subject>Month one results and the plan for four more brands</dc:subject>
  <dc:creator>Fireworks AI</dc:creator>
  <cp:lastModifiedBy>Abubakar Olafusi</cp:lastModifiedBy>
  <cp:revision>2</cp:revision>
  <dcterms:created xsi:type="dcterms:W3CDTF">2026-10-05T15:27:07Z</dcterms:created>
  <dcterms:modified xsi:type="dcterms:W3CDTF">2026-10-05T15:42:43Z</dcterms:modified>
</cp:coreProperties>
</file>