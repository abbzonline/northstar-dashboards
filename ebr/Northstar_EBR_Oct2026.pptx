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5.xml" ContentType="application/vnd.openxmlformats-officedocument.presentationml.notesSlide+xml"/>
  <Override PartName="/ppt/charts/chart3.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embeddedFontLst>
    <p:embeddedFont>
      <p:font typeface="Consolas" panose="020B0609020204030204" pitchFamily="49" charset="0"/>
      <p:regular r:id="rId13"/>
      <p:bold r:id="rId14"/>
      <p:italic r:id="rId15"/>
      <p:boldItalic r:id="rId16"/>
    </p:embeddedFont>
    <p:embeddedFont>
      <p:font typeface="Inter" panose="02000503000000020004" pitchFamily="2" charset="0"/>
      <p:regular r:id="rId17"/>
      <p:bold r:id="rId18"/>
    </p:embeddedFont>
    <p:embeddedFont>
      <p:font typeface="Inter Medium" panose="02000603000000020004" pitchFamily="2" charset="0"/>
      <p:regular r:id="rId1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44AF27C-6BDC-E6B5-CAAD-E879D4E0EF83}">
          <p14:sldIdLst>
            <p14:sldId id="256"/>
          </p14:sldIdLst>
        </p14:section>
        <p14:section name="Results" id="{BBDE147B-622E-4C0F-93DE-F54F205D475D}">
          <p14:sldIdLst>
            <p14:sldId id="257"/>
            <p14:sldId id="258"/>
            <p14:sldId id="259"/>
            <p14:sldId id="260"/>
          </p14:sldIdLst>
        </p14:section>
        <p14:section name="Expansion" id="{0CBF0593-71F3-64AE-0D62-1EE179539EFD}">
          <p14:sldIdLst>
            <p14:sldId id="261"/>
            <p14:sldId id="262"/>
            <p14:sldId id="263"/>
          </p14:sldIdLst>
        </p14:section>
        <p14:section name="Decision" id="{F3CB7C93-0F50-24A7-56B7-F2A6B3E87E3C}">
          <p14:sldIdLst>
            <p14:sldId id="264"/>
          </p14:sldIdLst>
        </p14:section>
        <p14:section name="Close" id="{9D0AA227-3B72-A991-CD18-CFFA796E0B8C}">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font" Target="fonts/font5.fntdata"/><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3.fntdata"/><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5000000000000006E-2"/>
          <c:y val="0.04"/>
          <c:w val="0.89500000000000002"/>
          <c:h val="0.8"/>
        </c:manualLayout>
      </c:layout>
      <c:lineChart>
        <c:grouping val="standard"/>
        <c:varyColors val="0"/>
        <c:ser>
          <c:idx val="0"/>
          <c:order val="0"/>
          <c:tx>
            <c:strRef>
              <c:f>Sheet1!$B$1</c:f>
              <c:strCache>
                <c:ptCount val="1"/>
                <c:pt idx="0">
                  <c:v>Automation rate</c:v>
                </c:pt>
              </c:strCache>
            </c:strRef>
          </c:tx>
          <c:spPr>
            <a:ln w="22225" cap="flat">
              <a:solidFill>
                <a:srgbClr val="6720FF"/>
              </a:solidFill>
              <a:prstDash val="solid"/>
              <a:round/>
            </a:ln>
            <a:effectLst/>
          </c:spPr>
          <c:marker>
            <c:symbol val="none"/>
          </c:marker>
          <c:cat>
            <c:strRef>
              <c:f>Sheet1!$A$2:$A$32</c:f>
              <c:strCache>
                <c:ptCount val="31"/>
                <c:pt idx="0">
                  <c:v>Aug 1</c:v>
                </c:pt>
                <c:pt idx="7">
                  <c:v>Aug 8</c:v>
                </c:pt>
                <c:pt idx="14">
                  <c:v>Aug 15</c:v>
                </c:pt>
                <c:pt idx="21">
                  <c:v>Aug 22</c:v>
                </c:pt>
                <c:pt idx="28">
                  <c:v>Aug 29</c:v>
                </c:pt>
              </c:strCache>
            </c:strRef>
          </c:cat>
          <c:val>
            <c:numRef>
              <c:f>Sheet1!$B$2:$B$32</c:f>
              <c:numCache>
                <c:formatCode>General</c:formatCode>
                <c:ptCount val="31"/>
                <c:pt idx="0">
                  <c:v>65.400000000000006</c:v>
                </c:pt>
                <c:pt idx="1">
                  <c:v>65.400000000000006</c:v>
                </c:pt>
                <c:pt idx="2">
                  <c:v>65.599999999999994</c:v>
                </c:pt>
                <c:pt idx="3">
                  <c:v>65.900000000000006</c:v>
                </c:pt>
                <c:pt idx="4">
                  <c:v>65.8</c:v>
                </c:pt>
                <c:pt idx="5">
                  <c:v>66.2</c:v>
                </c:pt>
                <c:pt idx="6">
                  <c:v>66.2</c:v>
                </c:pt>
                <c:pt idx="7">
                  <c:v>66.3</c:v>
                </c:pt>
                <c:pt idx="8">
                  <c:v>66.7</c:v>
                </c:pt>
                <c:pt idx="9">
                  <c:v>66.599999999999994</c:v>
                </c:pt>
                <c:pt idx="10">
                  <c:v>66.900000000000006</c:v>
                </c:pt>
                <c:pt idx="11">
                  <c:v>67.3</c:v>
                </c:pt>
                <c:pt idx="12">
                  <c:v>67.2</c:v>
                </c:pt>
                <c:pt idx="13">
                  <c:v>67.7</c:v>
                </c:pt>
                <c:pt idx="14">
                  <c:v>67.8</c:v>
                </c:pt>
                <c:pt idx="15">
                  <c:v>68</c:v>
                </c:pt>
                <c:pt idx="16">
                  <c:v>67.900000000000006</c:v>
                </c:pt>
                <c:pt idx="17">
                  <c:v>68.3</c:v>
                </c:pt>
                <c:pt idx="18">
                  <c:v>68.599999999999994</c:v>
                </c:pt>
                <c:pt idx="19">
                  <c:v>68.599999999999994</c:v>
                </c:pt>
                <c:pt idx="20">
                  <c:v>68.8</c:v>
                </c:pt>
                <c:pt idx="21">
                  <c:v>69</c:v>
                </c:pt>
                <c:pt idx="22">
                  <c:v>69.2</c:v>
                </c:pt>
                <c:pt idx="23">
                  <c:v>69.5</c:v>
                </c:pt>
                <c:pt idx="24">
                  <c:v>69.7</c:v>
                </c:pt>
                <c:pt idx="25">
                  <c:v>69.5</c:v>
                </c:pt>
                <c:pt idx="26">
                  <c:v>70</c:v>
                </c:pt>
                <c:pt idx="27">
                  <c:v>70.2</c:v>
                </c:pt>
                <c:pt idx="28">
                  <c:v>70.099999999999994</c:v>
                </c:pt>
                <c:pt idx="29">
                  <c:v>70.2</c:v>
                </c:pt>
                <c:pt idx="30">
                  <c:v>70.8</c:v>
                </c:pt>
              </c:numCache>
            </c:numRef>
          </c:val>
          <c:smooth val="1"/>
          <c:extLst>
            <c:ext xmlns:c16="http://schemas.microsoft.com/office/drawing/2014/chart" uri="{C3380CC4-5D6E-409C-BE32-E72D297353CC}">
              <c16:uniqueId val="{00000000-FEF2-4954-A073-E8C5FFF4107F}"/>
            </c:ext>
          </c:extLst>
        </c:ser>
        <c:ser>
          <c:idx val="1"/>
          <c:order val="1"/>
          <c:tx>
            <c:strRef>
              <c:f>Sheet1!$C$1</c:f>
              <c:strCache>
                <c:ptCount val="1"/>
                <c:pt idx="0">
                  <c:v>70%</c:v>
                </c:pt>
              </c:strCache>
            </c:strRef>
          </c:tx>
          <c:spPr>
            <a:ln w="12700" cap="flat">
              <a:solidFill>
                <a:srgbClr val="ABABAB"/>
              </a:solidFill>
              <a:prstDash val="dash"/>
              <a:round/>
            </a:ln>
            <a:effectLst/>
          </c:spPr>
          <c:marker>
            <c:symbol val="none"/>
          </c:marker>
          <c:cat>
            <c:strRef>
              <c:f>Sheet1!$A$2:$A$32</c:f>
              <c:strCache>
                <c:ptCount val="31"/>
                <c:pt idx="0">
                  <c:v>Aug 1</c:v>
                </c:pt>
                <c:pt idx="7">
                  <c:v>Aug 8</c:v>
                </c:pt>
                <c:pt idx="14">
                  <c:v>Aug 15</c:v>
                </c:pt>
                <c:pt idx="21">
                  <c:v>Aug 22</c:v>
                </c:pt>
                <c:pt idx="28">
                  <c:v>Aug 29</c:v>
                </c:pt>
              </c:strCache>
            </c:strRef>
          </c:cat>
          <c:val>
            <c:numRef>
              <c:f>Sheet1!$C$2:$C$32</c:f>
              <c:numCache>
                <c:formatCode>General</c:formatCode>
                <c:ptCount val="31"/>
                <c:pt idx="0">
                  <c:v>70</c:v>
                </c:pt>
                <c:pt idx="1">
                  <c:v>70</c:v>
                </c:pt>
                <c:pt idx="2">
                  <c:v>70</c:v>
                </c:pt>
                <c:pt idx="3">
                  <c:v>70</c:v>
                </c:pt>
                <c:pt idx="4">
                  <c:v>70</c:v>
                </c:pt>
                <c:pt idx="5">
                  <c:v>70</c:v>
                </c:pt>
                <c:pt idx="6">
                  <c:v>70</c:v>
                </c:pt>
                <c:pt idx="7">
                  <c:v>70</c:v>
                </c:pt>
                <c:pt idx="8">
                  <c:v>70</c:v>
                </c:pt>
                <c:pt idx="9">
                  <c:v>70</c:v>
                </c:pt>
                <c:pt idx="10">
                  <c:v>70</c:v>
                </c:pt>
                <c:pt idx="11">
                  <c:v>70</c:v>
                </c:pt>
                <c:pt idx="12">
                  <c:v>70</c:v>
                </c:pt>
                <c:pt idx="13">
                  <c:v>70</c:v>
                </c:pt>
                <c:pt idx="14">
                  <c:v>70</c:v>
                </c:pt>
                <c:pt idx="15">
                  <c:v>70</c:v>
                </c:pt>
                <c:pt idx="16">
                  <c:v>70</c:v>
                </c:pt>
                <c:pt idx="17">
                  <c:v>70</c:v>
                </c:pt>
                <c:pt idx="18">
                  <c:v>70</c:v>
                </c:pt>
                <c:pt idx="19">
                  <c:v>70</c:v>
                </c:pt>
                <c:pt idx="20">
                  <c:v>70</c:v>
                </c:pt>
                <c:pt idx="21">
                  <c:v>70</c:v>
                </c:pt>
                <c:pt idx="22">
                  <c:v>70</c:v>
                </c:pt>
                <c:pt idx="23">
                  <c:v>70</c:v>
                </c:pt>
                <c:pt idx="24">
                  <c:v>70</c:v>
                </c:pt>
                <c:pt idx="25">
                  <c:v>70</c:v>
                </c:pt>
                <c:pt idx="26">
                  <c:v>70</c:v>
                </c:pt>
                <c:pt idx="27">
                  <c:v>70</c:v>
                </c:pt>
                <c:pt idx="28">
                  <c:v>70</c:v>
                </c:pt>
                <c:pt idx="29">
                  <c:v>70</c:v>
                </c:pt>
                <c:pt idx="30">
                  <c:v>70</c:v>
                </c:pt>
              </c:numCache>
            </c:numRef>
          </c:val>
          <c:smooth val="1"/>
          <c:extLst>
            <c:ext xmlns:c16="http://schemas.microsoft.com/office/drawing/2014/chart" uri="{C3380CC4-5D6E-409C-BE32-E72D297353CC}">
              <c16:uniqueId val="{00000001-FEF2-4954-A073-E8C5FFF4107F}"/>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none"/>
        <c:minorTickMark val="none"/>
        <c:tickLblPos val="low"/>
        <c:spPr>
          <a:ln w="12700" cap="flat">
            <a:solidFill>
              <a:srgbClr val="E6EAF4"/>
            </a:solidFill>
            <a:prstDash val="solid"/>
            <a:round/>
          </a:ln>
        </c:spPr>
        <c:txPr>
          <a:bodyPr/>
          <a:lstStyle/>
          <a:p>
            <a:pPr>
              <a:defRPr sz="850" b="0" i="0" u="none" strike="noStrike">
                <a:solidFill>
                  <a:srgbClr val="5A5E63"/>
                </a:solidFill>
                <a:latin typeface="+mn-lt"/>
              </a:defRPr>
            </a:pPr>
            <a:endParaRPr lang="en-US"/>
          </a:p>
        </c:txPr>
        <c:crossAx val="2094734552"/>
        <c:crosses val="autoZero"/>
        <c:auto val="1"/>
        <c:lblAlgn val="ctr"/>
        <c:lblOffset val="100"/>
        <c:noMultiLvlLbl val="1"/>
      </c:catAx>
      <c:valAx>
        <c:axId val="2094734552"/>
        <c:scaling>
          <c:orientation val="minMax"/>
          <c:max val="76"/>
          <c:min val="60"/>
        </c:scaling>
        <c:delete val="0"/>
        <c:axPos val="l"/>
        <c:majorGridlines>
          <c:spPr>
            <a:ln w="9525" cap="flat">
              <a:solidFill>
                <a:srgbClr val="E6EAF4"/>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850" b="0" i="0" u="none" strike="noStrike">
                <a:solidFill>
                  <a:srgbClr val="5A5E63"/>
                </a:solidFill>
                <a:latin typeface="+mn-lt"/>
              </a:defRPr>
            </a:pPr>
            <a:endParaRPr lang="en-US"/>
          </a:p>
        </c:txPr>
        <c:crossAx val="2094734554"/>
        <c:crosses val="autoZero"/>
        <c:crossBetween val="between"/>
        <c:majorUnit val="4"/>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5000000000000006E-2"/>
          <c:y val="0.04"/>
          <c:w val="0.89500000000000002"/>
          <c:h val="0.8"/>
        </c:manualLayout>
      </c:layout>
      <c:lineChart>
        <c:grouping val="standard"/>
        <c:varyColors val="0"/>
        <c:ser>
          <c:idx val="0"/>
          <c:order val="0"/>
          <c:tx>
            <c:strRef>
              <c:f>Sheet1!$B$1</c:f>
              <c:strCache>
                <c:ptCount val="1"/>
                <c:pt idx="0">
                  <c:v>Grounded answers</c:v>
                </c:pt>
              </c:strCache>
            </c:strRef>
          </c:tx>
          <c:spPr>
            <a:ln w="22225" cap="flat">
              <a:solidFill>
                <a:srgbClr val="6720FF"/>
              </a:solidFill>
              <a:prstDash val="solid"/>
              <a:round/>
            </a:ln>
            <a:effectLst/>
          </c:spPr>
          <c:marker>
            <c:symbol val="none"/>
          </c:marker>
          <c:cat>
            <c:strRef>
              <c:f>Sheet1!$A$2:$A$32</c:f>
              <c:strCache>
                <c:ptCount val="31"/>
                <c:pt idx="0">
                  <c:v>Aug 1</c:v>
                </c:pt>
                <c:pt idx="7">
                  <c:v>Aug 8</c:v>
                </c:pt>
                <c:pt idx="14">
                  <c:v>Aug 15</c:v>
                </c:pt>
                <c:pt idx="21">
                  <c:v>Aug 22</c:v>
                </c:pt>
                <c:pt idx="28">
                  <c:v>Aug 29</c:v>
                </c:pt>
              </c:strCache>
            </c:strRef>
          </c:cat>
          <c:val>
            <c:numRef>
              <c:f>Sheet1!$B$2:$B$32</c:f>
              <c:numCache>
                <c:formatCode>General</c:formatCode>
                <c:ptCount val="31"/>
                <c:pt idx="0">
                  <c:v>91.8</c:v>
                </c:pt>
                <c:pt idx="1">
                  <c:v>91.9</c:v>
                </c:pt>
                <c:pt idx="2">
                  <c:v>92</c:v>
                </c:pt>
                <c:pt idx="3">
                  <c:v>92</c:v>
                </c:pt>
                <c:pt idx="4">
                  <c:v>92.4</c:v>
                </c:pt>
                <c:pt idx="5">
                  <c:v>92.5</c:v>
                </c:pt>
                <c:pt idx="6">
                  <c:v>92.5</c:v>
                </c:pt>
                <c:pt idx="7">
                  <c:v>92.6</c:v>
                </c:pt>
                <c:pt idx="8">
                  <c:v>92.8</c:v>
                </c:pt>
                <c:pt idx="9">
                  <c:v>92.7</c:v>
                </c:pt>
                <c:pt idx="10">
                  <c:v>93.1</c:v>
                </c:pt>
                <c:pt idx="11">
                  <c:v>93.2</c:v>
                </c:pt>
                <c:pt idx="12">
                  <c:v>93.3</c:v>
                </c:pt>
                <c:pt idx="13">
                  <c:v>93.6</c:v>
                </c:pt>
                <c:pt idx="14">
                  <c:v>93.5</c:v>
                </c:pt>
                <c:pt idx="15">
                  <c:v>93.6</c:v>
                </c:pt>
                <c:pt idx="16">
                  <c:v>93.7</c:v>
                </c:pt>
                <c:pt idx="17">
                  <c:v>94.1</c:v>
                </c:pt>
                <c:pt idx="18">
                  <c:v>94.2</c:v>
                </c:pt>
                <c:pt idx="19">
                  <c:v>94.3</c:v>
                </c:pt>
                <c:pt idx="20">
                  <c:v>94.5</c:v>
                </c:pt>
                <c:pt idx="21">
                  <c:v>94.3</c:v>
                </c:pt>
                <c:pt idx="22">
                  <c:v>94.6</c:v>
                </c:pt>
                <c:pt idx="23">
                  <c:v>95.7</c:v>
                </c:pt>
                <c:pt idx="24">
                  <c:v>95.5</c:v>
                </c:pt>
                <c:pt idx="25">
                  <c:v>95.9</c:v>
                </c:pt>
                <c:pt idx="26">
                  <c:v>95.8</c:v>
                </c:pt>
                <c:pt idx="27">
                  <c:v>96.2</c:v>
                </c:pt>
                <c:pt idx="28">
                  <c:v>96</c:v>
                </c:pt>
                <c:pt idx="29">
                  <c:v>96.2</c:v>
                </c:pt>
                <c:pt idx="30">
                  <c:v>96.5</c:v>
                </c:pt>
              </c:numCache>
            </c:numRef>
          </c:val>
          <c:smooth val="1"/>
          <c:extLst>
            <c:ext xmlns:c16="http://schemas.microsoft.com/office/drawing/2014/chart" uri="{C3380CC4-5D6E-409C-BE32-E72D297353CC}">
              <c16:uniqueId val="{00000000-8D75-4949-BB7E-62189FF17DA3}"/>
            </c:ext>
          </c:extLst>
        </c:ser>
        <c:ser>
          <c:idx val="1"/>
          <c:order val="1"/>
          <c:tx>
            <c:strRef>
              <c:f>Sheet1!$C$1</c:f>
              <c:strCache>
                <c:ptCount val="1"/>
                <c:pt idx="0">
                  <c:v>Eval pass</c:v>
                </c:pt>
              </c:strCache>
            </c:strRef>
          </c:tx>
          <c:spPr>
            <a:ln w="22225" cap="flat">
              <a:solidFill>
                <a:srgbClr val="1756FF"/>
              </a:solidFill>
              <a:prstDash val="solid"/>
              <a:round/>
            </a:ln>
            <a:effectLst/>
          </c:spPr>
          <c:marker>
            <c:symbol val="none"/>
          </c:marker>
          <c:cat>
            <c:strRef>
              <c:f>Sheet1!$A$2:$A$32</c:f>
              <c:strCache>
                <c:ptCount val="31"/>
                <c:pt idx="0">
                  <c:v>Aug 1</c:v>
                </c:pt>
                <c:pt idx="7">
                  <c:v>Aug 8</c:v>
                </c:pt>
                <c:pt idx="14">
                  <c:v>Aug 15</c:v>
                </c:pt>
                <c:pt idx="21">
                  <c:v>Aug 22</c:v>
                </c:pt>
                <c:pt idx="28">
                  <c:v>Aug 29</c:v>
                </c:pt>
              </c:strCache>
            </c:strRef>
          </c:cat>
          <c:val>
            <c:numRef>
              <c:f>Sheet1!$C$2:$C$32</c:f>
              <c:numCache>
                <c:formatCode>General</c:formatCode>
                <c:ptCount val="31"/>
                <c:pt idx="0">
                  <c:v>91.1</c:v>
                </c:pt>
                <c:pt idx="1">
                  <c:v>91.1</c:v>
                </c:pt>
                <c:pt idx="2">
                  <c:v>91.3</c:v>
                </c:pt>
                <c:pt idx="3">
                  <c:v>91.5</c:v>
                </c:pt>
                <c:pt idx="4">
                  <c:v>91.4</c:v>
                </c:pt>
                <c:pt idx="5">
                  <c:v>91.8</c:v>
                </c:pt>
                <c:pt idx="6">
                  <c:v>91.8</c:v>
                </c:pt>
                <c:pt idx="7">
                  <c:v>91.8</c:v>
                </c:pt>
                <c:pt idx="8">
                  <c:v>92.1</c:v>
                </c:pt>
                <c:pt idx="9">
                  <c:v>92</c:v>
                </c:pt>
                <c:pt idx="10">
                  <c:v>92.3</c:v>
                </c:pt>
                <c:pt idx="11">
                  <c:v>92.6</c:v>
                </c:pt>
                <c:pt idx="12">
                  <c:v>92.5</c:v>
                </c:pt>
                <c:pt idx="13">
                  <c:v>92.9</c:v>
                </c:pt>
                <c:pt idx="14">
                  <c:v>93</c:v>
                </c:pt>
                <c:pt idx="15">
                  <c:v>93.1</c:v>
                </c:pt>
                <c:pt idx="16">
                  <c:v>93</c:v>
                </c:pt>
                <c:pt idx="17">
                  <c:v>93.4</c:v>
                </c:pt>
                <c:pt idx="18">
                  <c:v>93.6</c:v>
                </c:pt>
                <c:pt idx="19">
                  <c:v>93.6</c:v>
                </c:pt>
                <c:pt idx="20">
                  <c:v>93.8</c:v>
                </c:pt>
                <c:pt idx="21">
                  <c:v>93.9</c:v>
                </c:pt>
                <c:pt idx="22">
                  <c:v>94.1</c:v>
                </c:pt>
                <c:pt idx="23">
                  <c:v>94.4</c:v>
                </c:pt>
                <c:pt idx="24">
                  <c:v>94.5</c:v>
                </c:pt>
                <c:pt idx="25">
                  <c:v>94.2</c:v>
                </c:pt>
                <c:pt idx="26">
                  <c:v>94.7</c:v>
                </c:pt>
                <c:pt idx="27">
                  <c:v>94.9</c:v>
                </c:pt>
                <c:pt idx="28">
                  <c:v>94.8</c:v>
                </c:pt>
                <c:pt idx="29">
                  <c:v>94.9</c:v>
                </c:pt>
                <c:pt idx="30">
                  <c:v>95.3</c:v>
                </c:pt>
              </c:numCache>
            </c:numRef>
          </c:val>
          <c:smooth val="1"/>
          <c:extLst>
            <c:ext xmlns:c16="http://schemas.microsoft.com/office/drawing/2014/chart" uri="{C3380CC4-5D6E-409C-BE32-E72D297353CC}">
              <c16:uniqueId val="{00000001-8D75-4949-BB7E-62189FF17DA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none"/>
        <c:minorTickMark val="none"/>
        <c:tickLblPos val="low"/>
        <c:spPr>
          <a:ln w="12700" cap="flat">
            <a:solidFill>
              <a:srgbClr val="E6EAF4"/>
            </a:solidFill>
            <a:prstDash val="solid"/>
            <a:round/>
          </a:ln>
        </c:spPr>
        <c:txPr>
          <a:bodyPr/>
          <a:lstStyle/>
          <a:p>
            <a:pPr>
              <a:defRPr sz="850" b="0" i="0" u="none" strike="noStrike">
                <a:solidFill>
                  <a:srgbClr val="5A5E63"/>
                </a:solidFill>
                <a:latin typeface="+mn-lt"/>
              </a:defRPr>
            </a:pPr>
            <a:endParaRPr lang="en-US"/>
          </a:p>
        </c:txPr>
        <c:crossAx val="2094734552"/>
        <c:crosses val="autoZero"/>
        <c:auto val="1"/>
        <c:lblAlgn val="ctr"/>
        <c:lblOffset val="100"/>
        <c:noMultiLvlLbl val="1"/>
      </c:catAx>
      <c:valAx>
        <c:axId val="2094734552"/>
        <c:scaling>
          <c:orientation val="minMax"/>
          <c:max val="100"/>
          <c:min val="88"/>
        </c:scaling>
        <c:delete val="0"/>
        <c:axPos val="l"/>
        <c:majorGridlines>
          <c:spPr>
            <a:ln w="9525" cap="flat">
              <a:solidFill>
                <a:srgbClr val="E6EAF4"/>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850" b="0" i="0" u="none" strike="noStrike">
                <a:solidFill>
                  <a:srgbClr val="5A5E63"/>
                </a:solidFill>
                <a:latin typeface="+mn-lt"/>
              </a:defRPr>
            </a:pPr>
            <a:endParaRPr lang="en-US"/>
          </a:p>
        </c:txPr>
        <c:crossAx val="2094734554"/>
        <c:crosses val="autoZero"/>
        <c:crossBetween val="between"/>
        <c:majorUnit val="2"/>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5000000000000006E-2"/>
          <c:y val="0.04"/>
          <c:w val="0.89500000000000002"/>
          <c:h val="0.8"/>
        </c:manualLayout>
      </c:layout>
      <c:lineChart>
        <c:grouping val="standard"/>
        <c:varyColors val="0"/>
        <c:ser>
          <c:idx val="0"/>
          <c:order val="0"/>
          <c:tx>
            <c:strRef>
              <c:f>Sheet1!$B$1</c:f>
              <c:strCache>
                <c:ptCount val="1"/>
                <c:pt idx="0">
                  <c:v>Availability</c:v>
                </c:pt>
              </c:strCache>
            </c:strRef>
          </c:tx>
          <c:spPr>
            <a:ln w="22225" cap="flat">
              <a:solidFill>
                <a:srgbClr val="6720FF"/>
              </a:solidFill>
              <a:prstDash val="solid"/>
              <a:round/>
            </a:ln>
            <a:effectLst/>
          </c:spPr>
          <c:marker>
            <c:symbol val="none"/>
          </c:marker>
          <c:cat>
            <c:strRef>
              <c:f>Sheet1!$A$2:$A$32</c:f>
              <c:strCache>
                <c:ptCount val="31"/>
                <c:pt idx="0">
                  <c:v>Aug 1</c:v>
                </c:pt>
                <c:pt idx="7">
                  <c:v>Aug 8</c:v>
                </c:pt>
                <c:pt idx="14">
                  <c:v>Aug 15</c:v>
                </c:pt>
                <c:pt idx="21">
                  <c:v>Aug 22</c:v>
                </c:pt>
                <c:pt idx="28">
                  <c:v>Aug 29</c:v>
                </c:pt>
              </c:strCache>
            </c:strRef>
          </c:cat>
          <c:val>
            <c:numRef>
              <c:f>Sheet1!$B$2:$B$32</c:f>
              <c:numCache>
                <c:formatCode>General</c:formatCode>
                <c:ptCount val="31"/>
                <c:pt idx="0">
                  <c:v>99.811999999999998</c:v>
                </c:pt>
                <c:pt idx="1">
                  <c:v>99.817999999999998</c:v>
                </c:pt>
                <c:pt idx="2">
                  <c:v>99.822000000000003</c:v>
                </c:pt>
                <c:pt idx="3">
                  <c:v>99.828000000000003</c:v>
                </c:pt>
                <c:pt idx="4">
                  <c:v>99.823999999999998</c:v>
                </c:pt>
                <c:pt idx="5">
                  <c:v>99.828000000000003</c:v>
                </c:pt>
                <c:pt idx="6">
                  <c:v>99.832999999999998</c:v>
                </c:pt>
                <c:pt idx="7">
                  <c:v>99.835999999999999</c:v>
                </c:pt>
                <c:pt idx="8">
                  <c:v>99.694999999999993</c:v>
                </c:pt>
                <c:pt idx="9">
                  <c:v>99.85</c:v>
                </c:pt>
                <c:pt idx="10">
                  <c:v>99.844999999999999</c:v>
                </c:pt>
                <c:pt idx="11">
                  <c:v>99.846999999999994</c:v>
                </c:pt>
                <c:pt idx="12">
                  <c:v>99.853999999999999</c:v>
                </c:pt>
                <c:pt idx="13">
                  <c:v>99.85</c:v>
                </c:pt>
                <c:pt idx="14">
                  <c:v>99.861000000000004</c:v>
                </c:pt>
                <c:pt idx="15">
                  <c:v>99.863</c:v>
                </c:pt>
                <c:pt idx="16">
                  <c:v>99.867999999999995</c:v>
                </c:pt>
                <c:pt idx="17">
                  <c:v>99.861000000000004</c:v>
                </c:pt>
                <c:pt idx="18">
                  <c:v>99.867999999999995</c:v>
                </c:pt>
                <c:pt idx="19">
                  <c:v>99.867999999999995</c:v>
                </c:pt>
                <c:pt idx="20">
                  <c:v>99.802999999999997</c:v>
                </c:pt>
                <c:pt idx="21">
                  <c:v>99.887</c:v>
                </c:pt>
                <c:pt idx="22">
                  <c:v>99.881</c:v>
                </c:pt>
                <c:pt idx="23">
                  <c:v>99.88</c:v>
                </c:pt>
                <c:pt idx="24">
                  <c:v>99.894000000000005</c:v>
                </c:pt>
                <c:pt idx="25">
                  <c:v>99.888999999999996</c:v>
                </c:pt>
                <c:pt idx="26">
                  <c:v>99.900999999999996</c:v>
                </c:pt>
                <c:pt idx="27">
                  <c:v>99.891999999999996</c:v>
                </c:pt>
                <c:pt idx="28">
                  <c:v>99.906000000000006</c:v>
                </c:pt>
                <c:pt idx="29">
                  <c:v>99.908000000000001</c:v>
                </c:pt>
                <c:pt idx="30">
                  <c:v>99.908000000000001</c:v>
                </c:pt>
              </c:numCache>
            </c:numRef>
          </c:val>
          <c:smooth val="1"/>
          <c:extLst>
            <c:ext xmlns:c16="http://schemas.microsoft.com/office/drawing/2014/chart" uri="{C3380CC4-5D6E-409C-BE32-E72D297353CC}">
              <c16:uniqueId val="{00000000-0F9E-40B3-8C11-9C790402B42F}"/>
            </c:ext>
          </c:extLst>
        </c:ser>
        <c:ser>
          <c:idx val="1"/>
          <c:order val="1"/>
          <c:tx>
            <c:strRef>
              <c:f>Sheet1!$C$1</c:f>
              <c:strCache>
                <c:ptCount val="1"/>
                <c:pt idx="0">
                  <c:v>99.9% proposed target</c:v>
                </c:pt>
              </c:strCache>
            </c:strRef>
          </c:tx>
          <c:spPr>
            <a:ln w="12700" cap="flat">
              <a:solidFill>
                <a:srgbClr val="ABABAB"/>
              </a:solidFill>
              <a:prstDash val="dash"/>
              <a:round/>
            </a:ln>
            <a:effectLst/>
          </c:spPr>
          <c:marker>
            <c:symbol val="none"/>
          </c:marker>
          <c:cat>
            <c:strRef>
              <c:f>Sheet1!$A$2:$A$32</c:f>
              <c:strCache>
                <c:ptCount val="31"/>
                <c:pt idx="0">
                  <c:v>Aug 1</c:v>
                </c:pt>
                <c:pt idx="7">
                  <c:v>Aug 8</c:v>
                </c:pt>
                <c:pt idx="14">
                  <c:v>Aug 15</c:v>
                </c:pt>
                <c:pt idx="21">
                  <c:v>Aug 22</c:v>
                </c:pt>
                <c:pt idx="28">
                  <c:v>Aug 29</c:v>
                </c:pt>
              </c:strCache>
            </c:strRef>
          </c:cat>
          <c:val>
            <c:numRef>
              <c:f>Sheet1!$C$2:$C$32</c:f>
              <c:numCache>
                <c:formatCode>General</c:formatCode>
                <c:ptCount val="31"/>
                <c:pt idx="0">
                  <c:v>99.9</c:v>
                </c:pt>
                <c:pt idx="1">
                  <c:v>99.9</c:v>
                </c:pt>
                <c:pt idx="2">
                  <c:v>99.9</c:v>
                </c:pt>
                <c:pt idx="3">
                  <c:v>99.9</c:v>
                </c:pt>
                <c:pt idx="4">
                  <c:v>99.9</c:v>
                </c:pt>
                <c:pt idx="5">
                  <c:v>99.9</c:v>
                </c:pt>
                <c:pt idx="6">
                  <c:v>99.9</c:v>
                </c:pt>
                <c:pt idx="7">
                  <c:v>99.9</c:v>
                </c:pt>
                <c:pt idx="8">
                  <c:v>99.9</c:v>
                </c:pt>
                <c:pt idx="9">
                  <c:v>99.9</c:v>
                </c:pt>
                <c:pt idx="10">
                  <c:v>99.9</c:v>
                </c:pt>
                <c:pt idx="11">
                  <c:v>99.9</c:v>
                </c:pt>
                <c:pt idx="12">
                  <c:v>99.9</c:v>
                </c:pt>
                <c:pt idx="13">
                  <c:v>99.9</c:v>
                </c:pt>
                <c:pt idx="14">
                  <c:v>99.9</c:v>
                </c:pt>
                <c:pt idx="15">
                  <c:v>99.9</c:v>
                </c:pt>
                <c:pt idx="16">
                  <c:v>99.9</c:v>
                </c:pt>
                <c:pt idx="17">
                  <c:v>99.9</c:v>
                </c:pt>
                <c:pt idx="18">
                  <c:v>99.9</c:v>
                </c:pt>
                <c:pt idx="19">
                  <c:v>99.9</c:v>
                </c:pt>
                <c:pt idx="20">
                  <c:v>99.9</c:v>
                </c:pt>
                <c:pt idx="21">
                  <c:v>99.9</c:v>
                </c:pt>
                <c:pt idx="22">
                  <c:v>99.9</c:v>
                </c:pt>
                <c:pt idx="23">
                  <c:v>99.9</c:v>
                </c:pt>
                <c:pt idx="24">
                  <c:v>99.9</c:v>
                </c:pt>
                <c:pt idx="25">
                  <c:v>99.9</c:v>
                </c:pt>
                <c:pt idx="26">
                  <c:v>99.9</c:v>
                </c:pt>
                <c:pt idx="27">
                  <c:v>99.9</c:v>
                </c:pt>
                <c:pt idx="28">
                  <c:v>99.9</c:v>
                </c:pt>
                <c:pt idx="29">
                  <c:v>99.9</c:v>
                </c:pt>
                <c:pt idx="30">
                  <c:v>99.9</c:v>
                </c:pt>
              </c:numCache>
            </c:numRef>
          </c:val>
          <c:smooth val="1"/>
          <c:extLst>
            <c:ext xmlns:c16="http://schemas.microsoft.com/office/drawing/2014/chart" uri="{C3380CC4-5D6E-409C-BE32-E72D297353CC}">
              <c16:uniqueId val="{00000001-0F9E-40B3-8C11-9C790402B42F}"/>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none"/>
        <c:minorTickMark val="none"/>
        <c:tickLblPos val="low"/>
        <c:spPr>
          <a:ln w="12700" cap="flat">
            <a:solidFill>
              <a:srgbClr val="E6EAF4"/>
            </a:solidFill>
            <a:prstDash val="solid"/>
            <a:round/>
          </a:ln>
        </c:spPr>
        <c:txPr>
          <a:bodyPr/>
          <a:lstStyle/>
          <a:p>
            <a:pPr>
              <a:defRPr sz="850" b="0" i="0" u="none" strike="noStrike">
                <a:solidFill>
                  <a:srgbClr val="5A5E63"/>
                </a:solidFill>
                <a:latin typeface="+mn-lt"/>
              </a:defRPr>
            </a:pPr>
            <a:endParaRPr lang="en-US"/>
          </a:p>
        </c:txPr>
        <c:crossAx val="2094734552"/>
        <c:crosses val="autoZero"/>
        <c:auto val="1"/>
        <c:lblAlgn val="ctr"/>
        <c:lblOffset val="100"/>
        <c:noMultiLvlLbl val="1"/>
      </c:catAx>
      <c:valAx>
        <c:axId val="2094734552"/>
        <c:scaling>
          <c:orientation val="minMax"/>
          <c:max val="100"/>
          <c:min val="99.6"/>
        </c:scaling>
        <c:delete val="0"/>
        <c:axPos val="l"/>
        <c:majorGridlines>
          <c:spPr>
            <a:ln w="9525" cap="flat">
              <a:solidFill>
                <a:srgbClr val="E6EAF4"/>
              </a:solidFill>
              <a:prstDash val="solid"/>
              <a:round/>
            </a:ln>
          </c:spPr>
        </c:majorGridlines>
        <c:numFmt formatCode="0.0&quot;%&quot;" sourceLinked="0"/>
        <c:majorTickMark val="none"/>
        <c:minorTickMark val="none"/>
        <c:tickLblPos val="nextTo"/>
        <c:spPr>
          <a:ln w="12700" cap="flat">
            <a:noFill/>
            <a:prstDash val="solid"/>
            <a:round/>
          </a:ln>
        </c:spPr>
        <c:txPr>
          <a:bodyPr/>
          <a:lstStyle/>
          <a:p>
            <a:pPr>
              <a:defRPr sz="850" b="0" i="0" u="none" strike="noStrike">
                <a:solidFill>
                  <a:srgbClr val="5A5E63"/>
                </a:solidFill>
                <a:latin typeface="+mn-lt"/>
              </a:defRPr>
            </a:pPr>
            <a:endParaRPr lang="en-US"/>
          </a:p>
        </c:txPr>
        <c:crossAx val="2094734554"/>
        <c:crosses val="autoZero"/>
        <c:crossBetween val="between"/>
        <c:majorUnit val="0.1"/>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84049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purpose. This review covers Atlas’s first month in production, measured on the same data and the same scoring as the dashboard Northstar already has, and the proposal to bring the four sister brands onto the platform. We want to leave today with a group sponsor and agreement on the Ridgeline pilot.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outcome and give the caveat in the same breath. Tier-1 automation averaged 67.9% in August and reached 70.1% in the final week; 70% was first reached on Aug 27. Handle time fell from 8m 03s to 7m 25s and CSAT rose from 80.8 to 83.7 within the month. The −35% and +12 points are against Northstar’s own pre-launch baselines, which we’ll validate together. These are the same tiles, on the same basis, as the Outcomes view of the dashboard.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health panel from the dashboard. Reliability 3.3, Adoption 3.0, Model quality 4.0, User outcomes 4.0; 3.58 overall. Model quality and user outcomes are strongest. Adoption and reliability are where the work is. Adoption is a 3 because automation averaged 67.9%, just under the 70% band, although it finished the month above it. Reliability is a 3.3, and the reliability slide deals with it honestly.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Quality moved one way all month: grounded answers 92.2% to 96.0%, eval pass 91.4% to 94.8%, and escalations down 2.7 points. The knowledge refresh on 24 Aug, the purple marker, is where grounding steps up. Automation climbed steadily from 65.8% to 70.1% with no plateau yet, and automated tickets grew faster than total tickets, so more of the work is being handed to the model. One thing to review together: requests per ticket rose from 4.6 to 6.2.</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what we know. Availability averaged 99.85% and met 99.9% on only 4 of 31 days, so this is not just the two incident days. At 19,000 to 31,000 requests a day Atlas is unlikely to sit idle at zero for long, so we should not assume cold starts are the cause. The next step is the deployment telemetry: scale-up events and error codes by hour. Meanwhile we retune scale-up thresholds and pre-warm before planned promotions. Always-on capacity for Atlas alone would be about $5,800 a month, $8,800 with EU-only placement; we would only recommend it if the telemetry shows scale-up is driving the misses. On the shared deployment the same capacity is about $1,200 to $1,800 per brand.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one open-weight base model on a shared deployment, one adapter per brand for tone, workflow and policy-following behaviour, and a separate knowledge index and system prompt per brand. Policy facts such as return windows live in the index, not the weights, so they can change without retraining. Atlas’s adapter moves over unchanged. Halden, the largest brand, can move to its own deployment once its volume keeps capacity busy. Why not reuse Atlas with a new prompt: its tone and policy-handling habits are learned and would leak. Why not five separate models: five deployments to run and retrain, and the smaller brands don’t have enough transcripts.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pilot gives the cheapest option a fair test. Arm A uses no brand-specific training; if it clears every criterion, we skip the adapter. Arm B adds a Ridgeline adapter. Both run for four weeks against criteria we agree today. We also capture Ridgeline’s baselines before launch, so the uplift is measured directly rather than relying on supplied figures.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Sequence: agree the sponsor and dependencies this month, stand up the shared deployment and prove Atlas parity in November, run the Ridgeline pilot through December, read out in January, then Halden and Polar in Q1 and Harbour &amp; Hide in Q2. Budget: the shared deployment is billed as dedicated capacity, about $5,800 a month for one replica, $8,800 with EU-only placement; training cost is immaterial. The number of replicas is sized from a load benchmark before we commit. The overlap while Atlas moves is budgeted in weeks.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 risk that matters: if group sponsorship doesn’t happen, the rollout stays with Atlas and the shared capacity never pays for itself. Ask for three things: a named group sponsor, joint agreement on the Ridgeline criteria, and shared capacity sized alongside a second brand, based on what the telemetry shows. Then land the five messages.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These are the joint next actions from the Next steps view of the dashboard, with owners and dates, so everyone leaves with the same list. Open the floor for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4048" y="0"/>
            <a:ext cx="0" cy="6858000"/>
          </a:xfrm>
          <a:prstGeom prst="line">
            <a:avLst/>
          </a:prstGeom>
          <a:noFill/>
          <a:ln w="9525">
            <a:solidFill>
              <a:srgbClr val="E6EAF4"/>
            </a:solidFill>
            <a:prstDash val="solid"/>
          </a:ln>
        </p:spPr>
      </p:sp>
      <p:sp>
        <p:nvSpPr>
          <p:cNvPr id="3" name="Shape 1"/>
          <p:cNvSpPr/>
          <p:nvPr/>
        </p:nvSpPr>
        <p:spPr>
          <a:xfrm>
            <a:off x="11807647" y="0"/>
            <a:ext cx="0" cy="6858000"/>
          </a:xfrm>
          <a:prstGeom prst="line">
            <a:avLst/>
          </a:prstGeom>
          <a:noFill/>
          <a:ln w="9525">
            <a:solidFill>
              <a:srgbClr val="E6EAF4"/>
            </a:solidFill>
            <a:prstDash val="solid"/>
          </a:ln>
        </p:spPr>
      </p:sp>
      <p:sp>
        <p:nvSpPr>
          <p:cNvPr id="4" name="Shape 2"/>
          <p:cNvSpPr/>
          <p:nvPr/>
        </p:nvSpPr>
        <p:spPr>
          <a:xfrm>
            <a:off x="0" y="713232"/>
            <a:ext cx="12191695" cy="0"/>
          </a:xfrm>
          <a:prstGeom prst="line">
            <a:avLst/>
          </a:prstGeom>
          <a:noFill/>
          <a:ln w="9525">
            <a:solidFill>
              <a:srgbClr val="E6EAF4"/>
            </a:solidFill>
            <a:prstDash val="solid"/>
          </a:ln>
        </p:spPr>
      </p:sp>
      <p:pic>
        <p:nvPicPr>
          <p:cNvPr id="5" name="Image 0" descr="preencoded.png"/>
          <p:cNvPicPr>
            <a:picLocks noChangeAspect="1"/>
          </p:cNvPicPr>
          <p:nvPr/>
        </p:nvPicPr>
        <p:blipFill>
          <a:blip r:embed="rId2"/>
          <a:stretch>
            <a:fillRect/>
          </a:stretch>
        </p:blipFill>
        <p:spPr>
          <a:xfrm>
            <a:off x="731520" y="246888"/>
            <a:ext cx="1710759" cy="219456"/>
          </a:xfrm>
          <a:prstGeom prst="rect">
            <a:avLst/>
          </a:prstGeom>
        </p:spPr>
      </p:pic>
      <p:sp>
        <p:nvSpPr>
          <p:cNvPr id="6" name="Shape 3"/>
          <p:cNvSpPr/>
          <p:nvPr/>
        </p:nvSpPr>
        <p:spPr>
          <a:xfrm>
            <a:off x="2661735" y="228600"/>
            <a:ext cx="0" cy="256032"/>
          </a:xfrm>
          <a:prstGeom prst="line">
            <a:avLst/>
          </a:prstGeom>
          <a:noFill/>
          <a:ln w="9525">
            <a:solidFill>
              <a:srgbClr val="E6EAF4"/>
            </a:solidFill>
            <a:prstDash val="solid"/>
          </a:ln>
        </p:spPr>
      </p:sp>
      <p:sp>
        <p:nvSpPr>
          <p:cNvPr id="7" name="Text 4"/>
          <p:cNvSpPr/>
          <p:nvPr/>
        </p:nvSpPr>
        <p:spPr>
          <a:xfrm>
            <a:off x="5882335" y="219456"/>
            <a:ext cx="5120640" cy="274320"/>
          </a:xfrm>
          <a:prstGeom prst="rect">
            <a:avLst/>
          </a:prstGeom>
          <a:noFill/>
          <a:ln/>
        </p:spPr>
        <p:txBody>
          <a:bodyPr wrap="square" lIns="0" tIns="0" rIns="0" bIns="0" rtlCol="0" anchor="ctr"/>
          <a:lstStyle/>
          <a:p>
            <a:pPr marL="0" indent="0" algn="r">
              <a:buNone/>
            </a:pPr>
            <a:r>
              <a:rPr lang="en-US" sz="950" dirty="0">
                <a:solidFill>
                  <a:srgbClr val="5A5E63"/>
                </a:solidFill>
                <a:latin typeface="Inter" pitchFamily="34" charset="0"/>
                <a:ea typeface="Inter" pitchFamily="34" charset="-122"/>
                <a:cs typeface="Inter" pitchFamily="34" charset="-120"/>
              </a:rPr>
              <a:t>Northstar Retail Group · Executive Business Review · October 2026</a:t>
            </a:r>
            <a:endParaRPr lang="en-US" sz="950" dirty="0"/>
          </a:p>
        </p:txBody>
      </p:sp>
      <p:sp>
        <p:nvSpPr>
          <p:cNvPr id="8" name="Text 5"/>
          <p:cNvSpPr>
            <a:spLocks noGrp="1"/>
          </p:cNvSpPr>
          <p:nvPr>
            <p:ph type="body" idx="106" hasCustomPrompt="1"/>
          </p:nvPr>
        </p:nvSpPr>
        <p:spPr>
          <a:xfrm>
            <a:off x="2881191" y="219456"/>
            <a:ext cx="3200400" cy="274320"/>
          </a:xfrm>
          <a:prstGeom prst="rect">
            <a:avLst/>
          </a:prstGeom>
          <a:noFill/>
          <a:ln/>
        </p:spPr>
        <p:txBody>
          <a:bodyPr wrap="square" rtlCol="0"/>
          <a:lstStyle>
            <a:lvl1pPr marL="0" indent="0">
              <a:buNone/>
              <a:defRPr lang="en-US" sz="1100" dirty="0">
                <a:solidFill>
                  <a:srgbClr val="16181D"/>
                </a:solidFill>
                <a:latin typeface="Inter Medium" pitchFamily="34" charset="0"/>
                <a:ea typeface="Inter Medium" pitchFamily="34" charset="-122"/>
                <a:cs typeface="Inter Medium" pitchFamily="34" charset="-120"/>
              </a:defRPr>
            </a:lvl1pPr>
          </a:lstStyle>
          <a:p>
            <a:pPr marL="0" indent="0">
              <a:buNone/>
            </a:pPr>
            <a:endParaRPr lang="en-US" sz="1100" dirty="0"/>
          </a:p>
        </p:txBody>
      </p:sp>
      <p:sp>
        <p:nvSpPr>
          <p:cNvPr id="9" name="Text 5"/>
          <p:cNvSpPr>
            <a:spLocks noGrp="1"/>
          </p:cNvSpPr>
          <p:nvPr>
            <p:ph type="title" idx="107" hasCustomPrompt="1"/>
          </p:nvPr>
        </p:nvSpPr>
        <p:spPr>
          <a:xfrm>
            <a:off x="731520" y="969264"/>
            <a:ext cx="10728655" cy="566928"/>
          </a:xfrm>
          <a:prstGeom prst="rect">
            <a:avLst/>
          </a:prstGeom>
          <a:noFill/>
          <a:ln/>
        </p:spPr>
        <p:txBody>
          <a:bodyPr wrap="square" rtlCol="0"/>
          <a:lstStyle>
            <a:lvl1pPr marL="0" indent="0" algn="l">
              <a:buNone/>
              <a:defRPr lang="en-US" sz="2800" kern="0" spc="-70" dirty="0">
                <a:solidFill>
                  <a:srgbClr val="16181D"/>
                </a:solidFill>
                <a:latin typeface="Inter Medium" pitchFamily="34" charset="0"/>
                <a:ea typeface="Inter Medium" pitchFamily="34" charset="-122"/>
                <a:cs typeface="Inter Medium" pitchFamily="34" charset="-120"/>
              </a:defRPr>
            </a:lvl1pPr>
          </a:lstStyle>
          <a:p>
            <a:pPr marL="0" indent="0" algn="l">
              <a:buNone/>
            </a:pPr>
            <a:endParaRPr lang="en-US" sz="2800" dirty="0"/>
          </a:p>
        </p:txBody>
      </p:sp>
      <p:sp>
        <p:nvSpPr>
          <p:cNvPr id="10" name="Text 5"/>
          <p:cNvSpPr>
            <a:spLocks noGrp="1"/>
          </p:cNvSpPr>
          <p:nvPr>
            <p:ph type="body" idx="108" hasCustomPrompt="1"/>
          </p:nvPr>
        </p:nvSpPr>
        <p:spPr>
          <a:xfrm>
            <a:off x="731520" y="1517904"/>
            <a:ext cx="10728655" cy="457200"/>
          </a:xfrm>
          <a:prstGeom prst="rect">
            <a:avLst/>
          </a:prstGeom>
          <a:noFill/>
          <a:ln/>
        </p:spPr>
        <p:txBody>
          <a:bodyPr wrap="square" rtlCol="0"/>
          <a:lstStyle>
            <a:lvl1pPr marL="0" indent="0">
              <a:buNone/>
              <a:defRPr lang="en-US" sz="1300" dirty="0">
                <a:solidFill>
                  <a:srgbClr val="5A5E63"/>
                </a:solidFill>
                <a:latin typeface="Inter" pitchFamily="34" charset="0"/>
                <a:ea typeface="Inter" pitchFamily="34" charset="-122"/>
                <a:cs typeface="Inter" pitchFamily="34" charset="-120"/>
              </a:defRPr>
            </a:lvl1pPr>
          </a:lstStyle>
          <a:p>
            <a:pPr marL="0" indent="0">
              <a:buNone/>
            </a:pPr>
            <a:endParaRPr lang="en-US" sz="1300" dirty="0"/>
          </a:p>
        </p:txBody>
      </p:sp>
      <p:sp>
        <p:nvSpPr>
          <p:cNvPr id="25"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ma14="http://schemas.microsoft.com/office/mac/drawingml/2011/main" xmlns=""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4048" y="0"/>
            <a:ext cx="0" cy="6858000"/>
          </a:xfrm>
          <a:prstGeom prst="line">
            <a:avLst/>
          </a:prstGeom>
          <a:noFill/>
          <a:ln w="9525">
            <a:solidFill>
              <a:srgbClr val="E6EAF4"/>
            </a:solidFill>
            <a:prstDash val="solid"/>
          </a:ln>
        </p:spPr>
      </p:sp>
      <p:sp>
        <p:nvSpPr>
          <p:cNvPr id="3" name="Shape 1"/>
          <p:cNvSpPr/>
          <p:nvPr/>
        </p:nvSpPr>
        <p:spPr>
          <a:xfrm>
            <a:off x="11807647" y="0"/>
            <a:ext cx="0" cy="6858000"/>
          </a:xfrm>
          <a:prstGeom prst="line">
            <a:avLst/>
          </a:prstGeom>
          <a:noFill/>
          <a:ln w="9525">
            <a:solidFill>
              <a:srgbClr val="E6EAF4"/>
            </a:solidFill>
            <a:prstDash val="solid"/>
          </a:ln>
        </p:spPr>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4048" y="0"/>
            <a:ext cx="0" cy="6858000"/>
          </a:xfrm>
          <a:prstGeom prst="line">
            <a:avLst/>
          </a:prstGeom>
          <a:noFill/>
          <a:ln w="9525">
            <a:solidFill>
              <a:srgbClr val="E6EAF4"/>
            </a:solidFill>
            <a:prstDash val="solid"/>
          </a:ln>
        </p:spPr>
      </p:sp>
      <p:sp>
        <p:nvSpPr>
          <p:cNvPr id="3" name="Shape 1"/>
          <p:cNvSpPr/>
          <p:nvPr/>
        </p:nvSpPr>
        <p:spPr>
          <a:xfrm>
            <a:off x="11807647" y="0"/>
            <a:ext cx="0" cy="6858000"/>
          </a:xfrm>
          <a:prstGeom prst="line">
            <a:avLst/>
          </a:prstGeom>
          <a:noFill/>
          <a:ln w="9525">
            <a:solidFill>
              <a:srgbClr val="E6EAF4"/>
            </a:solidFill>
            <a:prstDash val="solid"/>
          </a:ln>
        </p:spPr>
      </p:sp>
      <p:sp>
        <p:nvSpPr>
          <p:cNvPr id="4" name="Shape 2"/>
          <p:cNvSpPr/>
          <p:nvPr/>
        </p:nvSpPr>
        <p:spPr>
          <a:xfrm>
            <a:off x="0" y="713232"/>
            <a:ext cx="12191695" cy="0"/>
          </a:xfrm>
          <a:prstGeom prst="line">
            <a:avLst/>
          </a:prstGeom>
          <a:noFill/>
          <a:ln w="9525">
            <a:solidFill>
              <a:srgbClr val="E6EAF4"/>
            </a:solidFill>
            <a:prstDash val="solid"/>
          </a:ln>
        </p:spPr>
      </p:sp>
      <p:pic>
        <p:nvPicPr>
          <p:cNvPr id="5" name="Image 0" descr="preencoded.png"/>
          <p:cNvPicPr>
            <a:picLocks noChangeAspect="1"/>
          </p:cNvPicPr>
          <p:nvPr/>
        </p:nvPicPr>
        <p:blipFill>
          <a:blip r:embed="rId2"/>
          <a:stretch>
            <a:fillRect/>
          </a:stretch>
        </p:blipFill>
        <p:spPr>
          <a:xfrm>
            <a:off x="731520" y="246888"/>
            <a:ext cx="1710759" cy="219456"/>
          </a:xfrm>
          <a:prstGeom prst="rect">
            <a:avLst/>
          </a:prstGeom>
        </p:spPr>
      </p:pic>
      <p:sp>
        <p:nvSpPr>
          <p:cNvPr id="6" name="Shape 3"/>
          <p:cNvSpPr/>
          <p:nvPr/>
        </p:nvSpPr>
        <p:spPr>
          <a:xfrm>
            <a:off x="2661735" y="228600"/>
            <a:ext cx="0" cy="256032"/>
          </a:xfrm>
          <a:prstGeom prst="line">
            <a:avLst/>
          </a:prstGeom>
          <a:noFill/>
          <a:ln w="9525">
            <a:solidFill>
              <a:srgbClr val="E6EAF4"/>
            </a:solidFill>
            <a:prstDash val="solid"/>
          </a:ln>
        </p:spPr>
      </p:sp>
      <p:sp>
        <p:nvSpPr>
          <p:cNvPr id="7" name="Text 4"/>
          <p:cNvSpPr/>
          <p:nvPr/>
        </p:nvSpPr>
        <p:spPr>
          <a:xfrm>
            <a:off x="5882335" y="219456"/>
            <a:ext cx="5120640" cy="274320"/>
          </a:xfrm>
          <a:prstGeom prst="rect">
            <a:avLst/>
          </a:prstGeom>
          <a:noFill/>
          <a:ln/>
        </p:spPr>
        <p:txBody>
          <a:bodyPr wrap="square" lIns="0" tIns="0" rIns="0" bIns="0" rtlCol="0" anchor="ctr"/>
          <a:lstStyle/>
          <a:p>
            <a:pPr marL="0" indent="0" algn="r">
              <a:buNone/>
            </a:pPr>
            <a:r>
              <a:rPr lang="en-US" sz="950" dirty="0">
                <a:solidFill>
                  <a:srgbClr val="5A5E63"/>
                </a:solidFill>
                <a:latin typeface="Inter" pitchFamily="34" charset="0"/>
                <a:ea typeface="Inter" pitchFamily="34" charset="-122"/>
                <a:cs typeface="Inter" pitchFamily="34" charset="-120"/>
              </a:rPr>
              <a:t>Northstar Retail Group · Executive Business Review · October 2026</a:t>
            </a:r>
            <a:endParaRPr lang="en-US" sz="95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ma14="http://schemas.microsoft.com/office/mac/drawingml/2011/main" xmlns=""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chart" Target="../charts/chart2.xml"/></Relationships>
</file>

<file path=ppt/slides/_rels/slide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Fireworks AI"/>
          <p:cNvPicPr>
            <a:picLocks noChangeAspect="1"/>
          </p:cNvPicPr>
          <p:nvPr/>
        </p:nvPicPr>
        <p:blipFill>
          <a:blip r:embed="rId3"/>
          <a:stretch>
            <a:fillRect/>
          </a:stretch>
        </p:blipFill>
        <p:spPr>
          <a:xfrm>
            <a:off x="731520" y="841248"/>
            <a:ext cx="3278955" cy="420624"/>
          </a:xfrm>
          <a:prstGeom prst="rect">
            <a:avLst/>
          </a:prstGeom>
        </p:spPr>
      </p:pic>
      <p:sp>
        <p:nvSpPr>
          <p:cNvPr id="3" name="Shape 0"/>
          <p:cNvSpPr/>
          <p:nvPr/>
        </p:nvSpPr>
        <p:spPr>
          <a:xfrm>
            <a:off x="10957255" y="841248"/>
            <a:ext cx="219456" cy="219456"/>
          </a:xfrm>
          <a:prstGeom prst="rect">
            <a:avLst/>
          </a:prstGeom>
          <a:solidFill>
            <a:srgbClr val="6720FF"/>
          </a:solidFill>
          <a:ln/>
        </p:spPr>
      </p:sp>
      <p:sp>
        <p:nvSpPr>
          <p:cNvPr id="4" name="Shape 1"/>
          <p:cNvSpPr/>
          <p:nvPr/>
        </p:nvSpPr>
        <p:spPr>
          <a:xfrm>
            <a:off x="11240719" y="841248"/>
            <a:ext cx="219456" cy="219456"/>
          </a:xfrm>
          <a:prstGeom prst="rect">
            <a:avLst/>
          </a:prstGeom>
          <a:solidFill>
            <a:srgbClr val="6720FF"/>
          </a:solidFill>
          <a:ln/>
        </p:spPr>
      </p:sp>
      <p:sp>
        <p:nvSpPr>
          <p:cNvPr id="5" name="Shape 2"/>
          <p:cNvSpPr/>
          <p:nvPr/>
        </p:nvSpPr>
        <p:spPr>
          <a:xfrm>
            <a:off x="10673791" y="1124712"/>
            <a:ext cx="219456" cy="219456"/>
          </a:xfrm>
          <a:prstGeom prst="rect">
            <a:avLst/>
          </a:prstGeom>
          <a:solidFill>
            <a:srgbClr val="6720FF"/>
          </a:solidFill>
          <a:ln/>
        </p:spPr>
      </p:sp>
      <p:sp>
        <p:nvSpPr>
          <p:cNvPr id="6" name="Shape 3"/>
          <p:cNvSpPr/>
          <p:nvPr/>
        </p:nvSpPr>
        <p:spPr>
          <a:xfrm>
            <a:off x="10957255" y="1124712"/>
            <a:ext cx="219456" cy="219456"/>
          </a:xfrm>
          <a:prstGeom prst="rect">
            <a:avLst/>
          </a:prstGeom>
          <a:solidFill>
            <a:srgbClr val="CEB4FF"/>
          </a:solidFill>
          <a:ln/>
        </p:spPr>
      </p:sp>
      <p:sp>
        <p:nvSpPr>
          <p:cNvPr id="7" name="Shape 4"/>
          <p:cNvSpPr/>
          <p:nvPr/>
        </p:nvSpPr>
        <p:spPr>
          <a:xfrm>
            <a:off x="11240719" y="1124712"/>
            <a:ext cx="219456" cy="219456"/>
          </a:xfrm>
          <a:prstGeom prst="rect">
            <a:avLst/>
          </a:prstGeom>
          <a:solidFill>
            <a:srgbClr val="6720FF"/>
          </a:solidFill>
          <a:ln/>
        </p:spPr>
      </p:sp>
      <p:sp>
        <p:nvSpPr>
          <p:cNvPr id="8" name="Shape 5"/>
          <p:cNvSpPr/>
          <p:nvPr/>
        </p:nvSpPr>
        <p:spPr>
          <a:xfrm>
            <a:off x="10390327" y="1408176"/>
            <a:ext cx="219456" cy="219456"/>
          </a:xfrm>
          <a:prstGeom prst="rect">
            <a:avLst/>
          </a:prstGeom>
          <a:solidFill>
            <a:srgbClr val="6720FF"/>
          </a:solidFill>
          <a:ln/>
        </p:spPr>
      </p:sp>
      <p:sp>
        <p:nvSpPr>
          <p:cNvPr id="9" name="Shape 6"/>
          <p:cNvSpPr/>
          <p:nvPr/>
        </p:nvSpPr>
        <p:spPr>
          <a:xfrm>
            <a:off x="10673791" y="1408176"/>
            <a:ext cx="219456" cy="219456"/>
          </a:xfrm>
          <a:prstGeom prst="rect">
            <a:avLst/>
          </a:prstGeom>
          <a:solidFill>
            <a:srgbClr val="CEB4FF"/>
          </a:solidFill>
          <a:ln/>
        </p:spPr>
      </p:sp>
      <p:sp>
        <p:nvSpPr>
          <p:cNvPr id="10" name="Shape 7"/>
          <p:cNvSpPr/>
          <p:nvPr/>
        </p:nvSpPr>
        <p:spPr>
          <a:xfrm>
            <a:off x="10957255" y="1408176"/>
            <a:ext cx="219456" cy="219456"/>
          </a:xfrm>
          <a:prstGeom prst="rect">
            <a:avLst/>
          </a:prstGeom>
          <a:solidFill>
            <a:srgbClr val="E0D2FD"/>
          </a:solidFill>
          <a:ln/>
        </p:spPr>
      </p:sp>
      <p:sp>
        <p:nvSpPr>
          <p:cNvPr id="11" name="Shape 8"/>
          <p:cNvSpPr/>
          <p:nvPr/>
        </p:nvSpPr>
        <p:spPr>
          <a:xfrm>
            <a:off x="11240719" y="1408176"/>
            <a:ext cx="219456" cy="219456"/>
          </a:xfrm>
          <a:prstGeom prst="rect">
            <a:avLst/>
          </a:prstGeom>
          <a:solidFill>
            <a:srgbClr val="CEB4FF"/>
          </a:solidFill>
          <a:ln/>
        </p:spPr>
      </p:sp>
      <p:sp>
        <p:nvSpPr>
          <p:cNvPr id="12" name="Shape 9"/>
          <p:cNvSpPr/>
          <p:nvPr/>
        </p:nvSpPr>
        <p:spPr>
          <a:xfrm>
            <a:off x="10106863" y="1691640"/>
            <a:ext cx="219456" cy="219456"/>
          </a:xfrm>
          <a:prstGeom prst="rect">
            <a:avLst/>
          </a:prstGeom>
          <a:solidFill>
            <a:srgbClr val="6720FF"/>
          </a:solidFill>
          <a:ln/>
        </p:spPr>
      </p:sp>
      <p:sp>
        <p:nvSpPr>
          <p:cNvPr id="13" name="Shape 10"/>
          <p:cNvSpPr/>
          <p:nvPr/>
        </p:nvSpPr>
        <p:spPr>
          <a:xfrm>
            <a:off x="10390327" y="1691640"/>
            <a:ext cx="219456" cy="219456"/>
          </a:xfrm>
          <a:prstGeom prst="rect">
            <a:avLst/>
          </a:prstGeom>
          <a:solidFill>
            <a:srgbClr val="CEB4FF"/>
          </a:solidFill>
          <a:ln/>
        </p:spPr>
      </p:sp>
      <p:sp>
        <p:nvSpPr>
          <p:cNvPr id="14" name="Shape 11"/>
          <p:cNvSpPr/>
          <p:nvPr/>
        </p:nvSpPr>
        <p:spPr>
          <a:xfrm>
            <a:off x="10673791" y="1691640"/>
            <a:ext cx="219456" cy="219456"/>
          </a:xfrm>
          <a:prstGeom prst="rect">
            <a:avLst/>
          </a:prstGeom>
          <a:solidFill>
            <a:srgbClr val="E0D2FD"/>
          </a:solidFill>
          <a:ln/>
        </p:spPr>
      </p:sp>
      <p:sp>
        <p:nvSpPr>
          <p:cNvPr id="15" name="Shape 12"/>
          <p:cNvSpPr/>
          <p:nvPr/>
        </p:nvSpPr>
        <p:spPr>
          <a:xfrm>
            <a:off x="9823399" y="1975104"/>
            <a:ext cx="219456" cy="219456"/>
          </a:xfrm>
          <a:prstGeom prst="rect">
            <a:avLst/>
          </a:prstGeom>
          <a:solidFill>
            <a:srgbClr val="6720FF"/>
          </a:solidFill>
          <a:ln/>
        </p:spPr>
      </p:sp>
      <p:sp>
        <p:nvSpPr>
          <p:cNvPr id="16" name="Shape 13"/>
          <p:cNvSpPr/>
          <p:nvPr/>
        </p:nvSpPr>
        <p:spPr>
          <a:xfrm>
            <a:off x="10106863" y="1975104"/>
            <a:ext cx="219456" cy="219456"/>
          </a:xfrm>
          <a:prstGeom prst="rect">
            <a:avLst/>
          </a:prstGeom>
          <a:solidFill>
            <a:srgbClr val="CEB4FF"/>
          </a:solidFill>
          <a:ln/>
        </p:spPr>
      </p:sp>
      <p:sp>
        <p:nvSpPr>
          <p:cNvPr id="17" name="Shape 14"/>
          <p:cNvSpPr/>
          <p:nvPr/>
        </p:nvSpPr>
        <p:spPr>
          <a:xfrm>
            <a:off x="10390327" y="1975104"/>
            <a:ext cx="219456" cy="219456"/>
          </a:xfrm>
          <a:prstGeom prst="rect">
            <a:avLst/>
          </a:prstGeom>
          <a:solidFill>
            <a:srgbClr val="E0D2FD"/>
          </a:solidFill>
          <a:ln/>
        </p:spPr>
      </p:sp>
      <p:sp>
        <p:nvSpPr>
          <p:cNvPr id="18" name="Text 15"/>
          <p:cNvSpPr txBox="1"/>
          <p:nvPr/>
        </p:nvSpPr>
        <p:spPr>
          <a:xfrm>
            <a:off x="731520" y="2697480"/>
            <a:ext cx="5486400" cy="274320"/>
          </a:xfrm>
          <a:prstGeom prst="rect">
            <a:avLst/>
          </a:prstGeom>
          <a:noFill/>
          <a:ln/>
        </p:spPr>
        <p:txBody>
          <a:bodyPr wrap="square" lIns="0" tIns="0" rIns="0" bIns="0" rtlCol="0" anchor="t"/>
          <a:lstStyle/>
          <a:p>
            <a:pPr marL="0" indent="0">
              <a:buNone/>
            </a:pPr>
            <a:r>
              <a:rPr lang="en-US" sz="1400" dirty="0">
                <a:solidFill>
                  <a:srgbClr val="501BC4"/>
                </a:solidFill>
                <a:latin typeface="Inter Medium" pitchFamily="34" charset="0"/>
                <a:ea typeface="Inter Medium" pitchFamily="34" charset="-122"/>
                <a:cs typeface="Inter Medium" pitchFamily="34" charset="-120"/>
              </a:rPr>
              <a:t>Executive Business Review</a:t>
            </a:r>
            <a:endParaRPr lang="en-US" sz="1400" dirty="0"/>
          </a:p>
        </p:txBody>
      </p:sp>
      <p:sp>
        <p:nvSpPr>
          <p:cNvPr id="19" name="Text 16"/>
          <p:cNvSpPr txBox="1"/>
          <p:nvPr/>
        </p:nvSpPr>
        <p:spPr>
          <a:xfrm>
            <a:off x="731520" y="3017520"/>
            <a:ext cx="10728655" cy="914400"/>
          </a:xfrm>
          <a:prstGeom prst="rect">
            <a:avLst/>
          </a:prstGeom>
          <a:noFill/>
          <a:ln/>
        </p:spPr>
        <p:txBody>
          <a:bodyPr wrap="square" lIns="0" tIns="0" rIns="0" bIns="0" rtlCol="0" anchor="t"/>
          <a:lstStyle/>
          <a:p>
            <a:pPr marL="0" indent="0">
              <a:buNone/>
            </a:pPr>
            <a:r>
              <a:rPr lang="en-US" sz="5000" kern="0" spc="-200" dirty="0">
                <a:solidFill>
                  <a:srgbClr val="16181D"/>
                </a:solidFill>
                <a:latin typeface="Inter Medium" pitchFamily="34" charset="0"/>
                <a:ea typeface="Inter Medium" pitchFamily="34" charset="-122"/>
                <a:cs typeface="Inter Medium" pitchFamily="34" charset="-120"/>
              </a:rPr>
              <a:t>Northstar Retail Group — Atlas</a:t>
            </a:r>
            <a:endParaRPr lang="en-US" sz="5000" dirty="0"/>
          </a:p>
        </p:txBody>
      </p:sp>
      <p:sp>
        <p:nvSpPr>
          <p:cNvPr id="20" name="Text 17"/>
          <p:cNvSpPr txBox="1"/>
          <p:nvPr/>
        </p:nvSpPr>
        <p:spPr>
          <a:xfrm>
            <a:off x="731520" y="4005072"/>
            <a:ext cx="10728655" cy="457200"/>
          </a:xfrm>
          <a:prstGeom prst="rect">
            <a:avLst/>
          </a:prstGeom>
          <a:noFill/>
          <a:ln/>
        </p:spPr>
        <p:txBody>
          <a:bodyPr wrap="square" lIns="0" tIns="0" rIns="0" bIns="0" rtlCol="0" anchor="t"/>
          <a:lstStyle/>
          <a:p>
            <a:pPr marL="0" indent="0">
              <a:buNone/>
            </a:pPr>
            <a:r>
              <a:rPr lang="en-US" sz="2000" dirty="0">
                <a:solidFill>
                  <a:srgbClr val="5A5E63"/>
                </a:solidFill>
                <a:latin typeface="Inter" pitchFamily="34" charset="0"/>
                <a:ea typeface="Inter" pitchFamily="34" charset="-122"/>
                <a:cs typeface="Inter" pitchFamily="34" charset="-120"/>
              </a:rPr>
              <a:t>Month one in production, and the plan for four more brands</a:t>
            </a:r>
            <a:endParaRPr lang="en-US" sz="2000" dirty="0"/>
          </a:p>
        </p:txBody>
      </p:sp>
      <p:sp>
        <p:nvSpPr>
          <p:cNvPr id="21" name="Shape 18"/>
          <p:cNvSpPr/>
          <p:nvPr/>
        </p:nvSpPr>
        <p:spPr>
          <a:xfrm>
            <a:off x="731520" y="5760720"/>
            <a:ext cx="10728655" cy="0"/>
          </a:xfrm>
          <a:prstGeom prst="line">
            <a:avLst/>
          </a:prstGeom>
          <a:noFill/>
          <a:ln w="9525">
            <a:solidFill>
              <a:srgbClr val="E6EAF4"/>
            </a:solidFill>
            <a:prstDash val="solid"/>
          </a:ln>
        </p:spPr>
      </p:sp>
      <p:sp>
        <p:nvSpPr>
          <p:cNvPr id="22" name="Text 19"/>
          <p:cNvSpPr txBox="1"/>
          <p:nvPr/>
        </p:nvSpPr>
        <p:spPr>
          <a:xfrm>
            <a:off x="731520" y="5925312"/>
            <a:ext cx="5486400" cy="274320"/>
          </a:xfrm>
          <a:prstGeom prst="rect">
            <a:avLst/>
          </a:prstGeom>
          <a:noFill/>
          <a:ln/>
        </p:spPr>
        <p:txBody>
          <a:bodyPr wrap="square" lIns="0" tIns="0" rIns="0" bIns="0" rtlCol="0" anchor="t"/>
          <a:lstStyle/>
          <a:p>
            <a:pPr marL="0" indent="0">
              <a:buNone/>
            </a:pPr>
            <a:r>
              <a:rPr lang="en-US" sz="1100" dirty="0">
                <a:solidFill>
                  <a:srgbClr val="5A5E63"/>
                </a:solidFill>
                <a:latin typeface="Inter" pitchFamily="34" charset="0"/>
                <a:ea typeface="Inter" pitchFamily="34" charset="-122"/>
                <a:cs typeface="Inter" pitchFamily="34" charset="-120"/>
              </a:rPr>
              <a:t>Model ID: </a:t>
            </a:r>
            <a:r>
              <a:rPr lang="en-US" sz="1100" dirty="0">
                <a:solidFill>
                  <a:srgbClr val="5A5E63"/>
                </a:solidFill>
                <a:latin typeface="Consolas" pitchFamily="34" charset="0"/>
                <a:ea typeface="Consolas" pitchFamily="34" charset="-122"/>
                <a:cs typeface="Consolas" pitchFamily="34" charset="-120"/>
              </a:rPr>
              <a:t>northstar-atlas-support-ft-v1</a:t>
            </a:r>
            <a:endParaRPr lang="en-US" sz="1100" dirty="0"/>
          </a:p>
        </p:txBody>
      </p:sp>
      <p:sp>
        <p:nvSpPr>
          <p:cNvPr id="23" name="Text 20"/>
          <p:cNvSpPr txBox="1"/>
          <p:nvPr/>
        </p:nvSpPr>
        <p:spPr>
          <a:xfrm>
            <a:off x="5973775" y="5925312"/>
            <a:ext cx="5486400" cy="274320"/>
          </a:xfrm>
          <a:prstGeom prst="rect">
            <a:avLst/>
          </a:prstGeom>
          <a:noFill/>
          <a:ln/>
        </p:spPr>
        <p:txBody>
          <a:bodyPr wrap="square" lIns="0" tIns="0" rIns="0" bIns="0" rtlCol="0" anchor="t"/>
          <a:lstStyle/>
          <a:p>
            <a:pPr marL="0" indent="0" algn="r">
              <a:buNone/>
            </a:pPr>
            <a:r>
              <a:rPr lang="en-US" sz="1100" dirty="0">
                <a:solidFill>
                  <a:srgbClr val="5A5E63"/>
                </a:solidFill>
                <a:latin typeface="Inter" pitchFamily="34" charset="0"/>
                <a:ea typeface="Inter" pitchFamily="34" charset="-122"/>
                <a:cs typeface="Inter" pitchFamily="34" charset="-120"/>
              </a:rPr>
              <a:t>Aug 1 – Aug 31, 2026 · Reviewed 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a:spLocks noGrp="1"/>
          </p:cNvSpPr>
          <p:nvPr>
            <p:ph type="body" idx="106" hasCustomPrompt="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Outcomes</a:t>
            </a:r>
            <a:endParaRPr lang="en-US" sz="1100" dirty="0"/>
          </a:p>
        </p:txBody>
      </p:sp>
      <p:sp>
        <p:nvSpPr>
          <p:cNvPr id="3" name="Text 5"/>
          <p:cNvSpPr>
            <a:spLocks noGrp="1"/>
          </p:cNvSpPr>
          <p:nvPr>
            <p:ph type="title" idx="107" hasCustomPrompt="1"/>
          </p:nvPr>
        </p:nvSpPr>
        <p:spPr>
          <a:xfrm>
            <a:off x="731520" y="969264"/>
            <a:ext cx="10728655" cy="566928"/>
          </a:xfrm>
          <a:prstGeom prst="rect">
            <a:avLst/>
          </a:prstGeom>
          <a:noFill/>
          <a:ln/>
        </p:spPr>
        <p:txBody>
          <a:bodyPr wrap="square" lIns="0" tIns="0" rIns="0" bIns="0" rtlCol="0" anchor="t"/>
          <a:lstStyle/>
          <a:p>
            <a:pPr marL="0" indent="0" algn="l">
              <a:buNone/>
            </a:pPr>
            <a:r>
              <a:rPr lang="en-US" sz="2800" kern="0" spc="-70" dirty="0">
                <a:solidFill>
                  <a:srgbClr val="16181D"/>
                </a:solidFill>
                <a:latin typeface="Inter Medium" pitchFamily="34" charset="0"/>
                <a:ea typeface="Inter Medium" pitchFamily="34" charset="-122"/>
                <a:cs typeface="Inter Medium" pitchFamily="34" charset="-120"/>
              </a:rPr>
              <a:t>Month one: Tier-1 automation reached 70% by the final week</a:t>
            </a:r>
            <a:endParaRPr lang="en-US" sz="2800" dirty="0"/>
          </a:p>
        </p:txBody>
      </p:sp>
      <p:sp>
        <p:nvSpPr>
          <p:cNvPr id="4" name="Text 5"/>
          <p:cNvSpPr>
            <a:spLocks noGrp="1"/>
          </p:cNvSpPr>
          <p:nvPr>
            <p:ph type="body" idx="108" hasCustomPrompt="1"/>
          </p:nvPr>
        </p:nvSpPr>
        <p:spPr>
          <a:xfrm>
            <a:off x="731520" y="1517904"/>
            <a:ext cx="10728655" cy="457200"/>
          </a:xfrm>
          <a:prstGeom prst="rect">
            <a:avLst/>
          </a:prstGeom>
          <a:noFill/>
          <a:ln/>
        </p:spPr>
        <p:txBody>
          <a:bodyPr wrap="square" lIns="0" tIns="0" rIns="0" bIns="0" rtlCol="0" anchor="t"/>
          <a:lstStyle/>
          <a:p>
            <a:pPr marL="0" indent="0">
              <a:buNone/>
            </a:pPr>
            <a:r>
              <a:rPr lang="en-US" sz="1300" dirty="0">
                <a:solidFill>
                  <a:srgbClr val="5A5E63"/>
                </a:solidFill>
                <a:latin typeface="Inter" pitchFamily="34" charset="0"/>
                <a:ea typeface="Inter" pitchFamily="34" charset="-122"/>
                <a:cs typeface="Inter" pitchFamily="34" charset="-120"/>
              </a:rPr>
              <a:t>August averages. The change line compares the first week with the final week, the same basis as your dashboard.</a:t>
            </a:r>
            <a:endParaRPr lang="en-US" sz="1300" dirty="0"/>
          </a:p>
        </p:txBody>
      </p:sp>
      <p:sp>
        <p:nvSpPr>
          <p:cNvPr id="5" name="headline-metrics"/>
          <p:cNvSpPr/>
          <p:nvPr/>
        </p:nvSpPr>
        <p:spPr>
          <a:xfrm>
            <a:off x="731520" y="2103120"/>
            <a:ext cx="10728655" cy="3840480"/>
          </a:xfrm>
          <a:prstGeom prst="roundRect">
            <a:avLst>
              <a:gd name="adj" fmla="val 2857"/>
            </a:avLst>
          </a:prstGeom>
          <a:solidFill>
            <a:srgbClr val="FAF7FF"/>
          </a:solidFill>
          <a:ln w="9525">
            <a:solidFill>
              <a:srgbClr val="E6EAF4"/>
            </a:solidFill>
            <a:prstDash val="solid"/>
          </a:ln>
        </p:spPr>
      </p:sp>
      <p:sp>
        <p:nvSpPr>
          <p:cNvPr id="6" name="Shape 4"/>
          <p:cNvSpPr/>
          <p:nvPr/>
        </p:nvSpPr>
        <p:spPr>
          <a:xfrm>
            <a:off x="3413684" y="2103120"/>
            <a:ext cx="0" cy="3840480"/>
          </a:xfrm>
          <a:prstGeom prst="line">
            <a:avLst/>
          </a:prstGeom>
          <a:noFill/>
          <a:ln w="9525">
            <a:solidFill>
              <a:srgbClr val="E6EAF4"/>
            </a:solidFill>
            <a:prstDash val="solid"/>
          </a:ln>
        </p:spPr>
      </p:sp>
      <p:sp>
        <p:nvSpPr>
          <p:cNvPr id="7" name="Shape 5"/>
          <p:cNvSpPr/>
          <p:nvPr/>
        </p:nvSpPr>
        <p:spPr>
          <a:xfrm>
            <a:off x="6095848" y="2103120"/>
            <a:ext cx="0" cy="3840480"/>
          </a:xfrm>
          <a:prstGeom prst="line">
            <a:avLst/>
          </a:prstGeom>
          <a:noFill/>
          <a:ln w="9525">
            <a:solidFill>
              <a:srgbClr val="E6EAF4"/>
            </a:solidFill>
            <a:prstDash val="solid"/>
          </a:ln>
        </p:spPr>
      </p:sp>
      <p:sp>
        <p:nvSpPr>
          <p:cNvPr id="8" name="Shape 6"/>
          <p:cNvSpPr/>
          <p:nvPr/>
        </p:nvSpPr>
        <p:spPr>
          <a:xfrm>
            <a:off x="8778011" y="2103120"/>
            <a:ext cx="0" cy="3840480"/>
          </a:xfrm>
          <a:prstGeom prst="line">
            <a:avLst/>
          </a:prstGeom>
          <a:noFill/>
          <a:ln w="9525">
            <a:solidFill>
              <a:srgbClr val="E6EAF4"/>
            </a:solidFill>
            <a:prstDash val="solid"/>
          </a:ln>
        </p:spPr>
      </p:sp>
      <p:sp>
        <p:nvSpPr>
          <p:cNvPr id="9" name="Shape 7"/>
          <p:cNvSpPr/>
          <p:nvPr/>
        </p:nvSpPr>
        <p:spPr>
          <a:xfrm>
            <a:off x="731520" y="4023360"/>
            <a:ext cx="10728655" cy="0"/>
          </a:xfrm>
          <a:prstGeom prst="line">
            <a:avLst/>
          </a:prstGeom>
          <a:noFill/>
          <a:ln w="9525">
            <a:solidFill>
              <a:srgbClr val="E6EAF4"/>
            </a:solidFill>
            <a:prstDash val="solid"/>
          </a:ln>
        </p:spPr>
      </p:sp>
      <p:sp>
        <p:nvSpPr>
          <p:cNvPr id="10" name="Text 8"/>
          <p:cNvSpPr txBox="1"/>
          <p:nvPr/>
        </p:nvSpPr>
        <p:spPr>
          <a:xfrm>
            <a:off x="950976" y="2359152"/>
            <a:ext cx="2316404" cy="201168"/>
          </a:xfrm>
          <a:prstGeom prst="rect">
            <a:avLst/>
          </a:prstGeom>
          <a:noFill/>
          <a:ln/>
        </p:spPr>
        <p:txBody>
          <a:bodyPr wrap="square" lIns="0" tIns="0" rIns="0" bIns="0" rtlCol="0" anchor="t"/>
          <a:lstStyle/>
          <a:p>
            <a:pPr marL="0" indent="0">
              <a:buNone/>
            </a:pPr>
            <a:r>
              <a:rPr lang="en-US" sz="1100" dirty="0">
                <a:solidFill>
                  <a:srgbClr val="5A5E63"/>
                </a:solidFill>
                <a:latin typeface="Inter Medium" pitchFamily="34" charset="0"/>
                <a:ea typeface="Inter Medium" pitchFamily="34" charset="-122"/>
                <a:cs typeface="Inter Medium" pitchFamily="34" charset="-120"/>
              </a:rPr>
              <a:t>Tier-1 automation</a:t>
            </a:r>
            <a:endParaRPr lang="en-US" sz="1100" dirty="0"/>
          </a:p>
        </p:txBody>
      </p:sp>
      <p:sp>
        <p:nvSpPr>
          <p:cNvPr id="11" name="Text 9"/>
          <p:cNvSpPr txBox="1"/>
          <p:nvPr/>
        </p:nvSpPr>
        <p:spPr>
          <a:xfrm>
            <a:off x="950976" y="2660904"/>
            <a:ext cx="2316404" cy="548640"/>
          </a:xfrm>
          <a:prstGeom prst="rect">
            <a:avLst/>
          </a:prstGeom>
          <a:noFill/>
          <a:ln/>
        </p:spPr>
        <p:txBody>
          <a:bodyPr wrap="square" lIns="0" tIns="0" rIns="0" bIns="0" rtlCol="0" anchor="b"/>
          <a:lstStyle/>
          <a:p>
            <a:pPr marL="0" indent="0">
              <a:buNone/>
            </a:pPr>
            <a:r>
              <a:rPr lang="en-US" sz="2800" kern="0" spc="-110" dirty="0">
                <a:solidFill>
                  <a:srgbClr val="16181D"/>
                </a:solidFill>
                <a:latin typeface="Inter Medium" pitchFamily="34" charset="0"/>
                <a:ea typeface="Inter Medium" pitchFamily="34" charset="-122"/>
                <a:cs typeface="Inter Medium" pitchFamily="34" charset="-120"/>
              </a:rPr>
              <a:t>67.9%</a:t>
            </a:r>
            <a:endParaRPr lang="en-US" sz="2800" dirty="0"/>
          </a:p>
        </p:txBody>
      </p:sp>
      <p:sp>
        <p:nvSpPr>
          <p:cNvPr id="12" name="Text 10"/>
          <p:cNvSpPr txBox="1"/>
          <p:nvPr/>
        </p:nvSpPr>
        <p:spPr>
          <a:xfrm>
            <a:off x="950976" y="3273552"/>
            <a:ext cx="2316404" cy="219456"/>
          </a:xfrm>
          <a:prstGeom prst="rect">
            <a:avLst/>
          </a:prstGeom>
          <a:noFill/>
          <a:ln/>
        </p:spPr>
        <p:txBody>
          <a:bodyPr wrap="square" lIns="0" tIns="0" rIns="0" bIns="0" rtlCol="0" anchor="t"/>
          <a:lstStyle/>
          <a:p>
            <a:pPr marL="0" indent="0">
              <a:buNone/>
            </a:pPr>
            <a:r>
              <a:rPr lang="en-US" sz="1000" dirty="0">
                <a:solidFill>
                  <a:srgbClr val="1DA28F"/>
                </a:solidFill>
                <a:latin typeface="Inter" pitchFamily="34" charset="0"/>
                <a:ea typeface="Inter" pitchFamily="34" charset="-122"/>
                <a:cs typeface="Inter" pitchFamily="34" charset="-120"/>
              </a:rPr>
              <a:t>+4.3 pts since week 1</a:t>
            </a:r>
            <a:endParaRPr lang="en-US" sz="1000" dirty="0"/>
          </a:p>
        </p:txBody>
      </p:sp>
      <p:sp>
        <p:nvSpPr>
          <p:cNvPr id="13" name="Text 11"/>
          <p:cNvSpPr txBox="1"/>
          <p:nvPr/>
        </p:nvSpPr>
        <p:spPr>
          <a:xfrm>
            <a:off x="950976" y="3529584"/>
            <a:ext cx="2316404"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Final week 70.1%; 70% reached from Aug 27</a:t>
            </a:r>
            <a:endParaRPr lang="en-US" sz="950" dirty="0"/>
          </a:p>
        </p:txBody>
      </p:sp>
      <p:sp>
        <p:nvSpPr>
          <p:cNvPr id="14" name="Text 12"/>
          <p:cNvSpPr txBox="1"/>
          <p:nvPr/>
        </p:nvSpPr>
        <p:spPr>
          <a:xfrm>
            <a:off x="3633140" y="2359152"/>
            <a:ext cx="2316404" cy="201168"/>
          </a:xfrm>
          <a:prstGeom prst="rect">
            <a:avLst/>
          </a:prstGeom>
          <a:noFill/>
          <a:ln/>
        </p:spPr>
        <p:txBody>
          <a:bodyPr wrap="square" lIns="0" tIns="0" rIns="0" bIns="0" rtlCol="0" anchor="t"/>
          <a:lstStyle/>
          <a:p>
            <a:pPr marL="0" indent="0">
              <a:buNone/>
            </a:pPr>
            <a:r>
              <a:rPr lang="en-US" sz="1100" dirty="0">
                <a:solidFill>
                  <a:srgbClr val="5A5E63"/>
                </a:solidFill>
                <a:latin typeface="Inter Medium" pitchFamily="34" charset="0"/>
                <a:ea typeface="Inter Medium" pitchFamily="34" charset="-122"/>
                <a:cs typeface="Inter Medium" pitchFamily="34" charset="-120"/>
              </a:rPr>
              <a:t>Avg handle time</a:t>
            </a:r>
            <a:endParaRPr lang="en-US" sz="1100" dirty="0"/>
          </a:p>
        </p:txBody>
      </p:sp>
      <p:sp>
        <p:nvSpPr>
          <p:cNvPr id="15" name="Text 13"/>
          <p:cNvSpPr txBox="1"/>
          <p:nvPr/>
        </p:nvSpPr>
        <p:spPr>
          <a:xfrm>
            <a:off x="3633140" y="2660904"/>
            <a:ext cx="2316404" cy="548640"/>
          </a:xfrm>
          <a:prstGeom prst="rect">
            <a:avLst/>
          </a:prstGeom>
          <a:noFill/>
          <a:ln/>
        </p:spPr>
        <p:txBody>
          <a:bodyPr wrap="square" lIns="0" tIns="0" rIns="0" bIns="0" rtlCol="0" anchor="b"/>
          <a:lstStyle/>
          <a:p>
            <a:pPr marL="0" indent="0">
              <a:buNone/>
            </a:pPr>
            <a:r>
              <a:rPr lang="en-US" sz="2800" kern="0" spc="-110" dirty="0">
                <a:solidFill>
                  <a:srgbClr val="16181D"/>
                </a:solidFill>
                <a:latin typeface="Inter Medium" pitchFamily="34" charset="0"/>
                <a:ea typeface="Inter Medium" pitchFamily="34" charset="-122"/>
                <a:cs typeface="Inter Medium" pitchFamily="34" charset="-120"/>
              </a:rPr>
              <a:t>7m 44s</a:t>
            </a:r>
            <a:endParaRPr lang="en-US" sz="2800" dirty="0"/>
          </a:p>
        </p:txBody>
      </p:sp>
      <p:sp>
        <p:nvSpPr>
          <p:cNvPr id="16" name="Text 14"/>
          <p:cNvSpPr txBox="1"/>
          <p:nvPr/>
        </p:nvSpPr>
        <p:spPr>
          <a:xfrm>
            <a:off x="3633140" y="3273552"/>
            <a:ext cx="2316404" cy="219456"/>
          </a:xfrm>
          <a:prstGeom prst="rect">
            <a:avLst/>
          </a:prstGeom>
          <a:noFill/>
          <a:ln/>
        </p:spPr>
        <p:txBody>
          <a:bodyPr wrap="square" lIns="0" tIns="0" rIns="0" bIns="0" rtlCol="0" anchor="t"/>
          <a:lstStyle/>
          <a:p>
            <a:pPr marL="0" indent="0">
              <a:buNone/>
            </a:pPr>
            <a:r>
              <a:rPr lang="en-US" sz="1000" dirty="0">
                <a:solidFill>
                  <a:srgbClr val="1DA28F"/>
                </a:solidFill>
                <a:latin typeface="Inter" pitchFamily="34" charset="0"/>
                <a:ea typeface="Inter" pitchFamily="34" charset="-122"/>
                <a:cs typeface="Inter" pitchFamily="34" charset="-120"/>
              </a:rPr>
              <a:t>8m 03s → 7m 25s, week 1 → week 4</a:t>
            </a:r>
            <a:endParaRPr lang="en-US" sz="1000" dirty="0"/>
          </a:p>
        </p:txBody>
      </p:sp>
      <p:sp>
        <p:nvSpPr>
          <p:cNvPr id="17" name="Text 15"/>
          <p:cNvSpPr txBox="1"/>
          <p:nvPr/>
        </p:nvSpPr>
        <p:spPr>
          <a:xfrm>
            <a:off x="3633140" y="3529584"/>
            <a:ext cx="2316404"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−35% vs pre-launch baseline, supplied by Northstar</a:t>
            </a:r>
            <a:endParaRPr lang="en-US" sz="950" dirty="0"/>
          </a:p>
        </p:txBody>
      </p:sp>
      <p:sp>
        <p:nvSpPr>
          <p:cNvPr id="18" name="Text 16"/>
          <p:cNvSpPr txBox="1"/>
          <p:nvPr/>
        </p:nvSpPr>
        <p:spPr>
          <a:xfrm>
            <a:off x="6315304" y="2359152"/>
            <a:ext cx="2316404" cy="201168"/>
          </a:xfrm>
          <a:prstGeom prst="rect">
            <a:avLst/>
          </a:prstGeom>
          <a:noFill/>
          <a:ln/>
        </p:spPr>
        <p:txBody>
          <a:bodyPr wrap="square" lIns="0" tIns="0" rIns="0" bIns="0" rtlCol="0" anchor="t"/>
          <a:lstStyle/>
          <a:p>
            <a:pPr marL="0" indent="0">
              <a:buNone/>
            </a:pPr>
            <a:r>
              <a:rPr lang="en-US" sz="1100" dirty="0">
                <a:solidFill>
                  <a:srgbClr val="5A5E63"/>
                </a:solidFill>
                <a:latin typeface="Inter Medium" pitchFamily="34" charset="0"/>
                <a:ea typeface="Inter Medium" pitchFamily="34" charset="-122"/>
                <a:cs typeface="Inter Medium" pitchFamily="34" charset="-120"/>
              </a:rPr>
              <a:t>CSAT</a:t>
            </a:r>
            <a:endParaRPr lang="en-US" sz="1100" dirty="0"/>
          </a:p>
        </p:txBody>
      </p:sp>
      <p:sp>
        <p:nvSpPr>
          <p:cNvPr id="19" name="Text 17"/>
          <p:cNvSpPr txBox="1"/>
          <p:nvPr/>
        </p:nvSpPr>
        <p:spPr>
          <a:xfrm>
            <a:off x="6315304" y="2660904"/>
            <a:ext cx="2316404" cy="548640"/>
          </a:xfrm>
          <a:prstGeom prst="rect">
            <a:avLst/>
          </a:prstGeom>
          <a:noFill/>
          <a:ln/>
        </p:spPr>
        <p:txBody>
          <a:bodyPr wrap="square" lIns="0" tIns="0" rIns="0" bIns="0" rtlCol="0" anchor="b"/>
          <a:lstStyle/>
          <a:p>
            <a:pPr marL="0" indent="0">
              <a:buNone/>
            </a:pPr>
            <a:r>
              <a:rPr lang="en-US" sz="2800" kern="0" spc="-110" dirty="0">
                <a:solidFill>
                  <a:srgbClr val="16181D"/>
                </a:solidFill>
                <a:latin typeface="Inter Medium" pitchFamily="34" charset="0"/>
                <a:ea typeface="Inter Medium" pitchFamily="34" charset="-122"/>
                <a:cs typeface="Inter Medium" pitchFamily="34" charset="-120"/>
              </a:rPr>
              <a:t>82.3</a:t>
            </a:r>
            <a:endParaRPr lang="en-US" sz="2800" dirty="0"/>
          </a:p>
        </p:txBody>
      </p:sp>
      <p:sp>
        <p:nvSpPr>
          <p:cNvPr id="20" name="Text 18"/>
          <p:cNvSpPr txBox="1"/>
          <p:nvPr/>
        </p:nvSpPr>
        <p:spPr>
          <a:xfrm>
            <a:off x="6315304" y="3273552"/>
            <a:ext cx="2316404" cy="219456"/>
          </a:xfrm>
          <a:prstGeom prst="rect">
            <a:avLst/>
          </a:prstGeom>
          <a:noFill/>
          <a:ln/>
        </p:spPr>
        <p:txBody>
          <a:bodyPr wrap="square" lIns="0" tIns="0" rIns="0" bIns="0" rtlCol="0" anchor="t"/>
          <a:lstStyle/>
          <a:p>
            <a:pPr marL="0" indent="0">
              <a:buNone/>
            </a:pPr>
            <a:r>
              <a:rPr lang="en-US" sz="1000" dirty="0">
                <a:solidFill>
                  <a:srgbClr val="1DA28F"/>
                </a:solidFill>
                <a:latin typeface="Inter" pitchFamily="34" charset="0"/>
                <a:ea typeface="Inter" pitchFamily="34" charset="-122"/>
                <a:cs typeface="Inter" pitchFamily="34" charset="-120"/>
              </a:rPr>
              <a:t>80.8 → 83.7, week 1 → week 4</a:t>
            </a:r>
            <a:endParaRPr lang="en-US" sz="1000" dirty="0"/>
          </a:p>
        </p:txBody>
      </p:sp>
      <p:sp>
        <p:nvSpPr>
          <p:cNvPr id="21" name="Text 19"/>
          <p:cNvSpPr txBox="1"/>
          <p:nvPr/>
        </p:nvSpPr>
        <p:spPr>
          <a:xfrm>
            <a:off x="6315304" y="3529584"/>
            <a:ext cx="2316404"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+12 pts vs pre-launch baseline, supplied by Northstar</a:t>
            </a:r>
            <a:endParaRPr lang="en-US" sz="950" dirty="0"/>
          </a:p>
        </p:txBody>
      </p:sp>
      <p:sp>
        <p:nvSpPr>
          <p:cNvPr id="22" name="Text 20"/>
          <p:cNvSpPr txBox="1"/>
          <p:nvPr/>
        </p:nvSpPr>
        <p:spPr>
          <a:xfrm>
            <a:off x="8997467" y="2359152"/>
            <a:ext cx="2316404" cy="201168"/>
          </a:xfrm>
          <a:prstGeom prst="rect">
            <a:avLst/>
          </a:prstGeom>
          <a:noFill/>
          <a:ln/>
        </p:spPr>
        <p:txBody>
          <a:bodyPr wrap="square" lIns="0" tIns="0" rIns="0" bIns="0" rtlCol="0" anchor="t"/>
          <a:lstStyle/>
          <a:p>
            <a:pPr marL="0" indent="0">
              <a:buNone/>
            </a:pPr>
            <a:r>
              <a:rPr lang="en-US" sz="1100" dirty="0">
                <a:solidFill>
                  <a:srgbClr val="5A5E63"/>
                </a:solidFill>
                <a:latin typeface="Inter Medium" pitchFamily="34" charset="0"/>
                <a:ea typeface="Inter Medium" pitchFamily="34" charset="-122"/>
                <a:cs typeface="Inter Medium" pitchFamily="34" charset="-120"/>
              </a:rPr>
              <a:t>Requests / day</a:t>
            </a:r>
            <a:endParaRPr lang="en-US" sz="1100" dirty="0"/>
          </a:p>
        </p:txBody>
      </p:sp>
      <p:sp>
        <p:nvSpPr>
          <p:cNvPr id="23" name="Text 21"/>
          <p:cNvSpPr txBox="1"/>
          <p:nvPr/>
        </p:nvSpPr>
        <p:spPr>
          <a:xfrm>
            <a:off x="8997467" y="2660904"/>
            <a:ext cx="2316404" cy="548640"/>
          </a:xfrm>
          <a:prstGeom prst="rect">
            <a:avLst/>
          </a:prstGeom>
          <a:noFill/>
          <a:ln/>
        </p:spPr>
        <p:txBody>
          <a:bodyPr wrap="square" lIns="0" tIns="0" rIns="0" bIns="0" rtlCol="0" anchor="b"/>
          <a:lstStyle/>
          <a:p>
            <a:pPr marL="0" indent="0">
              <a:buNone/>
            </a:pPr>
            <a:r>
              <a:rPr lang="en-US" sz="2800" kern="0" spc="-110" dirty="0">
                <a:solidFill>
                  <a:srgbClr val="16181D"/>
                </a:solidFill>
                <a:latin typeface="Inter Medium" pitchFamily="34" charset="0"/>
                <a:ea typeface="Inter Medium" pitchFamily="34" charset="-122"/>
                <a:cs typeface="Inter Medium" pitchFamily="34" charset="-120"/>
              </a:rPr>
              <a:t>25.5K</a:t>
            </a:r>
            <a:endParaRPr lang="en-US" sz="2800" dirty="0"/>
          </a:p>
        </p:txBody>
      </p:sp>
      <p:sp>
        <p:nvSpPr>
          <p:cNvPr id="24" name="Text 22"/>
          <p:cNvSpPr txBox="1"/>
          <p:nvPr/>
        </p:nvSpPr>
        <p:spPr>
          <a:xfrm>
            <a:off x="8997467" y="3273552"/>
            <a:ext cx="2316404" cy="219456"/>
          </a:xfrm>
          <a:prstGeom prst="rect">
            <a:avLst/>
          </a:prstGeom>
          <a:noFill/>
          <a:ln/>
        </p:spPr>
        <p:txBody>
          <a:bodyPr wrap="square" lIns="0" tIns="0" rIns="0" bIns="0" rtlCol="0" anchor="t"/>
          <a:lstStyle/>
          <a:p>
            <a:pPr marL="0" indent="0">
              <a:buNone/>
            </a:pPr>
            <a:r>
              <a:rPr lang="en-US" sz="1000" dirty="0">
                <a:solidFill>
                  <a:srgbClr val="5A5E63"/>
                </a:solidFill>
                <a:latin typeface="Inter" pitchFamily="34" charset="0"/>
                <a:ea typeface="Inter" pitchFamily="34" charset="-122"/>
                <a:cs typeface="Inter" pitchFamily="34" charset="-120"/>
              </a:rPr>
              <a:t>+45% since week 1</a:t>
            </a:r>
            <a:endParaRPr lang="en-US" sz="1000" dirty="0"/>
          </a:p>
        </p:txBody>
      </p:sp>
      <p:sp>
        <p:nvSpPr>
          <p:cNvPr id="25" name="Text 23"/>
          <p:cNvSpPr txBox="1"/>
          <p:nvPr/>
        </p:nvSpPr>
        <p:spPr>
          <a:xfrm>
            <a:off x="8997467" y="3529584"/>
            <a:ext cx="2316404"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789,563 in August</a:t>
            </a:r>
            <a:endParaRPr lang="en-US" sz="950" dirty="0"/>
          </a:p>
        </p:txBody>
      </p:sp>
      <p:sp>
        <p:nvSpPr>
          <p:cNvPr id="26" name="Text 24"/>
          <p:cNvSpPr txBox="1"/>
          <p:nvPr/>
        </p:nvSpPr>
        <p:spPr>
          <a:xfrm>
            <a:off x="950976" y="4279392"/>
            <a:ext cx="2316404" cy="201168"/>
          </a:xfrm>
          <a:prstGeom prst="rect">
            <a:avLst/>
          </a:prstGeom>
          <a:noFill/>
          <a:ln/>
        </p:spPr>
        <p:txBody>
          <a:bodyPr wrap="square" lIns="0" tIns="0" rIns="0" bIns="0" rtlCol="0" anchor="t"/>
          <a:lstStyle/>
          <a:p>
            <a:pPr marL="0" indent="0">
              <a:buNone/>
            </a:pPr>
            <a:r>
              <a:rPr lang="en-US" sz="1100" dirty="0">
                <a:solidFill>
                  <a:srgbClr val="5A5E63"/>
                </a:solidFill>
                <a:latin typeface="Inter Medium" pitchFamily="34" charset="0"/>
                <a:ea typeface="Inter Medium" pitchFamily="34" charset="-122"/>
                <a:cs typeface="Inter Medium" pitchFamily="34" charset="-120"/>
              </a:rPr>
              <a:t>Availability</a:t>
            </a:r>
            <a:endParaRPr lang="en-US" sz="1100" dirty="0"/>
          </a:p>
        </p:txBody>
      </p:sp>
      <p:sp>
        <p:nvSpPr>
          <p:cNvPr id="27" name="Text 25"/>
          <p:cNvSpPr txBox="1"/>
          <p:nvPr/>
        </p:nvSpPr>
        <p:spPr>
          <a:xfrm>
            <a:off x="950976" y="4581144"/>
            <a:ext cx="2316404" cy="548640"/>
          </a:xfrm>
          <a:prstGeom prst="rect">
            <a:avLst/>
          </a:prstGeom>
          <a:noFill/>
          <a:ln/>
        </p:spPr>
        <p:txBody>
          <a:bodyPr wrap="square" lIns="0" tIns="0" rIns="0" bIns="0" rtlCol="0" anchor="b"/>
          <a:lstStyle/>
          <a:p>
            <a:pPr marL="0" indent="0">
              <a:buNone/>
            </a:pPr>
            <a:r>
              <a:rPr lang="en-US" sz="2800" kern="0" spc="-110" dirty="0">
                <a:solidFill>
                  <a:srgbClr val="16181D"/>
                </a:solidFill>
                <a:latin typeface="Inter Medium" pitchFamily="34" charset="0"/>
                <a:ea typeface="Inter Medium" pitchFamily="34" charset="-122"/>
                <a:cs typeface="Inter Medium" pitchFamily="34" charset="-120"/>
              </a:rPr>
              <a:t>99.85%</a:t>
            </a:r>
            <a:endParaRPr lang="en-US" sz="2800" dirty="0"/>
          </a:p>
        </p:txBody>
      </p:sp>
      <p:sp>
        <p:nvSpPr>
          <p:cNvPr id="28" name="Text 26"/>
          <p:cNvSpPr txBox="1"/>
          <p:nvPr/>
        </p:nvSpPr>
        <p:spPr>
          <a:xfrm>
            <a:off x="950976" y="5193792"/>
            <a:ext cx="2316404" cy="219456"/>
          </a:xfrm>
          <a:prstGeom prst="rect">
            <a:avLst/>
          </a:prstGeom>
          <a:noFill/>
          <a:ln/>
        </p:spPr>
        <p:txBody>
          <a:bodyPr wrap="square" lIns="0" tIns="0" rIns="0" bIns="0" rtlCol="0" anchor="t"/>
          <a:lstStyle/>
          <a:p>
            <a:pPr marL="0" indent="0">
              <a:buNone/>
            </a:pPr>
            <a:r>
              <a:rPr lang="en-US" sz="1000" dirty="0">
                <a:solidFill>
                  <a:srgbClr val="5A5E63"/>
                </a:solidFill>
                <a:latin typeface="Inter" pitchFamily="34" charset="0"/>
                <a:ea typeface="Inter" pitchFamily="34" charset="-122"/>
                <a:cs typeface="Inter" pitchFamily="34" charset="-120"/>
              </a:rPr>
              <a:t>99.9% met on 4 of 31 days</a:t>
            </a:r>
            <a:endParaRPr lang="en-US" sz="1000" dirty="0"/>
          </a:p>
        </p:txBody>
      </p:sp>
      <p:sp>
        <p:nvSpPr>
          <p:cNvPr id="29" name="Text 27"/>
          <p:cNvSpPr txBox="1"/>
          <p:nvPr/>
        </p:nvSpPr>
        <p:spPr>
          <a:xfrm>
            <a:off x="950976" y="5449824"/>
            <a:ext cx="2316404"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Lowest 99.69% on Aug 9</a:t>
            </a:r>
            <a:endParaRPr lang="en-US" sz="950" dirty="0"/>
          </a:p>
        </p:txBody>
      </p:sp>
      <p:sp>
        <p:nvSpPr>
          <p:cNvPr id="30" name="Text 28"/>
          <p:cNvSpPr txBox="1"/>
          <p:nvPr/>
        </p:nvSpPr>
        <p:spPr>
          <a:xfrm>
            <a:off x="3633140" y="4279392"/>
            <a:ext cx="2316404" cy="201168"/>
          </a:xfrm>
          <a:prstGeom prst="rect">
            <a:avLst/>
          </a:prstGeom>
          <a:noFill/>
          <a:ln/>
        </p:spPr>
        <p:txBody>
          <a:bodyPr wrap="square" lIns="0" tIns="0" rIns="0" bIns="0" rtlCol="0" anchor="t"/>
          <a:lstStyle/>
          <a:p>
            <a:pPr marL="0" indent="0">
              <a:buNone/>
            </a:pPr>
            <a:r>
              <a:rPr lang="en-US" sz="1100" dirty="0">
                <a:solidFill>
                  <a:srgbClr val="5A5E63"/>
                </a:solidFill>
                <a:latin typeface="Inter Medium" pitchFamily="34" charset="0"/>
                <a:ea typeface="Inter Medium" pitchFamily="34" charset="-122"/>
                <a:cs typeface="Inter Medium" pitchFamily="34" charset="-120"/>
              </a:rPr>
              <a:t>P50 / P95 latency</a:t>
            </a:r>
            <a:endParaRPr lang="en-US" sz="1100" dirty="0"/>
          </a:p>
        </p:txBody>
      </p:sp>
      <p:sp>
        <p:nvSpPr>
          <p:cNvPr id="31" name="Text 29"/>
          <p:cNvSpPr txBox="1"/>
          <p:nvPr/>
        </p:nvSpPr>
        <p:spPr>
          <a:xfrm>
            <a:off x="3633140" y="4581144"/>
            <a:ext cx="2316404" cy="548640"/>
          </a:xfrm>
          <a:prstGeom prst="rect">
            <a:avLst/>
          </a:prstGeom>
          <a:noFill/>
          <a:ln/>
        </p:spPr>
        <p:txBody>
          <a:bodyPr wrap="square" lIns="0" tIns="0" rIns="0" bIns="0" rtlCol="0" anchor="b"/>
          <a:lstStyle/>
          <a:p>
            <a:pPr marL="0" indent="0">
              <a:buNone/>
            </a:pPr>
            <a:r>
              <a:rPr lang="en-US" sz="2300" kern="0" spc="-110" dirty="0">
                <a:solidFill>
                  <a:srgbClr val="16181D"/>
                </a:solidFill>
                <a:latin typeface="Inter Medium" pitchFamily="34" charset="0"/>
                <a:ea typeface="Inter Medium" pitchFamily="34" charset="-122"/>
                <a:cs typeface="Inter Medium" pitchFamily="34" charset="-120"/>
              </a:rPr>
              <a:t>605 ms / 1.66 s</a:t>
            </a:r>
            <a:endParaRPr lang="en-US" sz="2300" dirty="0"/>
          </a:p>
        </p:txBody>
      </p:sp>
      <p:sp>
        <p:nvSpPr>
          <p:cNvPr id="32" name="Text 30"/>
          <p:cNvSpPr txBox="1"/>
          <p:nvPr/>
        </p:nvSpPr>
        <p:spPr>
          <a:xfrm>
            <a:off x="3633140" y="5193792"/>
            <a:ext cx="2316404" cy="219456"/>
          </a:xfrm>
          <a:prstGeom prst="rect">
            <a:avLst/>
          </a:prstGeom>
          <a:noFill/>
          <a:ln/>
        </p:spPr>
        <p:txBody>
          <a:bodyPr wrap="square" lIns="0" tIns="0" rIns="0" bIns="0" rtlCol="0" anchor="t"/>
          <a:lstStyle/>
          <a:p>
            <a:pPr marL="0" indent="0">
              <a:buNone/>
            </a:pPr>
            <a:r>
              <a:rPr lang="en-US" sz="1000" dirty="0">
                <a:solidFill>
                  <a:srgbClr val="1DA28F"/>
                </a:solidFill>
                <a:latin typeface="Inter" pitchFamily="34" charset="0"/>
                <a:ea typeface="Inter" pitchFamily="34" charset="-122"/>
                <a:cs typeface="Inter" pitchFamily="34" charset="-120"/>
              </a:rPr>
              <a:t>P95 −368 ms since week 1</a:t>
            </a:r>
            <a:endParaRPr lang="en-US" sz="1000" dirty="0"/>
          </a:p>
        </p:txBody>
      </p:sp>
      <p:sp>
        <p:nvSpPr>
          <p:cNvPr id="33" name="Text 31"/>
          <p:cNvSpPr txBox="1"/>
          <p:nvPr/>
        </p:nvSpPr>
        <p:spPr>
          <a:xfrm>
            <a:off x="3633140" y="5449824"/>
            <a:ext cx="2316404"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P50 −134 ms since week 1</a:t>
            </a:r>
            <a:endParaRPr lang="en-US" sz="950" dirty="0"/>
          </a:p>
        </p:txBody>
      </p:sp>
      <p:sp>
        <p:nvSpPr>
          <p:cNvPr id="34" name="Text 32"/>
          <p:cNvSpPr txBox="1"/>
          <p:nvPr/>
        </p:nvSpPr>
        <p:spPr>
          <a:xfrm>
            <a:off x="6315304" y="4279392"/>
            <a:ext cx="2316404" cy="201168"/>
          </a:xfrm>
          <a:prstGeom prst="rect">
            <a:avLst/>
          </a:prstGeom>
          <a:noFill/>
          <a:ln/>
        </p:spPr>
        <p:txBody>
          <a:bodyPr wrap="square" lIns="0" tIns="0" rIns="0" bIns="0" rtlCol="0" anchor="t"/>
          <a:lstStyle/>
          <a:p>
            <a:pPr marL="0" indent="0">
              <a:buNone/>
            </a:pPr>
            <a:r>
              <a:rPr lang="en-US" sz="1100" dirty="0">
                <a:solidFill>
                  <a:srgbClr val="5A5E63"/>
                </a:solidFill>
                <a:latin typeface="Inter Medium" pitchFamily="34" charset="0"/>
                <a:ea typeface="Inter Medium" pitchFamily="34" charset="-122"/>
                <a:cs typeface="Inter Medium" pitchFamily="34" charset="-120"/>
              </a:rPr>
              <a:t>Eval pass rate</a:t>
            </a:r>
            <a:endParaRPr lang="en-US" sz="1100" dirty="0"/>
          </a:p>
        </p:txBody>
      </p:sp>
      <p:sp>
        <p:nvSpPr>
          <p:cNvPr id="35" name="Text 33"/>
          <p:cNvSpPr txBox="1"/>
          <p:nvPr/>
        </p:nvSpPr>
        <p:spPr>
          <a:xfrm>
            <a:off x="6315304" y="4581144"/>
            <a:ext cx="2316404" cy="548640"/>
          </a:xfrm>
          <a:prstGeom prst="rect">
            <a:avLst/>
          </a:prstGeom>
          <a:noFill/>
          <a:ln/>
        </p:spPr>
        <p:txBody>
          <a:bodyPr wrap="square" lIns="0" tIns="0" rIns="0" bIns="0" rtlCol="0" anchor="b"/>
          <a:lstStyle/>
          <a:p>
            <a:pPr marL="0" indent="0">
              <a:buNone/>
            </a:pPr>
            <a:r>
              <a:rPr lang="en-US" sz="2800" kern="0" spc="-110" dirty="0">
                <a:solidFill>
                  <a:srgbClr val="16181D"/>
                </a:solidFill>
                <a:latin typeface="Inter Medium" pitchFamily="34" charset="0"/>
                <a:ea typeface="Inter Medium" pitchFamily="34" charset="-122"/>
                <a:cs typeface="Inter Medium" pitchFamily="34" charset="-120"/>
              </a:rPr>
              <a:t>93.1%</a:t>
            </a:r>
            <a:endParaRPr lang="en-US" sz="2800" dirty="0"/>
          </a:p>
        </p:txBody>
      </p:sp>
      <p:sp>
        <p:nvSpPr>
          <p:cNvPr id="36" name="Text 34"/>
          <p:cNvSpPr txBox="1"/>
          <p:nvPr/>
        </p:nvSpPr>
        <p:spPr>
          <a:xfrm>
            <a:off x="6315304" y="5193792"/>
            <a:ext cx="2316404" cy="219456"/>
          </a:xfrm>
          <a:prstGeom prst="rect">
            <a:avLst/>
          </a:prstGeom>
          <a:noFill/>
          <a:ln/>
        </p:spPr>
        <p:txBody>
          <a:bodyPr wrap="square" lIns="0" tIns="0" rIns="0" bIns="0" rtlCol="0" anchor="t"/>
          <a:lstStyle/>
          <a:p>
            <a:pPr marL="0" indent="0">
              <a:buNone/>
            </a:pPr>
            <a:r>
              <a:rPr lang="en-US" sz="1000" dirty="0">
                <a:solidFill>
                  <a:srgbClr val="1DA28F"/>
                </a:solidFill>
                <a:latin typeface="Inter" pitchFamily="34" charset="0"/>
                <a:ea typeface="Inter" pitchFamily="34" charset="-122"/>
                <a:cs typeface="Inter" pitchFamily="34" charset="-120"/>
              </a:rPr>
              <a:t>+3.3 pts since week 1</a:t>
            </a:r>
            <a:endParaRPr lang="en-US" sz="1000" dirty="0"/>
          </a:p>
        </p:txBody>
      </p:sp>
      <p:sp>
        <p:nvSpPr>
          <p:cNvPr id="37" name="Text 35"/>
          <p:cNvSpPr txBox="1"/>
          <p:nvPr/>
        </p:nvSpPr>
        <p:spPr>
          <a:xfrm>
            <a:off x="6315304" y="5449824"/>
            <a:ext cx="2316404"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Grounded answers 93.9%</a:t>
            </a:r>
            <a:endParaRPr lang="en-US" sz="950" dirty="0"/>
          </a:p>
        </p:txBody>
      </p:sp>
      <p:sp>
        <p:nvSpPr>
          <p:cNvPr id="38" name="Text 36"/>
          <p:cNvSpPr txBox="1"/>
          <p:nvPr/>
        </p:nvSpPr>
        <p:spPr>
          <a:xfrm>
            <a:off x="8997467" y="4279392"/>
            <a:ext cx="2316404" cy="201168"/>
          </a:xfrm>
          <a:prstGeom prst="rect">
            <a:avLst/>
          </a:prstGeom>
          <a:noFill/>
          <a:ln/>
        </p:spPr>
        <p:txBody>
          <a:bodyPr wrap="square" lIns="0" tIns="0" rIns="0" bIns="0" rtlCol="0" anchor="t"/>
          <a:lstStyle/>
          <a:p>
            <a:pPr marL="0" indent="0">
              <a:buNone/>
            </a:pPr>
            <a:r>
              <a:rPr lang="en-US" sz="1100" dirty="0">
                <a:solidFill>
                  <a:srgbClr val="5A5E63"/>
                </a:solidFill>
                <a:latin typeface="Inter Medium" pitchFamily="34" charset="0"/>
                <a:ea typeface="Inter Medium" pitchFamily="34" charset="-122"/>
                <a:cs typeface="Inter Medium" pitchFamily="34" charset="-120"/>
              </a:rPr>
              <a:t>Escalation rate</a:t>
            </a:r>
            <a:endParaRPr lang="en-US" sz="1100" dirty="0"/>
          </a:p>
        </p:txBody>
      </p:sp>
      <p:sp>
        <p:nvSpPr>
          <p:cNvPr id="39" name="Text 37"/>
          <p:cNvSpPr txBox="1"/>
          <p:nvPr/>
        </p:nvSpPr>
        <p:spPr>
          <a:xfrm>
            <a:off x="8997467" y="4581144"/>
            <a:ext cx="2316404" cy="548640"/>
          </a:xfrm>
          <a:prstGeom prst="rect">
            <a:avLst/>
          </a:prstGeom>
          <a:noFill/>
          <a:ln/>
        </p:spPr>
        <p:txBody>
          <a:bodyPr wrap="square" lIns="0" tIns="0" rIns="0" bIns="0" rtlCol="0" anchor="b"/>
          <a:lstStyle/>
          <a:p>
            <a:pPr marL="0" indent="0">
              <a:buNone/>
            </a:pPr>
            <a:r>
              <a:rPr lang="en-US" sz="2800" kern="0" spc="-110" dirty="0">
                <a:solidFill>
                  <a:srgbClr val="16181D"/>
                </a:solidFill>
                <a:latin typeface="Inter Medium" pitchFamily="34" charset="0"/>
                <a:ea typeface="Inter Medium" pitchFamily="34" charset="-122"/>
                <a:cs typeface="Inter Medium" pitchFamily="34" charset="-120"/>
              </a:rPr>
              <a:t>12.8%</a:t>
            </a:r>
            <a:endParaRPr lang="en-US" sz="2800" dirty="0"/>
          </a:p>
        </p:txBody>
      </p:sp>
      <p:sp>
        <p:nvSpPr>
          <p:cNvPr id="40" name="Text 38"/>
          <p:cNvSpPr txBox="1"/>
          <p:nvPr/>
        </p:nvSpPr>
        <p:spPr>
          <a:xfrm>
            <a:off x="8997467" y="5193792"/>
            <a:ext cx="2316404" cy="219456"/>
          </a:xfrm>
          <a:prstGeom prst="rect">
            <a:avLst/>
          </a:prstGeom>
          <a:noFill/>
          <a:ln/>
        </p:spPr>
        <p:txBody>
          <a:bodyPr wrap="square" lIns="0" tIns="0" rIns="0" bIns="0" rtlCol="0" anchor="t"/>
          <a:lstStyle/>
          <a:p>
            <a:pPr marL="0" indent="0">
              <a:buNone/>
            </a:pPr>
            <a:r>
              <a:rPr lang="en-US" sz="1000" dirty="0">
                <a:solidFill>
                  <a:srgbClr val="1DA28F"/>
                </a:solidFill>
                <a:latin typeface="Inter" pitchFamily="34" charset="0"/>
                <a:ea typeface="Inter" pitchFamily="34" charset="-122"/>
                <a:cs typeface="Inter" pitchFamily="34" charset="-120"/>
              </a:rPr>
              <a:t>−2.7 pts since week 1</a:t>
            </a:r>
            <a:endParaRPr lang="en-US" sz="1000" dirty="0"/>
          </a:p>
        </p:txBody>
      </p:sp>
      <p:sp>
        <p:nvSpPr>
          <p:cNvPr id="41" name="Text 39"/>
          <p:cNvSpPr txBox="1"/>
          <p:nvPr/>
        </p:nvSpPr>
        <p:spPr>
          <a:xfrm>
            <a:off x="8997467" y="5449824"/>
            <a:ext cx="2316404"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Final week 11.5%</a:t>
            </a:r>
            <a:endParaRPr lang="en-US" sz="950" dirty="0"/>
          </a:p>
        </p:txBody>
      </p:sp>
      <p:sp>
        <p:nvSpPr>
          <p:cNvPr id="42" name="Text 40"/>
          <p:cNvSpPr txBox="1"/>
          <p:nvPr/>
        </p:nvSpPr>
        <p:spPr>
          <a:xfrm>
            <a:off x="731520" y="6108192"/>
            <a:ext cx="10728655" cy="27432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The −35% handle-time and +12-point CSAT figures compare against Northstar’s pre-launch baselines, which are not in the August dataset; the in-month trends are measured directly.</a:t>
            </a:r>
            <a:endParaRPr lang="en-US" sz="950" dirty="0"/>
          </a:p>
        </p:txBody>
      </p:sp>
      <p:sp>
        <p:nvSpPr>
          <p:cNvPr id="43"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ma14="http://schemas.microsoft.com/office/mac/drawingml/2011/main" xmlns=""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a:spLocks noGrp="1"/>
          </p:cNvSpPr>
          <p:nvPr>
            <p:ph type="body" idx="106" hasCustomPrompt="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Outcomes</a:t>
            </a:r>
            <a:endParaRPr lang="en-US" sz="1100" dirty="0"/>
          </a:p>
        </p:txBody>
      </p:sp>
      <p:sp>
        <p:nvSpPr>
          <p:cNvPr id="3" name="Text 5"/>
          <p:cNvSpPr>
            <a:spLocks noGrp="1"/>
          </p:cNvSpPr>
          <p:nvPr>
            <p:ph type="title" idx="107" hasCustomPrompt="1"/>
          </p:nvPr>
        </p:nvSpPr>
        <p:spPr>
          <a:xfrm>
            <a:off x="731520" y="969264"/>
            <a:ext cx="10728655" cy="566928"/>
          </a:xfrm>
          <a:prstGeom prst="rect">
            <a:avLst/>
          </a:prstGeom>
          <a:noFill/>
          <a:ln/>
        </p:spPr>
        <p:txBody>
          <a:bodyPr wrap="square" lIns="0" tIns="0" rIns="0" bIns="0" rtlCol="0" anchor="t"/>
          <a:lstStyle/>
          <a:p>
            <a:pPr marL="0" indent="0" algn="l">
              <a:buNone/>
            </a:pPr>
            <a:r>
              <a:rPr lang="en-US" sz="2800" kern="0" spc="-70" dirty="0">
                <a:solidFill>
                  <a:srgbClr val="16181D"/>
                </a:solidFill>
                <a:latin typeface="Inter Medium" pitchFamily="34" charset="0"/>
                <a:ea typeface="Inter Medium" pitchFamily="34" charset="-122"/>
                <a:cs typeface="Inter Medium" pitchFamily="34" charset="-120"/>
              </a:rPr>
              <a:t>Operational health is 3.58 / 5, led by quality and outcomes</a:t>
            </a:r>
            <a:endParaRPr lang="en-US" sz="2800" dirty="0"/>
          </a:p>
        </p:txBody>
      </p:sp>
      <p:sp>
        <p:nvSpPr>
          <p:cNvPr id="4" name="Text 5"/>
          <p:cNvSpPr>
            <a:spLocks noGrp="1"/>
          </p:cNvSpPr>
          <p:nvPr>
            <p:ph type="body" idx="108" hasCustomPrompt="1"/>
          </p:nvPr>
        </p:nvSpPr>
        <p:spPr>
          <a:xfrm>
            <a:off x="731520" y="1517904"/>
            <a:ext cx="10728655" cy="457200"/>
          </a:xfrm>
          <a:prstGeom prst="rect">
            <a:avLst/>
          </a:prstGeom>
          <a:noFill/>
          <a:ln/>
        </p:spPr>
        <p:txBody>
          <a:bodyPr wrap="square" lIns="0" tIns="0" rIns="0" bIns="0" rtlCol="0" anchor="t"/>
          <a:lstStyle/>
          <a:p>
            <a:pPr marL="0" indent="0">
              <a:buNone/>
            </a:pPr>
            <a:r>
              <a:rPr lang="en-US" sz="1300" dirty="0">
                <a:solidFill>
                  <a:srgbClr val="5A5E63"/>
                </a:solidFill>
                <a:latin typeface="Inter" pitchFamily="34" charset="0"/>
                <a:ea typeface="Inter" pitchFamily="34" charset="-122"/>
                <a:cs typeface="Inter" pitchFamily="34" charset="-120"/>
              </a:rPr>
              <a:t>Four operational pillars, each scored 1–5 on full-period averages for August. The same scoring as your dashboard.</a:t>
            </a:r>
            <a:endParaRPr lang="en-US" sz="1300" dirty="0"/>
          </a:p>
        </p:txBody>
      </p:sp>
      <p:sp>
        <p:nvSpPr>
          <p:cNvPr id="5" name="Shape 3"/>
          <p:cNvSpPr/>
          <p:nvPr/>
        </p:nvSpPr>
        <p:spPr>
          <a:xfrm>
            <a:off x="731520" y="2103120"/>
            <a:ext cx="10728655" cy="3931920"/>
          </a:xfrm>
          <a:prstGeom prst="roundRect">
            <a:avLst>
              <a:gd name="adj" fmla="val 2791"/>
            </a:avLst>
          </a:prstGeom>
          <a:solidFill>
            <a:srgbClr val="FFFFFF"/>
          </a:solidFill>
          <a:ln/>
        </p:spPr>
      </p:sp>
      <p:sp>
        <p:nvSpPr>
          <p:cNvPr id="6" name="Shape 4"/>
          <p:cNvSpPr/>
          <p:nvPr/>
        </p:nvSpPr>
        <p:spPr>
          <a:xfrm>
            <a:off x="731520" y="2103120"/>
            <a:ext cx="3355848" cy="3931920"/>
          </a:xfrm>
          <a:prstGeom prst="roundRect">
            <a:avLst>
              <a:gd name="adj" fmla="val 3270"/>
            </a:avLst>
          </a:prstGeom>
          <a:solidFill>
            <a:srgbClr val="FAF7FF"/>
          </a:solidFill>
          <a:ln/>
        </p:spPr>
      </p:sp>
      <p:sp>
        <p:nvSpPr>
          <p:cNvPr id="7" name="Shape 5"/>
          <p:cNvSpPr/>
          <p:nvPr/>
        </p:nvSpPr>
        <p:spPr>
          <a:xfrm>
            <a:off x="3968496" y="2103120"/>
            <a:ext cx="128016" cy="3931920"/>
          </a:xfrm>
          <a:prstGeom prst="rect">
            <a:avLst/>
          </a:prstGeom>
          <a:solidFill>
            <a:srgbClr val="FFFFFF"/>
          </a:solidFill>
          <a:ln/>
        </p:spPr>
      </p:sp>
      <p:sp>
        <p:nvSpPr>
          <p:cNvPr id="8" name="Shape 6"/>
          <p:cNvSpPr/>
          <p:nvPr/>
        </p:nvSpPr>
        <p:spPr>
          <a:xfrm>
            <a:off x="3977640" y="2103120"/>
            <a:ext cx="0" cy="3931920"/>
          </a:xfrm>
          <a:prstGeom prst="line">
            <a:avLst/>
          </a:prstGeom>
          <a:noFill/>
          <a:ln w="9525">
            <a:solidFill>
              <a:srgbClr val="E6EAF4"/>
            </a:solidFill>
            <a:prstDash val="solid"/>
          </a:ln>
        </p:spPr>
      </p:sp>
      <p:sp>
        <p:nvSpPr>
          <p:cNvPr id="9" name="operational-health"/>
          <p:cNvSpPr/>
          <p:nvPr/>
        </p:nvSpPr>
        <p:spPr>
          <a:xfrm>
            <a:off x="731520" y="2103120"/>
            <a:ext cx="10728655" cy="3931920"/>
          </a:xfrm>
          <a:prstGeom prst="roundRect">
            <a:avLst>
              <a:gd name="adj" fmla="val 2791"/>
            </a:avLst>
          </a:prstGeom>
          <a:ln w="9525">
            <a:solidFill>
              <a:srgbClr val="E6EAF4"/>
            </a:solidFill>
            <a:prstDash val="solid"/>
          </a:ln>
        </p:spPr>
      </p:sp>
      <p:sp>
        <p:nvSpPr>
          <p:cNvPr id="10" name="Text 8"/>
          <p:cNvSpPr txBox="1"/>
          <p:nvPr/>
        </p:nvSpPr>
        <p:spPr>
          <a:xfrm>
            <a:off x="1024128" y="2414016"/>
            <a:ext cx="2697480" cy="219456"/>
          </a:xfrm>
          <a:prstGeom prst="rect">
            <a:avLst/>
          </a:prstGeom>
          <a:noFill/>
          <a:ln/>
        </p:spPr>
        <p:txBody>
          <a:bodyPr wrap="square" lIns="0" tIns="0" rIns="0" bIns="0" rtlCol="0" anchor="t"/>
          <a:lstStyle/>
          <a:p>
            <a:pPr marL="0" indent="0">
              <a:buNone/>
            </a:pPr>
            <a:r>
              <a:rPr lang="en-US" sz="1100" dirty="0">
                <a:solidFill>
                  <a:srgbClr val="501BC4"/>
                </a:solidFill>
                <a:latin typeface="Inter Medium" pitchFamily="34" charset="0"/>
                <a:ea typeface="Inter Medium" pitchFamily="34" charset="-122"/>
                <a:cs typeface="Inter Medium" pitchFamily="34" charset="-120"/>
              </a:rPr>
              <a:t>Operational health, 1–5</a:t>
            </a:r>
            <a:endParaRPr lang="en-US" sz="1100" dirty="0"/>
          </a:p>
        </p:txBody>
      </p:sp>
      <p:sp>
        <p:nvSpPr>
          <p:cNvPr id="11" name="Text 9"/>
          <p:cNvSpPr txBox="1"/>
          <p:nvPr/>
        </p:nvSpPr>
        <p:spPr>
          <a:xfrm>
            <a:off x="1024128" y="2761488"/>
            <a:ext cx="2788920" cy="960120"/>
          </a:xfrm>
          <a:prstGeom prst="rect">
            <a:avLst/>
          </a:prstGeom>
          <a:noFill/>
          <a:ln/>
        </p:spPr>
        <p:txBody>
          <a:bodyPr wrap="square" lIns="0" tIns="0" rIns="0" bIns="0" rtlCol="0" anchor="b"/>
          <a:lstStyle/>
          <a:p>
            <a:pPr marL="0" indent="0">
              <a:buNone/>
            </a:pPr>
            <a:r>
              <a:rPr lang="en-US" sz="6000" kern="0" spc="-240" dirty="0">
                <a:solidFill>
                  <a:srgbClr val="16181D"/>
                </a:solidFill>
                <a:latin typeface="Inter Medium" pitchFamily="34" charset="0"/>
                <a:ea typeface="Inter Medium" pitchFamily="34" charset="-122"/>
                <a:cs typeface="Inter Medium" pitchFamily="34" charset="-120"/>
              </a:rPr>
              <a:t>3.58</a:t>
            </a:r>
            <a:r>
              <a:rPr lang="en-US" sz="1800" dirty="0">
                <a:solidFill>
                  <a:srgbClr val="5A5E63"/>
                </a:solidFill>
                <a:latin typeface="Inter" pitchFamily="34" charset="0"/>
                <a:ea typeface="Inter" pitchFamily="34" charset="-122"/>
                <a:cs typeface="Inter" pitchFamily="34" charset="-120"/>
              </a:rPr>
              <a:t> / 5</a:t>
            </a:r>
            <a:endParaRPr lang="en-US" sz="6000" dirty="0"/>
          </a:p>
        </p:txBody>
      </p:sp>
      <p:sp>
        <p:nvSpPr>
          <p:cNvPr id="12" name="Text 10"/>
          <p:cNvSpPr txBox="1"/>
          <p:nvPr/>
        </p:nvSpPr>
        <p:spPr>
          <a:xfrm>
            <a:off x="1024128" y="3977640"/>
            <a:ext cx="2697480" cy="182880"/>
          </a:xfrm>
          <a:prstGeom prst="rect">
            <a:avLst/>
          </a:prstGeom>
          <a:noFill/>
          <a:ln/>
        </p:spPr>
        <p:txBody>
          <a:bodyPr wrap="square" lIns="0" tIns="0" rIns="0" bIns="0" rtlCol="0" anchor="t"/>
          <a:lstStyle/>
          <a:p>
            <a:pPr marL="0" indent="0">
              <a:buNone/>
            </a:pPr>
            <a:r>
              <a:rPr lang="en-US" sz="950" dirty="0">
                <a:solidFill>
                  <a:srgbClr val="5A5E63"/>
                </a:solidFill>
                <a:latin typeface="Inter Medium" pitchFamily="34" charset="0"/>
                <a:ea typeface="Inter Medium" pitchFamily="34" charset="-122"/>
                <a:cs typeface="Inter Medium" pitchFamily="34" charset="-120"/>
              </a:rPr>
              <a:t>Basis</a:t>
            </a:r>
            <a:endParaRPr lang="en-US" sz="950" dirty="0"/>
          </a:p>
        </p:txBody>
      </p:sp>
      <p:sp>
        <p:nvSpPr>
          <p:cNvPr id="13" name="Text 11"/>
          <p:cNvSpPr txBox="1"/>
          <p:nvPr/>
        </p:nvSpPr>
        <p:spPr>
          <a:xfrm>
            <a:off x="1024128" y="4206240"/>
            <a:ext cx="2697480" cy="457200"/>
          </a:xfrm>
          <a:prstGeom prst="rect">
            <a:avLst/>
          </a:prstGeom>
          <a:noFill/>
          <a:ln/>
        </p:spPr>
        <p:txBody>
          <a:bodyPr wrap="square" lIns="0" tIns="0" rIns="0" bIns="0" rtlCol="0" anchor="t"/>
          <a:lstStyle/>
          <a:p>
            <a:pPr marL="0" indent="0">
              <a:buNone/>
            </a:pPr>
            <a:r>
              <a:rPr lang="en-US" sz="1150" dirty="0">
                <a:solidFill>
                  <a:srgbClr val="28282E"/>
                </a:solidFill>
                <a:latin typeface="Inter" pitchFamily="34" charset="0"/>
                <a:ea typeface="Inter" pitchFamily="34" charset="-122"/>
                <a:cs typeface="Inter" pitchFamily="34" charset="-120"/>
              </a:rPr>
              <a:t>Full-period averages (Aug 1 – Aug 31, 31 days)</a:t>
            </a:r>
            <a:endParaRPr lang="en-US" sz="1150" dirty="0"/>
          </a:p>
        </p:txBody>
      </p:sp>
      <p:sp>
        <p:nvSpPr>
          <p:cNvPr id="14" name="Shape 12"/>
          <p:cNvSpPr/>
          <p:nvPr/>
        </p:nvSpPr>
        <p:spPr>
          <a:xfrm>
            <a:off x="4251960" y="2366010"/>
            <a:ext cx="457200" cy="457200"/>
          </a:xfrm>
          <a:prstGeom prst="rect">
            <a:avLst/>
          </a:prstGeom>
          <a:solidFill>
            <a:srgbClr val="6720FF"/>
          </a:solidFill>
          <a:ln/>
        </p:spPr>
      </p:sp>
      <p:pic>
        <p:nvPicPr>
          <p:cNvPr id="15" name="Image 0" descr="Reliability"/>
          <p:cNvPicPr>
            <a:picLocks noChangeAspect="1"/>
          </p:cNvPicPr>
          <p:nvPr/>
        </p:nvPicPr>
        <p:blipFill>
          <a:blip r:embed="rId3"/>
          <a:stretch>
            <a:fillRect/>
          </a:stretch>
        </p:blipFill>
        <p:spPr>
          <a:xfrm>
            <a:off x="4361688" y="2475738"/>
            <a:ext cx="237744" cy="237744"/>
          </a:xfrm>
          <a:prstGeom prst="rect">
            <a:avLst/>
          </a:prstGeom>
        </p:spPr>
      </p:pic>
      <p:sp>
        <p:nvSpPr>
          <p:cNvPr id="16" name="Text 13"/>
          <p:cNvSpPr txBox="1"/>
          <p:nvPr/>
        </p:nvSpPr>
        <p:spPr>
          <a:xfrm>
            <a:off x="4937760" y="2302002"/>
            <a:ext cx="4206240" cy="274320"/>
          </a:xfrm>
          <a:prstGeom prst="rect">
            <a:avLst/>
          </a:prstGeom>
          <a:noFill/>
          <a:ln/>
        </p:spPr>
        <p:txBody>
          <a:bodyPr wrap="square" lIns="0" tIns="0" rIns="0" bIns="0" rtlCol="0" anchor="t"/>
          <a:lstStyle/>
          <a:p>
            <a:pPr marL="0" indent="0">
              <a:buNone/>
            </a:pPr>
            <a:r>
              <a:rPr lang="en-US" sz="1500" dirty="0">
                <a:solidFill>
                  <a:srgbClr val="16181D"/>
                </a:solidFill>
                <a:latin typeface="Inter Medium" pitchFamily="34" charset="0"/>
                <a:ea typeface="Inter Medium" pitchFamily="34" charset="-122"/>
                <a:cs typeface="Inter Medium" pitchFamily="34" charset="-120"/>
              </a:rPr>
              <a:t>Reliability</a:t>
            </a:r>
            <a:endParaRPr lang="en-US" sz="1500" dirty="0"/>
          </a:p>
        </p:txBody>
      </p:sp>
      <p:sp>
        <p:nvSpPr>
          <p:cNvPr id="17" name="Text 14"/>
          <p:cNvSpPr txBox="1"/>
          <p:nvPr/>
        </p:nvSpPr>
        <p:spPr>
          <a:xfrm>
            <a:off x="4937760" y="2612898"/>
            <a:ext cx="4754880" cy="274320"/>
          </a:xfrm>
          <a:prstGeom prst="rect">
            <a:avLst/>
          </a:prstGeom>
          <a:noFill/>
          <a:ln/>
        </p:spPr>
        <p:txBody>
          <a:bodyPr wrap="square" lIns="0" tIns="0" rIns="0" bIns="0" rtlCol="0" anchor="t"/>
          <a:lstStyle/>
          <a:p>
            <a:pPr marL="0" indent="0">
              <a:buNone/>
            </a:pPr>
            <a:r>
              <a:rPr lang="en-US" sz="1150" dirty="0">
                <a:solidFill>
                  <a:srgbClr val="5A5E63"/>
                </a:solidFill>
                <a:latin typeface="Inter" pitchFamily="34" charset="0"/>
                <a:ea typeface="Inter" pitchFamily="34" charset="-122"/>
                <a:cs typeface="Inter" pitchFamily="34" charset="-120"/>
              </a:rPr>
              <a:t>Is the platform up, error-free and fast?</a:t>
            </a:r>
            <a:endParaRPr lang="en-US" sz="1150" dirty="0"/>
          </a:p>
        </p:txBody>
      </p:sp>
      <p:sp>
        <p:nvSpPr>
          <p:cNvPr id="18" name="Shape 15"/>
          <p:cNvSpPr/>
          <p:nvPr/>
        </p:nvSpPr>
        <p:spPr>
          <a:xfrm>
            <a:off x="9585655" y="2516886"/>
            <a:ext cx="155448" cy="155448"/>
          </a:xfrm>
          <a:prstGeom prst="rect">
            <a:avLst/>
          </a:prstGeom>
          <a:solidFill>
            <a:srgbClr val="E0D2FD"/>
          </a:solidFill>
          <a:ln/>
        </p:spPr>
      </p:sp>
      <p:sp>
        <p:nvSpPr>
          <p:cNvPr id="19" name="Shape 16"/>
          <p:cNvSpPr/>
          <p:nvPr/>
        </p:nvSpPr>
        <p:spPr>
          <a:xfrm>
            <a:off x="9585655" y="2516886"/>
            <a:ext cx="155448" cy="155448"/>
          </a:xfrm>
          <a:prstGeom prst="rect">
            <a:avLst/>
          </a:prstGeom>
          <a:solidFill>
            <a:srgbClr val="6720FF"/>
          </a:solidFill>
          <a:ln/>
        </p:spPr>
      </p:sp>
      <p:sp>
        <p:nvSpPr>
          <p:cNvPr id="20" name="Shape 17"/>
          <p:cNvSpPr/>
          <p:nvPr/>
        </p:nvSpPr>
        <p:spPr>
          <a:xfrm>
            <a:off x="9782251" y="2516886"/>
            <a:ext cx="155448" cy="155448"/>
          </a:xfrm>
          <a:prstGeom prst="rect">
            <a:avLst/>
          </a:prstGeom>
          <a:solidFill>
            <a:srgbClr val="E0D2FD"/>
          </a:solidFill>
          <a:ln/>
        </p:spPr>
      </p:sp>
      <p:sp>
        <p:nvSpPr>
          <p:cNvPr id="21" name="Shape 18"/>
          <p:cNvSpPr/>
          <p:nvPr/>
        </p:nvSpPr>
        <p:spPr>
          <a:xfrm>
            <a:off x="9782251" y="2516886"/>
            <a:ext cx="155448" cy="155448"/>
          </a:xfrm>
          <a:prstGeom prst="rect">
            <a:avLst/>
          </a:prstGeom>
          <a:solidFill>
            <a:srgbClr val="6720FF"/>
          </a:solidFill>
          <a:ln/>
        </p:spPr>
      </p:sp>
      <p:sp>
        <p:nvSpPr>
          <p:cNvPr id="22" name="Shape 19"/>
          <p:cNvSpPr/>
          <p:nvPr/>
        </p:nvSpPr>
        <p:spPr>
          <a:xfrm>
            <a:off x="9978847" y="2516886"/>
            <a:ext cx="155448" cy="155448"/>
          </a:xfrm>
          <a:prstGeom prst="rect">
            <a:avLst/>
          </a:prstGeom>
          <a:solidFill>
            <a:srgbClr val="E0D2FD"/>
          </a:solidFill>
          <a:ln/>
        </p:spPr>
      </p:sp>
      <p:sp>
        <p:nvSpPr>
          <p:cNvPr id="23" name="Shape 20"/>
          <p:cNvSpPr/>
          <p:nvPr/>
        </p:nvSpPr>
        <p:spPr>
          <a:xfrm>
            <a:off x="9978847" y="2516886"/>
            <a:ext cx="155448" cy="155448"/>
          </a:xfrm>
          <a:prstGeom prst="rect">
            <a:avLst/>
          </a:prstGeom>
          <a:solidFill>
            <a:srgbClr val="6720FF"/>
          </a:solidFill>
          <a:ln/>
        </p:spPr>
      </p:sp>
      <p:sp>
        <p:nvSpPr>
          <p:cNvPr id="24" name="Shape 21"/>
          <p:cNvSpPr/>
          <p:nvPr/>
        </p:nvSpPr>
        <p:spPr>
          <a:xfrm>
            <a:off x="10175443" y="2516886"/>
            <a:ext cx="155448" cy="155448"/>
          </a:xfrm>
          <a:prstGeom prst="rect">
            <a:avLst/>
          </a:prstGeom>
          <a:solidFill>
            <a:srgbClr val="E0D2FD"/>
          </a:solidFill>
          <a:ln/>
        </p:spPr>
      </p:sp>
      <p:sp>
        <p:nvSpPr>
          <p:cNvPr id="25" name="Shape 22"/>
          <p:cNvSpPr/>
          <p:nvPr/>
        </p:nvSpPr>
        <p:spPr>
          <a:xfrm>
            <a:off x="10175443" y="2516886"/>
            <a:ext cx="51816" cy="155448"/>
          </a:xfrm>
          <a:prstGeom prst="rect">
            <a:avLst/>
          </a:prstGeom>
          <a:solidFill>
            <a:srgbClr val="6720FF"/>
          </a:solidFill>
          <a:ln/>
        </p:spPr>
      </p:sp>
      <p:sp>
        <p:nvSpPr>
          <p:cNvPr id="26" name="Shape 23"/>
          <p:cNvSpPr/>
          <p:nvPr/>
        </p:nvSpPr>
        <p:spPr>
          <a:xfrm>
            <a:off x="10372039" y="2516886"/>
            <a:ext cx="155448" cy="155448"/>
          </a:xfrm>
          <a:prstGeom prst="rect">
            <a:avLst/>
          </a:prstGeom>
          <a:solidFill>
            <a:srgbClr val="E0D2FD"/>
          </a:solidFill>
          <a:ln/>
        </p:spPr>
      </p:sp>
      <p:sp>
        <p:nvSpPr>
          <p:cNvPr id="27" name="Text 24"/>
          <p:cNvSpPr txBox="1"/>
          <p:nvPr/>
        </p:nvSpPr>
        <p:spPr>
          <a:xfrm>
            <a:off x="10692079" y="2411730"/>
            <a:ext cx="548640" cy="365760"/>
          </a:xfrm>
          <a:prstGeom prst="rect">
            <a:avLst/>
          </a:prstGeom>
          <a:noFill/>
          <a:ln/>
        </p:spPr>
        <p:txBody>
          <a:bodyPr wrap="square" lIns="0" tIns="0" rIns="0" bIns="0" rtlCol="0" anchor="ctr"/>
          <a:lstStyle/>
          <a:p>
            <a:pPr marL="0" indent="0">
              <a:buNone/>
            </a:pPr>
            <a:r>
              <a:rPr lang="en-US" sz="1800" dirty="0">
                <a:solidFill>
                  <a:srgbClr val="16181D"/>
                </a:solidFill>
                <a:latin typeface="Inter Medium" pitchFamily="34" charset="0"/>
                <a:ea typeface="Inter Medium" pitchFamily="34" charset="-122"/>
                <a:cs typeface="Inter Medium" pitchFamily="34" charset="-120"/>
              </a:rPr>
              <a:t>3.3</a:t>
            </a:r>
            <a:endParaRPr lang="en-US" sz="1800" dirty="0"/>
          </a:p>
        </p:txBody>
      </p:sp>
      <p:sp>
        <p:nvSpPr>
          <p:cNvPr id="28" name="Shape 25"/>
          <p:cNvSpPr/>
          <p:nvPr/>
        </p:nvSpPr>
        <p:spPr>
          <a:xfrm>
            <a:off x="3977640" y="3086100"/>
            <a:ext cx="7482535" cy="0"/>
          </a:xfrm>
          <a:prstGeom prst="line">
            <a:avLst/>
          </a:prstGeom>
          <a:noFill/>
          <a:ln w="9525">
            <a:solidFill>
              <a:srgbClr val="E6EAF4"/>
            </a:solidFill>
            <a:prstDash val="solid"/>
          </a:ln>
        </p:spPr>
      </p:sp>
      <p:sp>
        <p:nvSpPr>
          <p:cNvPr id="29" name="Shape 26"/>
          <p:cNvSpPr/>
          <p:nvPr/>
        </p:nvSpPr>
        <p:spPr>
          <a:xfrm>
            <a:off x="4251960" y="3348990"/>
            <a:ext cx="457200" cy="457200"/>
          </a:xfrm>
          <a:prstGeom prst="rect">
            <a:avLst/>
          </a:prstGeom>
          <a:solidFill>
            <a:srgbClr val="6720FF"/>
          </a:solidFill>
          <a:ln/>
        </p:spPr>
      </p:sp>
      <p:pic>
        <p:nvPicPr>
          <p:cNvPr id="30" name="Image 1" descr="Adoption"/>
          <p:cNvPicPr>
            <a:picLocks noChangeAspect="1"/>
          </p:cNvPicPr>
          <p:nvPr/>
        </p:nvPicPr>
        <p:blipFill>
          <a:blip r:embed="rId4"/>
          <a:stretch>
            <a:fillRect/>
          </a:stretch>
        </p:blipFill>
        <p:spPr>
          <a:xfrm>
            <a:off x="4361688" y="3458718"/>
            <a:ext cx="237744" cy="237744"/>
          </a:xfrm>
          <a:prstGeom prst="rect">
            <a:avLst/>
          </a:prstGeom>
        </p:spPr>
      </p:pic>
      <p:sp>
        <p:nvSpPr>
          <p:cNvPr id="31" name="Text 27"/>
          <p:cNvSpPr txBox="1"/>
          <p:nvPr/>
        </p:nvSpPr>
        <p:spPr>
          <a:xfrm>
            <a:off x="4937760" y="3284982"/>
            <a:ext cx="4206240" cy="274320"/>
          </a:xfrm>
          <a:prstGeom prst="rect">
            <a:avLst/>
          </a:prstGeom>
          <a:noFill/>
          <a:ln/>
        </p:spPr>
        <p:txBody>
          <a:bodyPr wrap="square" lIns="0" tIns="0" rIns="0" bIns="0" rtlCol="0" anchor="t"/>
          <a:lstStyle/>
          <a:p>
            <a:pPr marL="0" indent="0">
              <a:buNone/>
            </a:pPr>
            <a:r>
              <a:rPr lang="en-US" sz="1500" dirty="0">
                <a:solidFill>
                  <a:srgbClr val="16181D"/>
                </a:solidFill>
                <a:latin typeface="Inter Medium" pitchFamily="34" charset="0"/>
                <a:ea typeface="Inter Medium" pitchFamily="34" charset="-122"/>
                <a:cs typeface="Inter Medium" pitchFamily="34" charset="-120"/>
              </a:rPr>
              <a:t>Adoption</a:t>
            </a:r>
            <a:endParaRPr lang="en-US" sz="1500" dirty="0"/>
          </a:p>
        </p:txBody>
      </p:sp>
      <p:sp>
        <p:nvSpPr>
          <p:cNvPr id="32" name="Text 28"/>
          <p:cNvSpPr txBox="1"/>
          <p:nvPr/>
        </p:nvSpPr>
        <p:spPr>
          <a:xfrm>
            <a:off x="4937760" y="3595878"/>
            <a:ext cx="4754880" cy="274320"/>
          </a:xfrm>
          <a:prstGeom prst="rect">
            <a:avLst/>
          </a:prstGeom>
          <a:noFill/>
          <a:ln/>
        </p:spPr>
        <p:txBody>
          <a:bodyPr wrap="square" lIns="0" tIns="0" rIns="0" bIns="0" rtlCol="0" anchor="t"/>
          <a:lstStyle/>
          <a:p>
            <a:pPr marL="0" indent="0">
              <a:buNone/>
            </a:pPr>
            <a:r>
              <a:rPr lang="en-US" sz="1150" dirty="0">
                <a:solidFill>
                  <a:srgbClr val="5A5E63"/>
                </a:solidFill>
                <a:latin typeface="Inter" pitchFamily="34" charset="0"/>
                <a:ea typeface="Inter" pitchFamily="34" charset="-122"/>
                <a:cs typeface="Inter" pitchFamily="34" charset="-120"/>
              </a:rPr>
              <a:t>Is Northstar putting more of its support load on the model?</a:t>
            </a:r>
            <a:endParaRPr lang="en-US" sz="1150" dirty="0"/>
          </a:p>
        </p:txBody>
      </p:sp>
      <p:sp>
        <p:nvSpPr>
          <p:cNvPr id="33" name="Shape 29"/>
          <p:cNvSpPr/>
          <p:nvPr/>
        </p:nvSpPr>
        <p:spPr>
          <a:xfrm>
            <a:off x="9585655" y="3499866"/>
            <a:ext cx="155448" cy="155448"/>
          </a:xfrm>
          <a:prstGeom prst="rect">
            <a:avLst/>
          </a:prstGeom>
          <a:solidFill>
            <a:srgbClr val="E0D2FD"/>
          </a:solidFill>
          <a:ln/>
        </p:spPr>
      </p:sp>
      <p:sp>
        <p:nvSpPr>
          <p:cNvPr id="34" name="Shape 30"/>
          <p:cNvSpPr/>
          <p:nvPr/>
        </p:nvSpPr>
        <p:spPr>
          <a:xfrm>
            <a:off x="9585655" y="3499866"/>
            <a:ext cx="155448" cy="155448"/>
          </a:xfrm>
          <a:prstGeom prst="rect">
            <a:avLst/>
          </a:prstGeom>
          <a:solidFill>
            <a:srgbClr val="6720FF"/>
          </a:solidFill>
          <a:ln/>
        </p:spPr>
      </p:sp>
      <p:sp>
        <p:nvSpPr>
          <p:cNvPr id="35" name="Shape 31"/>
          <p:cNvSpPr/>
          <p:nvPr/>
        </p:nvSpPr>
        <p:spPr>
          <a:xfrm>
            <a:off x="9782251" y="3499866"/>
            <a:ext cx="155448" cy="155448"/>
          </a:xfrm>
          <a:prstGeom prst="rect">
            <a:avLst/>
          </a:prstGeom>
          <a:solidFill>
            <a:srgbClr val="E0D2FD"/>
          </a:solidFill>
          <a:ln/>
        </p:spPr>
      </p:sp>
      <p:sp>
        <p:nvSpPr>
          <p:cNvPr id="36" name="Shape 32"/>
          <p:cNvSpPr/>
          <p:nvPr/>
        </p:nvSpPr>
        <p:spPr>
          <a:xfrm>
            <a:off x="9782251" y="3499866"/>
            <a:ext cx="155448" cy="155448"/>
          </a:xfrm>
          <a:prstGeom prst="rect">
            <a:avLst/>
          </a:prstGeom>
          <a:solidFill>
            <a:srgbClr val="6720FF"/>
          </a:solidFill>
          <a:ln/>
        </p:spPr>
      </p:sp>
      <p:sp>
        <p:nvSpPr>
          <p:cNvPr id="37" name="Shape 33"/>
          <p:cNvSpPr/>
          <p:nvPr/>
        </p:nvSpPr>
        <p:spPr>
          <a:xfrm>
            <a:off x="9978847" y="3499866"/>
            <a:ext cx="155448" cy="155448"/>
          </a:xfrm>
          <a:prstGeom prst="rect">
            <a:avLst/>
          </a:prstGeom>
          <a:solidFill>
            <a:srgbClr val="E0D2FD"/>
          </a:solidFill>
          <a:ln/>
        </p:spPr>
      </p:sp>
      <p:sp>
        <p:nvSpPr>
          <p:cNvPr id="38" name="Shape 34"/>
          <p:cNvSpPr/>
          <p:nvPr/>
        </p:nvSpPr>
        <p:spPr>
          <a:xfrm>
            <a:off x="9978847" y="3499866"/>
            <a:ext cx="155448" cy="155448"/>
          </a:xfrm>
          <a:prstGeom prst="rect">
            <a:avLst/>
          </a:prstGeom>
          <a:solidFill>
            <a:srgbClr val="6720FF"/>
          </a:solidFill>
          <a:ln/>
        </p:spPr>
      </p:sp>
      <p:sp>
        <p:nvSpPr>
          <p:cNvPr id="39" name="Shape 35"/>
          <p:cNvSpPr/>
          <p:nvPr/>
        </p:nvSpPr>
        <p:spPr>
          <a:xfrm>
            <a:off x="10175443" y="3499866"/>
            <a:ext cx="155448" cy="155448"/>
          </a:xfrm>
          <a:prstGeom prst="rect">
            <a:avLst/>
          </a:prstGeom>
          <a:solidFill>
            <a:srgbClr val="E0D2FD"/>
          </a:solidFill>
          <a:ln/>
        </p:spPr>
      </p:sp>
      <p:sp>
        <p:nvSpPr>
          <p:cNvPr id="40" name="Shape 36"/>
          <p:cNvSpPr/>
          <p:nvPr/>
        </p:nvSpPr>
        <p:spPr>
          <a:xfrm>
            <a:off x="10372039" y="3499866"/>
            <a:ext cx="155448" cy="155448"/>
          </a:xfrm>
          <a:prstGeom prst="rect">
            <a:avLst/>
          </a:prstGeom>
          <a:solidFill>
            <a:srgbClr val="E0D2FD"/>
          </a:solidFill>
          <a:ln/>
        </p:spPr>
      </p:sp>
      <p:sp>
        <p:nvSpPr>
          <p:cNvPr id="41" name="Text 37"/>
          <p:cNvSpPr txBox="1"/>
          <p:nvPr/>
        </p:nvSpPr>
        <p:spPr>
          <a:xfrm>
            <a:off x="10692079" y="3394710"/>
            <a:ext cx="548640" cy="365760"/>
          </a:xfrm>
          <a:prstGeom prst="rect">
            <a:avLst/>
          </a:prstGeom>
          <a:noFill/>
          <a:ln/>
        </p:spPr>
        <p:txBody>
          <a:bodyPr wrap="square" lIns="0" tIns="0" rIns="0" bIns="0" rtlCol="0" anchor="ctr"/>
          <a:lstStyle/>
          <a:p>
            <a:pPr marL="0" indent="0">
              <a:buNone/>
            </a:pPr>
            <a:r>
              <a:rPr lang="en-US" sz="1800" dirty="0">
                <a:solidFill>
                  <a:srgbClr val="16181D"/>
                </a:solidFill>
                <a:latin typeface="Inter Medium" pitchFamily="34" charset="0"/>
                <a:ea typeface="Inter Medium" pitchFamily="34" charset="-122"/>
                <a:cs typeface="Inter Medium" pitchFamily="34" charset="-120"/>
              </a:rPr>
              <a:t>3.0</a:t>
            </a:r>
            <a:endParaRPr lang="en-US" sz="1800" dirty="0"/>
          </a:p>
        </p:txBody>
      </p:sp>
      <p:sp>
        <p:nvSpPr>
          <p:cNvPr id="42" name="Shape 38"/>
          <p:cNvSpPr/>
          <p:nvPr/>
        </p:nvSpPr>
        <p:spPr>
          <a:xfrm>
            <a:off x="3977640" y="4069080"/>
            <a:ext cx="7482535" cy="0"/>
          </a:xfrm>
          <a:prstGeom prst="line">
            <a:avLst/>
          </a:prstGeom>
          <a:noFill/>
          <a:ln w="9525">
            <a:solidFill>
              <a:srgbClr val="E6EAF4"/>
            </a:solidFill>
            <a:prstDash val="solid"/>
          </a:ln>
        </p:spPr>
      </p:sp>
      <p:sp>
        <p:nvSpPr>
          <p:cNvPr id="43" name="Shape 39"/>
          <p:cNvSpPr/>
          <p:nvPr/>
        </p:nvSpPr>
        <p:spPr>
          <a:xfrm>
            <a:off x="4251960" y="4331970"/>
            <a:ext cx="457200" cy="457200"/>
          </a:xfrm>
          <a:prstGeom prst="rect">
            <a:avLst/>
          </a:prstGeom>
          <a:solidFill>
            <a:srgbClr val="6720FF"/>
          </a:solidFill>
          <a:ln/>
        </p:spPr>
      </p:sp>
      <p:pic>
        <p:nvPicPr>
          <p:cNvPr id="44" name="Image 2" descr="Model quality"/>
          <p:cNvPicPr>
            <a:picLocks noChangeAspect="1"/>
          </p:cNvPicPr>
          <p:nvPr/>
        </p:nvPicPr>
        <p:blipFill>
          <a:blip r:embed="rId5"/>
          <a:stretch>
            <a:fillRect/>
          </a:stretch>
        </p:blipFill>
        <p:spPr>
          <a:xfrm>
            <a:off x="4361688" y="4441698"/>
            <a:ext cx="237744" cy="237744"/>
          </a:xfrm>
          <a:prstGeom prst="rect">
            <a:avLst/>
          </a:prstGeom>
        </p:spPr>
      </p:pic>
      <p:sp>
        <p:nvSpPr>
          <p:cNvPr id="45" name="Text 40"/>
          <p:cNvSpPr txBox="1"/>
          <p:nvPr/>
        </p:nvSpPr>
        <p:spPr>
          <a:xfrm>
            <a:off x="4937760" y="4267962"/>
            <a:ext cx="4206240" cy="274320"/>
          </a:xfrm>
          <a:prstGeom prst="rect">
            <a:avLst/>
          </a:prstGeom>
          <a:noFill/>
          <a:ln/>
        </p:spPr>
        <p:txBody>
          <a:bodyPr wrap="square" lIns="0" tIns="0" rIns="0" bIns="0" rtlCol="0" anchor="t"/>
          <a:lstStyle/>
          <a:p>
            <a:pPr marL="0" indent="0">
              <a:buNone/>
            </a:pPr>
            <a:r>
              <a:rPr lang="en-US" sz="1500" dirty="0">
                <a:solidFill>
                  <a:srgbClr val="16181D"/>
                </a:solidFill>
                <a:latin typeface="Inter Medium" pitchFamily="34" charset="0"/>
                <a:ea typeface="Inter Medium" pitchFamily="34" charset="-122"/>
                <a:cs typeface="Inter Medium" pitchFamily="34" charset="-120"/>
              </a:rPr>
              <a:t>Model quality</a:t>
            </a:r>
            <a:endParaRPr lang="en-US" sz="1500" dirty="0"/>
          </a:p>
        </p:txBody>
      </p:sp>
      <p:sp>
        <p:nvSpPr>
          <p:cNvPr id="46" name="Text 41"/>
          <p:cNvSpPr txBox="1"/>
          <p:nvPr/>
        </p:nvSpPr>
        <p:spPr>
          <a:xfrm>
            <a:off x="4937760" y="4578858"/>
            <a:ext cx="4754880" cy="274320"/>
          </a:xfrm>
          <a:prstGeom prst="rect">
            <a:avLst/>
          </a:prstGeom>
          <a:noFill/>
          <a:ln/>
        </p:spPr>
        <p:txBody>
          <a:bodyPr wrap="square" lIns="0" tIns="0" rIns="0" bIns="0" rtlCol="0" anchor="t"/>
          <a:lstStyle/>
          <a:p>
            <a:pPr marL="0" indent="0">
              <a:buNone/>
            </a:pPr>
            <a:r>
              <a:rPr lang="en-US" sz="1150" dirty="0">
                <a:solidFill>
                  <a:srgbClr val="5A5E63"/>
                </a:solidFill>
                <a:latin typeface="Inter" pitchFamily="34" charset="0"/>
                <a:ea typeface="Inter" pitchFamily="34" charset="-122"/>
                <a:cs typeface="Inter" pitchFamily="34" charset="-120"/>
              </a:rPr>
              <a:t>Are the answers right?</a:t>
            </a:r>
            <a:endParaRPr lang="en-US" sz="1150" dirty="0"/>
          </a:p>
        </p:txBody>
      </p:sp>
      <p:sp>
        <p:nvSpPr>
          <p:cNvPr id="47" name="Shape 42"/>
          <p:cNvSpPr/>
          <p:nvPr/>
        </p:nvSpPr>
        <p:spPr>
          <a:xfrm>
            <a:off x="9585655" y="4482846"/>
            <a:ext cx="155448" cy="155448"/>
          </a:xfrm>
          <a:prstGeom prst="rect">
            <a:avLst/>
          </a:prstGeom>
          <a:solidFill>
            <a:srgbClr val="E0D2FD"/>
          </a:solidFill>
          <a:ln/>
        </p:spPr>
      </p:sp>
      <p:sp>
        <p:nvSpPr>
          <p:cNvPr id="48" name="Shape 43"/>
          <p:cNvSpPr/>
          <p:nvPr/>
        </p:nvSpPr>
        <p:spPr>
          <a:xfrm>
            <a:off x="9585655" y="4482846"/>
            <a:ext cx="155448" cy="155448"/>
          </a:xfrm>
          <a:prstGeom prst="rect">
            <a:avLst/>
          </a:prstGeom>
          <a:solidFill>
            <a:srgbClr val="6720FF"/>
          </a:solidFill>
          <a:ln/>
        </p:spPr>
      </p:sp>
      <p:sp>
        <p:nvSpPr>
          <p:cNvPr id="49" name="Shape 44"/>
          <p:cNvSpPr/>
          <p:nvPr/>
        </p:nvSpPr>
        <p:spPr>
          <a:xfrm>
            <a:off x="9782251" y="4482846"/>
            <a:ext cx="155448" cy="155448"/>
          </a:xfrm>
          <a:prstGeom prst="rect">
            <a:avLst/>
          </a:prstGeom>
          <a:solidFill>
            <a:srgbClr val="E0D2FD"/>
          </a:solidFill>
          <a:ln/>
        </p:spPr>
      </p:sp>
      <p:sp>
        <p:nvSpPr>
          <p:cNvPr id="50" name="Shape 45"/>
          <p:cNvSpPr/>
          <p:nvPr/>
        </p:nvSpPr>
        <p:spPr>
          <a:xfrm>
            <a:off x="9782251" y="4482846"/>
            <a:ext cx="155448" cy="155448"/>
          </a:xfrm>
          <a:prstGeom prst="rect">
            <a:avLst/>
          </a:prstGeom>
          <a:solidFill>
            <a:srgbClr val="6720FF"/>
          </a:solidFill>
          <a:ln/>
        </p:spPr>
      </p:sp>
      <p:sp>
        <p:nvSpPr>
          <p:cNvPr id="51" name="Shape 46"/>
          <p:cNvSpPr/>
          <p:nvPr/>
        </p:nvSpPr>
        <p:spPr>
          <a:xfrm>
            <a:off x="9978847" y="4482846"/>
            <a:ext cx="155448" cy="155448"/>
          </a:xfrm>
          <a:prstGeom prst="rect">
            <a:avLst/>
          </a:prstGeom>
          <a:solidFill>
            <a:srgbClr val="E0D2FD"/>
          </a:solidFill>
          <a:ln/>
        </p:spPr>
      </p:sp>
      <p:sp>
        <p:nvSpPr>
          <p:cNvPr id="52" name="Shape 47"/>
          <p:cNvSpPr/>
          <p:nvPr/>
        </p:nvSpPr>
        <p:spPr>
          <a:xfrm>
            <a:off x="9978847" y="4482846"/>
            <a:ext cx="155448" cy="155448"/>
          </a:xfrm>
          <a:prstGeom prst="rect">
            <a:avLst/>
          </a:prstGeom>
          <a:solidFill>
            <a:srgbClr val="6720FF"/>
          </a:solidFill>
          <a:ln/>
        </p:spPr>
      </p:sp>
      <p:sp>
        <p:nvSpPr>
          <p:cNvPr id="53" name="Shape 48"/>
          <p:cNvSpPr/>
          <p:nvPr/>
        </p:nvSpPr>
        <p:spPr>
          <a:xfrm>
            <a:off x="10175443" y="4482846"/>
            <a:ext cx="155448" cy="155448"/>
          </a:xfrm>
          <a:prstGeom prst="rect">
            <a:avLst/>
          </a:prstGeom>
          <a:solidFill>
            <a:srgbClr val="E0D2FD"/>
          </a:solidFill>
          <a:ln/>
        </p:spPr>
      </p:sp>
      <p:sp>
        <p:nvSpPr>
          <p:cNvPr id="54" name="Shape 49"/>
          <p:cNvSpPr/>
          <p:nvPr/>
        </p:nvSpPr>
        <p:spPr>
          <a:xfrm>
            <a:off x="10175443" y="4482846"/>
            <a:ext cx="155448" cy="155448"/>
          </a:xfrm>
          <a:prstGeom prst="rect">
            <a:avLst/>
          </a:prstGeom>
          <a:solidFill>
            <a:srgbClr val="6720FF"/>
          </a:solidFill>
          <a:ln/>
        </p:spPr>
      </p:sp>
      <p:sp>
        <p:nvSpPr>
          <p:cNvPr id="55" name="Shape 50"/>
          <p:cNvSpPr/>
          <p:nvPr/>
        </p:nvSpPr>
        <p:spPr>
          <a:xfrm>
            <a:off x="10372039" y="4482846"/>
            <a:ext cx="155448" cy="155448"/>
          </a:xfrm>
          <a:prstGeom prst="rect">
            <a:avLst/>
          </a:prstGeom>
          <a:solidFill>
            <a:srgbClr val="E0D2FD"/>
          </a:solidFill>
          <a:ln/>
        </p:spPr>
      </p:sp>
      <p:sp>
        <p:nvSpPr>
          <p:cNvPr id="56" name="Text 51"/>
          <p:cNvSpPr txBox="1"/>
          <p:nvPr/>
        </p:nvSpPr>
        <p:spPr>
          <a:xfrm>
            <a:off x="10692079" y="4377690"/>
            <a:ext cx="548640" cy="365760"/>
          </a:xfrm>
          <a:prstGeom prst="rect">
            <a:avLst/>
          </a:prstGeom>
          <a:noFill/>
          <a:ln/>
        </p:spPr>
        <p:txBody>
          <a:bodyPr wrap="square" lIns="0" tIns="0" rIns="0" bIns="0" rtlCol="0" anchor="ctr"/>
          <a:lstStyle/>
          <a:p>
            <a:pPr marL="0" indent="0">
              <a:buNone/>
            </a:pPr>
            <a:r>
              <a:rPr lang="en-US" sz="1800" dirty="0">
                <a:solidFill>
                  <a:srgbClr val="16181D"/>
                </a:solidFill>
                <a:latin typeface="Inter Medium" pitchFamily="34" charset="0"/>
                <a:ea typeface="Inter Medium" pitchFamily="34" charset="-122"/>
                <a:cs typeface="Inter Medium" pitchFamily="34" charset="-120"/>
              </a:rPr>
              <a:t>4.0</a:t>
            </a:r>
            <a:endParaRPr lang="en-US" sz="1800" dirty="0"/>
          </a:p>
        </p:txBody>
      </p:sp>
      <p:sp>
        <p:nvSpPr>
          <p:cNvPr id="57" name="Shape 52"/>
          <p:cNvSpPr/>
          <p:nvPr/>
        </p:nvSpPr>
        <p:spPr>
          <a:xfrm>
            <a:off x="3977640" y="5052060"/>
            <a:ext cx="7482535" cy="0"/>
          </a:xfrm>
          <a:prstGeom prst="line">
            <a:avLst/>
          </a:prstGeom>
          <a:noFill/>
          <a:ln w="9525">
            <a:solidFill>
              <a:srgbClr val="E6EAF4"/>
            </a:solidFill>
            <a:prstDash val="solid"/>
          </a:ln>
        </p:spPr>
      </p:sp>
      <p:sp>
        <p:nvSpPr>
          <p:cNvPr id="58" name="Shape 53"/>
          <p:cNvSpPr/>
          <p:nvPr/>
        </p:nvSpPr>
        <p:spPr>
          <a:xfrm>
            <a:off x="4251960" y="5314950"/>
            <a:ext cx="457200" cy="457200"/>
          </a:xfrm>
          <a:prstGeom prst="rect">
            <a:avLst/>
          </a:prstGeom>
          <a:solidFill>
            <a:srgbClr val="6720FF"/>
          </a:solidFill>
          <a:ln/>
        </p:spPr>
      </p:sp>
      <p:pic>
        <p:nvPicPr>
          <p:cNvPr id="59" name="Image 3" descr="User outcomes"/>
          <p:cNvPicPr>
            <a:picLocks noChangeAspect="1"/>
          </p:cNvPicPr>
          <p:nvPr/>
        </p:nvPicPr>
        <p:blipFill>
          <a:blip r:embed="rId6"/>
          <a:stretch>
            <a:fillRect/>
          </a:stretch>
        </p:blipFill>
        <p:spPr>
          <a:xfrm>
            <a:off x="4361688" y="5424678"/>
            <a:ext cx="237744" cy="237744"/>
          </a:xfrm>
          <a:prstGeom prst="rect">
            <a:avLst/>
          </a:prstGeom>
        </p:spPr>
      </p:pic>
      <p:sp>
        <p:nvSpPr>
          <p:cNvPr id="60" name="Text 54"/>
          <p:cNvSpPr txBox="1"/>
          <p:nvPr/>
        </p:nvSpPr>
        <p:spPr>
          <a:xfrm>
            <a:off x="4937760" y="5250942"/>
            <a:ext cx="4206240" cy="274320"/>
          </a:xfrm>
          <a:prstGeom prst="rect">
            <a:avLst/>
          </a:prstGeom>
          <a:noFill/>
          <a:ln/>
        </p:spPr>
        <p:txBody>
          <a:bodyPr wrap="square" lIns="0" tIns="0" rIns="0" bIns="0" rtlCol="0" anchor="t"/>
          <a:lstStyle/>
          <a:p>
            <a:pPr marL="0" indent="0">
              <a:buNone/>
            </a:pPr>
            <a:r>
              <a:rPr lang="en-US" sz="1500" dirty="0">
                <a:solidFill>
                  <a:srgbClr val="16181D"/>
                </a:solidFill>
                <a:latin typeface="Inter Medium" pitchFamily="34" charset="0"/>
                <a:ea typeface="Inter Medium" pitchFamily="34" charset="-122"/>
                <a:cs typeface="Inter Medium" pitchFamily="34" charset="-120"/>
              </a:rPr>
              <a:t>User outcomes</a:t>
            </a:r>
            <a:endParaRPr lang="en-US" sz="1500" dirty="0"/>
          </a:p>
        </p:txBody>
      </p:sp>
      <p:sp>
        <p:nvSpPr>
          <p:cNvPr id="61" name="Text 55"/>
          <p:cNvSpPr txBox="1"/>
          <p:nvPr/>
        </p:nvSpPr>
        <p:spPr>
          <a:xfrm>
            <a:off x="4937760" y="5561838"/>
            <a:ext cx="4754880" cy="274320"/>
          </a:xfrm>
          <a:prstGeom prst="rect">
            <a:avLst/>
          </a:prstGeom>
          <a:noFill/>
          <a:ln/>
        </p:spPr>
        <p:txBody>
          <a:bodyPr wrap="square" lIns="0" tIns="0" rIns="0" bIns="0" rtlCol="0" anchor="t"/>
          <a:lstStyle/>
          <a:p>
            <a:pPr marL="0" indent="0">
              <a:buNone/>
            </a:pPr>
            <a:r>
              <a:rPr lang="en-US" sz="1150" dirty="0">
                <a:solidFill>
                  <a:srgbClr val="5A5E63"/>
                </a:solidFill>
                <a:latin typeface="Inter" pitchFamily="34" charset="0"/>
                <a:ea typeface="Inter" pitchFamily="34" charset="-122"/>
                <a:cs typeface="Inter" pitchFamily="34" charset="-120"/>
              </a:rPr>
              <a:t>What did Northstar's shoppers experience?</a:t>
            </a:r>
            <a:endParaRPr lang="en-US" sz="1150" dirty="0"/>
          </a:p>
        </p:txBody>
      </p:sp>
      <p:sp>
        <p:nvSpPr>
          <p:cNvPr id="62" name="Shape 56"/>
          <p:cNvSpPr/>
          <p:nvPr/>
        </p:nvSpPr>
        <p:spPr>
          <a:xfrm>
            <a:off x="9585655" y="5465826"/>
            <a:ext cx="155448" cy="155448"/>
          </a:xfrm>
          <a:prstGeom prst="rect">
            <a:avLst/>
          </a:prstGeom>
          <a:solidFill>
            <a:srgbClr val="E0D2FD"/>
          </a:solidFill>
          <a:ln/>
        </p:spPr>
      </p:sp>
      <p:sp>
        <p:nvSpPr>
          <p:cNvPr id="63" name="Shape 57"/>
          <p:cNvSpPr/>
          <p:nvPr/>
        </p:nvSpPr>
        <p:spPr>
          <a:xfrm>
            <a:off x="9585655" y="5465826"/>
            <a:ext cx="155448" cy="155448"/>
          </a:xfrm>
          <a:prstGeom prst="rect">
            <a:avLst/>
          </a:prstGeom>
          <a:solidFill>
            <a:srgbClr val="6720FF"/>
          </a:solidFill>
          <a:ln/>
        </p:spPr>
      </p:sp>
      <p:sp>
        <p:nvSpPr>
          <p:cNvPr id="64" name="Shape 58"/>
          <p:cNvSpPr/>
          <p:nvPr/>
        </p:nvSpPr>
        <p:spPr>
          <a:xfrm>
            <a:off x="9782251" y="5465826"/>
            <a:ext cx="155448" cy="155448"/>
          </a:xfrm>
          <a:prstGeom prst="rect">
            <a:avLst/>
          </a:prstGeom>
          <a:solidFill>
            <a:srgbClr val="E0D2FD"/>
          </a:solidFill>
          <a:ln/>
        </p:spPr>
      </p:sp>
      <p:sp>
        <p:nvSpPr>
          <p:cNvPr id="65" name="Shape 59"/>
          <p:cNvSpPr/>
          <p:nvPr/>
        </p:nvSpPr>
        <p:spPr>
          <a:xfrm>
            <a:off x="9782251" y="5465826"/>
            <a:ext cx="155448" cy="155448"/>
          </a:xfrm>
          <a:prstGeom prst="rect">
            <a:avLst/>
          </a:prstGeom>
          <a:solidFill>
            <a:srgbClr val="6720FF"/>
          </a:solidFill>
          <a:ln/>
        </p:spPr>
      </p:sp>
      <p:sp>
        <p:nvSpPr>
          <p:cNvPr id="66" name="Shape 60"/>
          <p:cNvSpPr/>
          <p:nvPr/>
        </p:nvSpPr>
        <p:spPr>
          <a:xfrm>
            <a:off x="9978847" y="5465826"/>
            <a:ext cx="155448" cy="155448"/>
          </a:xfrm>
          <a:prstGeom prst="rect">
            <a:avLst/>
          </a:prstGeom>
          <a:solidFill>
            <a:srgbClr val="E0D2FD"/>
          </a:solidFill>
          <a:ln/>
        </p:spPr>
      </p:sp>
      <p:sp>
        <p:nvSpPr>
          <p:cNvPr id="67" name="Shape 61"/>
          <p:cNvSpPr/>
          <p:nvPr/>
        </p:nvSpPr>
        <p:spPr>
          <a:xfrm>
            <a:off x="9978847" y="5465826"/>
            <a:ext cx="155448" cy="155448"/>
          </a:xfrm>
          <a:prstGeom prst="rect">
            <a:avLst/>
          </a:prstGeom>
          <a:solidFill>
            <a:srgbClr val="6720FF"/>
          </a:solidFill>
          <a:ln/>
        </p:spPr>
      </p:sp>
      <p:sp>
        <p:nvSpPr>
          <p:cNvPr id="68" name="Shape 62"/>
          <p:cNvSpPr/>
          <p:nvPr/>
        </p:nvSpPr>
        <p:spPr>
          <a:xfrm>
            <a:off x="10175443" y="5465826"/>
            <a:ext cx="155448" cy="155448"/>
          </a:xfrm>
          <a:prstGeom prst="rect">
            <a:avLst/>
          </a:prstGeom>
          <a:solidFill>
            <a:srgbClr val="E0D2FD"/>
          </a:solidFill>
          <a:ln/>
        </p:spPr>
      </p:sp>
      <p:sp>
        <p:nvSpPr>
          <p:cNvPr id="69" name="Shape 63"/>
          <p:cNvSpPr/>
          <p:nvPr/>
        </p:nvSpPr>
        <p:spPr>
          <a:xfrm>
            <a:off x="10175443" y="5465826"/>
            <a:ext cx="155448" cy="155448"/>
          </a:xfrm>
          <a:prstGeom prst="rect">
            <a:avLst/>
          </a:prstGeom>
          <a:solidFill>
            <a:srgbClr val="6720FF"/>
          </a:solidFill>
          <a:ln/>
        </p:spPr>
      </p:sp>
      <p:sp>
        <p:nvSpPr>
          <p:cNvPr id="70" name="Shape 64"/>
          <p:cNvSpPr/>
          <p:nvPr/>
        </p:nvSpPr>
        <p:spPr>
          <a:xfrm>
            <a:off x="10372039" y="5465826"/>
            <a:ext cx="155448" cy="155448"/>
          </a:xfrm>
          <a:prstGeom prst="rect">
            <a:avLst/>
          </a:prstGeom>
          <a:solidFill>
            <a:srgbClr val="E0D2FD"/>
          </a:solidFill>
          <a:ln/>
        </p:spPr>
      </p:sp>
      <p:sp>
        <p:nvSpPr>
          <p:cNvPr id="71" name="Text 65"/>
          <p:cNvSpPr txBox="1"/>
          <p:nvPr/>
        </p:nvSpPr>
        <p:spPr>
          <a:xfrm>
            <a:off x="10692079" y="5360670"/>
            <a:ext cx="548640" cy="365760"/>
          </a:xfrm>
          <a:prstGeom prst="rect">
            <a:avLst/>
          </a:prstGeom>
          <a:noFill/>
          <a:ln/>
        </p:spPr>
        <p:txBody>
          <a:bodyPr wrap="square" lIns="0" tIns="0" rIns="0" bIns="0" rtlCol="0" anchor="ctr"/>
          <a:lstStyle/>
          <a:p>
            <a:pPr marL="0" indent="0">
              <a:buNone/>
            </a:pPr>
            <a:r>
              <a:rPr lang="en-US" sz="1800" dirty="0">
                <a:solidFill>
                  <a:srgbClr val="16181D"/>
                </a:solidFill>
                <a:latin typeface="Inter Medium" pitchFamily="34" charset="0"/>
                <a:ea typeface="Inter Medium" pitchFamily="34" charset="-122"/>
                <a:cs typeface="Inter Medium" pitchFamily="34" charset="-120"/>
              </a:rPr>
              <a:t>4.0</a:t>
            </a:r>
            <a:endParaRPr lang="en-US" sz="1800" dirty="0"/>
          </a:p>
        </p:txBody>
      </p:sp>
      <p:sp>
        <p:nvSpPr>
          <p:cNvPr id="72"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ma14="http://schemas.microsoft.com/office/mac/drawingml/2011/main" xmlns=""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a:spLocks noGrp="1"/>
          </p:cNvSpPr>
          <p:nvPr>
            <p:ph type="body" idx="106" hasCustomPrompt="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Answer quality</a:t>
            </a:r>
            <a:endParaRPr lang="en-US" sz="1100" dirty="0"/>
          </a:p>
        </p:txBody>
      </p:sp>
      <p:sp>
        <p:nvSpPr>
          <p:cNvPr id="3" name="Text 5"/>
          <p:cNvSpPr>
            <a:spLocks noGrp="1"/>
          </p:cNvSpPr>
          <p:nvPr>
            <p:ph type="title" idx="107" hasCustomPrompt="1"/>
          </p:nvPr>
        </p:nvSpPr>
        <p:spPr>
          <a:xfrm>
            <a:off x="731520" y="969264"/>
            <a:ext cx="10728655" cy="566928"/>
          </a:xfrm>
          <a:prstGeom prst="rect">
            <a:avLst/>
          </a:prstGeom>
          <a:noFill/>
          <a:ln/>
        </p:spPr>
        <p:txBody>
          <a:bodyPr wrap="square" lIns="0" tIns="0" rIns="0" bIns="0" rtlCol="0" anchor="t"/>
          <a:lstStyle/>
          <a:p>
            <a:pPr marL="0" indent="0" algn="l">
              <a:buNone/>
            </a:pPr>
            <a:r>
              <a:rPr lang="en-US" sz="2800" kern="0" spc="-70" dirty="0">
                <a:solidFill>
                  <a:srgbClr val="16181D"/>
                </a:solidFill>
                <a:latin typeface="Inter Medium" pitchFamily="34" charset="0"/>
                <a:ea typeface="Inter Medium" pitchFamily="34" charset="-122"/>
                <a:cs typeface="Inter Medium" pitchFamily="34" charset="-120"/>
              </a:rPr>
              <a:t>Quality improved every week, and adoption is still rising</a:t>
            </a:r>
            <a:endParaRPr lang="en-US" sz="2800" dirty="0"/>
          </a:p>
        </p:txBody>
      </p:sp>
      <p:sp>
        <p:nvSpPr>
          <p:cNvPr id="4" name="Text 5"/>
          <p:cNvSpPr>
            <a:spLocks noGrp="1"/>
          </p:cNvSpPr>
          <p:nvPr>
            <p:ph type="body" idx="108" hasCustomPrompt="1"/>
          </p:nvPr>
        </p:nvSpPr>
        <p:spPr>
          <a:xfrm>
            <a:off x="731520" y="1517904"/>
            <a:ext cx="10728655" cy="457200"/>
          </a:xfrm>
          <a:prstGeom prst="rect">
            <a:avLst/>
          </a:prstGeom>
          <a:noFill/>
          <a:ln/>
        </p:spPr>
        <p:txBody>
          <a:bodyPr wrap="square" lIns="0" tIns="0" rIns="0" bIns="0" rtlCol="0" anchor="t"/>
          <a:lstStyle/>
          <a:p>
            <a:pPr marL="0" indent="0">
              <a:buNone/>
            </a:pPr>
            <a:r>
              <a:rPr lang="en-US" sz="1300" dirty="0">
                <a:solidFill>
                  <a:srgbClr val="5A5E63"/>
                </a:solidFill>
                <a:latin typeface="Inter" pitchFamily="34" charset="0"/>
                <a:ea typeface="Inter" pitchFamily="34" charset="-122"/>
                <a:cs typeface="Inter" pitchFamily="34" charset="-120"/>
              </a:rPr>
              <a:t>Daily values for August, with the operational events marked as on your dashboard.</a:t>
            </a:r>
            <a:endParaRPr lang="en-US" sz="1300" dirty="0"/>
          </a:p>
        </p:txBody>
      </p:sp>
      <p:sp>
        <p:nvSpPr>
          <p:cNvPr id="5" name="chart-automation"/>
          <p:cNvSpPr/>
          <p:nvPr/>
        </p:nvSpPr>
        <p:spPr>
          <a:xfrm>
            <a:off x="731520" y="2103120"/>
            <a:ext cx="5227168" cy="3246120"/>
          </a:xfrm>
          <a:prstGeom prst="roundRect">
            <a:avLst>
              <a:gd name="adj" fmla="val 3380"/>
            </a:avLst>
          </a:prstGeom>
          <a:solidFill>
            <a:srgbClr val="FFFFFF"/>
          </a:solidFill>
          <a:ln w="9525">
            <a:solidFill>
              <a:srgbClr val="E6EAF4"/>
            </a:solidFill>
            <a:prstDash val="solid"/>
          </a:ln>
        </p:spPr>
      </p:sp>
      <p:sp>
        <p:nvSpPr>
          <p:cNvPr id="6" name="Text 4"/>
          <p:cNvSpPr txBox="1"/>
          <p:nvPr/>
        </p:nvSpPr>
        <p:spPr>
          <a:xfrm>
            <a:off x="960120" y="2304288"/>
            <a:ext cx="4769968" cy="274320"/>
          </a:xfrm>
          <a:prstGeom prst="rect">
            <a:avLst/>
          </a:prstGeom>
          <a:noFill/>
          <a:ln/>
        </p:spPr>
        <p:txBody>
          <a:bodyPr wrap="square" lIns="0" tIns="0" rIns="0" bIns="0" rtlCol="0" anchor="t"/>
          <a:lstStyle/>
          <a:p>
            <a:pPr marL="0" indent="0">
              <a:buNone/>
            </a:pPr>
            <a:r>
              <a:rPr lang="en-US" sz="1400" dirty="0">
                <a:solidFill>
                  <a:srgbClr val="16181D"/>
                </a:solidFill>
                <a:latin typeface="Inter Medium" pitchFamily="34" charset="0"/>
                <a:ea typeface="Inter Medium" pitchFamily="34" charset="-122"/>
                <a:cs typeface="Inter Medium" pitchFamily="34" charset="-120"/>
              </a:rPr>
              <a:t>Tier-1 automation rate</a:t>
            </a:r>
            <a:endParaRPr lang="en-US" sz="1400" dirty="0"/>
          </a:p>
        </p:txBody>
      </p:sp>
      <p:sp>
        <p:nvSpPr>
          <p:cNvPr id="7" name="Text 5"/>
          <p:cNvSpPr txBox="1"/>
          <p:nvPr/>
        </p:nvSpPr>
        <p:spPr>
          <a:xfrm>
            <a:off x="960120" y="2596896"/>
            <a:ext cx="4769968" cy="457200"/>
          </a:xfrm>
          <a:prstGeom prst="rect">
            <a:avLst/>
          </a:prstGeom>
          <a:noFill/>
          <a:ln/>
        </p:spPr>
        <p:txBody>
          <a:bodyPr wrap="square" lIns="0" tIns="0" rIns="0" bIns="0" rtlCol="0" anchor="t"/>
          <a:lstStyle/>
          <a:p>
            <a:pPr marL="0" indent="0">
              <a:buNone/>
            </a:pPr>
            <a:r>
              <a:rPr lang="en-US" sz="1050" dirty="0">
                <a:solidFill>
                  <a:srgbClr val="5A5E63"/>
                </a:solidFill>
                <a:latin typeface="Inter" pitchFamily="34" charset="0"/>
                <a:ea typeface="Inter" pitchFamily="34" charset="-122"/>
                <a:cs typeface="Inter" pitchFamily="34" charset="-120"/>
              </a:rPr>
              <a:t>Rose from 65.8% in week 1 to 70.1% in the final week, while automated tickets grew +15% against total tickets +8%.</a:t>
            </a:r>
            <a:endParaRPr lang="en-US" sz="1050" dirty="0"/>
          </a:p>
        </p:txBody>
      </p:sp>
      <p:graphicFrame>
        <p:nvGraphicFramePr>
          <p:cNvPr id="8" name="Chart 0"/>
          <p:cNvGraphicFramePr/>
          <p:nvPr/>
        </p:nvGraphicFramePr>
        <p:xfrm>
          <a:off x="841248" y="3090672"/>
          <a:ext cx="4952848" cy="1801368"/>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txBox="1"/>
          <p:nvPr/>
        </p:nvSpPr>
        <p:spPr>
          <a:xfrm>
            <a:off x="1317104" y="3501969"/>
            <a:ext cx="2194560" cy="182880"/>
          </a:xfrm>
          <a:prstGeom prst="rect">
            <a:avLst/>
          </a:prstGeom>
          <a:noFill/>
          <a:ln/>
        </p:spPr>
        <p:txBody>
          <a:bodyPr wrap="square" lIns="0" tIns="0" rIns="0" bIns="0" rtlCol="0" anchor="t"/>
          <a:lstStyle/>
          <a:p>
            <a:pPr marL="0" indent="0">
              <a:buNone/>
            </a:pPr>
            <a:r>
              <a:rPr lang="en-US" sz="850" dirty="0">
                <a:solidFill>
                  <a:srgbClr val="5A5E63"/>
                </a:solidFill>
                <a:latin typeface="Inter" pitchFamily="34" charset="0"/>
                <a:ea typeface="Inter" pitchFamily="34" charset="-122"/>
                <a:cs typeface="Inter" pitchFamily="34" charset="-120"/>
              </a:rPr>
              <a:t>70%</a:t>
            </a:r>
            <a:endParaRPr lang="en-US" sz="850" dirty="0"/>
          </a:p>
        </p:txBody>
      </p:sp>
      <p:sp>
        <p:nvSpPr>
          <p:cNvPr id="10" name="Shape 7"/>
          <p:cNvSpPr/>
          <p:nvPr/>
        </p:nvSpPr>
        <p:spPr>
          <a:xfrm>
            <a:off x="2477685" y="3162727"/>
            <a:ext cx="0" cy="1441094"/>
          </a:xfrm>
          <a:prstGeom prst="line">
            <a:avLst/>
          </a:prstGeom>
          <a:noFill/>
          <a:ln w="12700">
            <a:solidFill>
              <a:srgbClr val="F14539"/>
            </a:solidFill>
            <a:prstDash val="dash"/>
          </a:ln>
        </p:spPr>
      </p:sp>
      <p:sp>
        <p:nvSpPr>
          <p:cNvPr id="11" name="Shape 8"/>
          <p:cNvSpPr/>
          <p:nvPr/>
        </p:nvSpPr>
        <p:spPr>
          <a:xfrm>
            <a:off x="4193607" y="3162727"/>
            <a:ext cx="0" cy="1441094"/>
          </a:xfrm>
          <a:prstGeom prst="line">
            <a:avLst/>
          </a:prstGeom>
          <a:noFill/>
          <a:ln w="12700">
            <a:solidFill>
              <a:srgbClr val="F14539"/>
            </a:solidFill>
            <a:prstDash val="dash"/>
          </a:ln>
        </p:spPr>
      </p:sp>
      <p:sp>
        <p:nvSpPr>
          <p:cNvPr id="12" name="Shape 9"/>
          <p:cNvSpPr/>
          <p:nvPr/>
        </p:nvSpPr>
        <p:spPr>
          <a:xfrm>
            <a:off x="4622587" y="3162727"/>
            <a:ext cx="0" cy="1441094"/>
          </a:xfrm>
          <a:prstGeom prst="line">
            <a:avLst/>
          </a:prstGeom>
          <a:noFill/>
          <a:ln w="12700">
            <a:solidFill>
              <a:srgbClr val="9D72FE"/>
            </a:solidFill>
            <a:prstDash val="dash"/>
          </a:ln>
        </p:spPr>
      </p:sp>
      <p:sp>
        <p:nvSpPr>
          <p:cNvPr id="13" name="Shape 10"/>
          <p:cNvSpPr/>
          <p:nvPr/>
        </p:nvSpPr>
        <p:spPr>
          <a:xfrm>
            <a:off x="960120" y="5111496"/>
            <a:ext cx="182880" cy="0"/>
          </a:xfrm>
          <a:prstGeom prst="line">
            <a:avLst/>
          </a:prstGeom>
          <a:noFill/>
          <a:ln w="25400">
            <a:solidFill>
              <a:srgbClr val="6720FF"/>
            </a:solidFill>
            <a:prstDash val="solid"/>
          </a:ln>
        </p:spPr>
      </p:sp>
      <p:sp>
        <p:nvSpPr>
          <p:cNvPr id="14" name="Text 11"/>
          <p:cNvSpPr txBox="1"/>
          <p:nvPr/>
        </p:nvSpPr>
        <p:spPr>
          <a:xfrm>
            <a:off x="1207008" y="5020056"/>
            <a:ext cx="1024128" cy="18288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Automation rate</a:t>
            </a:r>
            <a:endParaRPr lang="en-US" sz="950" dirty="0"/>
          </a:p>
        </p:txBody>
      </p:sp>
      <p:sp>
        <p:nvSpPr>
          <p:cNvPr id="15" name="Shape 12"/>
          <p:cNvSpPr/>
          <p:nvPr/>
        </p:nvSpPr>
        <p:spPr>
          <a:xfrm>
            <a:off x="2395728" y="5111496"/>
            <a:ext cx="182880" cy="0"/>
          </a:xfrm>
          <a:prstGeom prst="line">
            <a:avLst/>
          </a:prstGeom>
          <a:noFill/>
          <a:ln w="25400">
            <a:solidFill>
              <a:srgbClr val="F14539"/>
            </a:solidFill>
            <a:prstDash val="dash"/>
          </a:ln>
        </p:spPr>
      </p:sp>
      <p:sp>
        <p:nvSpPr>
          <p:cNvPr id="16" name="Text 13"/>
          <p:cNvSpPr txBox="1"/>
          <p:nvPr/>
        </p:nvSpPr>
        <p:spPr>
          <a:xfrm>
            <a:off x="2642616" y="5020056"/>
            <a:ext cx="588874" cy="18288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Incident</a:t>
            </a:r>
            <a:endParaRPr lang="en-US" sz="950" dirty="0"/>
          </a:p>
        </p:txBody>
      </p:sp>
      <p:sp>
        <p:nvSpPr>
          <p:cNvPr id="17" name="Shape 14"/>
          <p:cNvSpPr/>
          <p:nvPr/>
        </p:nvSpPr>
        <p:spPr>
          <a:xfrm>
            <a:off x="3396082" y="5111496"/>
            <a:ext cx="182880" cy="0"/>
          </a:xfrm>
          <a:prstGeom prst="line">
            <a:avLst/>
          </a:prstGeom>
          <a:noFill/>
          <a:ln w="25400">
            <a:solidFill>
              <a:srgbClr val="9D72FE"/>
            </a:solidFill>
            <a:prstDash val="dash"/>
          </a:ln>
        </p:spPr>
      </p:sp>
      <p:sp>
        <p:nvSpPr>
          <p:cNvPr id="18" name="Text 15"/>
          <p:cNvSpPr txBox="1"/>
          <p:nvPr/>
        </p:nvSpPr>
        <p:spPr>
          <a:xfrm>
            <a:off x="3642970" y="5020056"/>
            <a:ext cx="464515" cy="18288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Change</a:t>
            </a:r>
            <a:endParaRPr lang="en-US" sz="950" dirty="0"/>
          </a:p>
        </p:txBody>
      </p:sp>
      <p:sp>
        <p:nvSpPr>
          <p:cNvPr id="19" name="chart-quality"/>
          <p:cNvSpPr/>
          <p:nvPr/>
        </p:nvSpPr>
        <p:spPr>
          <a:xfrm>
            <a:off x="6233008" y="2103120"/>
            <a:ext cx="5227168" cy="3246120"/>
          </a:xfrm>
          <a:prstGeom prst="roundRect">
            <a:avLst>
              <a:gd name="adj" fmla="val 3380"/>
            </a:avLst>
          </a:prstGeom>
          <a:solidFill>
            <a:srgbClr val="FFFFFF"/>
          </a:solidFill>
          <a:ln w="9525">
            <a:solidFill>
              <a:srgbClr val="E6EAF4"/>
            </a:solidFill>
            <a:prstDash val="solid"/>
          </a:ln>
        </p:spPr>
      </p:sp>
      <p:sp>
        <p:nvSpPr>
          <p:cNvPr id="20" name="Text 17"/>
          <p:cNvSpPr txBox="1"/>
          <p:nvPr/>
        </p:nvSpPr>
        <p:spPr>
          <a:xfrm>
            <a:off x="6461608" y="2304288"/>
            <a:ext cx="4769968" cy="274320"/>
          </a:xfrm>
          <a:prstGeom prst="rect">
            <a:avLst/>
          </a:prstGeom>
          <a:noFill/>
          <a:ln/>
        </p:spPr>
        <p:txBody>
          <a:bodyPr wrap="square" lIns="0" tIns="0" rIns="0" bIns="0" rtlCol="0" anchor="t"/>
          <a:lstStyle/>
          <a:p>
            <a:pPr marL="0" indent="0">
              <a:buNone/>
            </a:pPr>
            <a:r>
              <a:rPr lang="en-US" sz="1400" dirty="0">
                <a:solidFill>
                  <a:srgbClr val="16181D"/>
                </a:solidFill>
                <a:latin typeface="Inter Medium" pitchFamily="34" charset="0"/>
                <a:ea typeface="Inter Medium" pitchFamily="34" charset="-122"/>
                <a:cs typeface="Inter Medium" pitchFamily="34" charset="-120"/>
              </a:rPr>
              <a:t>Grounding and eval pass</a:t>
            </a:r>
            <a:endParaRPr lang="en-US" sz="1400" dirty="0"/>
          </a:p>
        </p:txBody>
      </p:sp>
      <p:sp>
        <p:nvSpPr>
          <p:cNvPr id="21" name="Text 18"/>
          <p:cNvSpPr txBox="1"/>
          <p:nvPr/>
        </p:nvSpPr>
        <p:spPr>
          <a:xfrm>
            <a:off x="6461608" y="2596896"/>
            <a:ext cx="4769968" cy="457200"/>
          </a:xfrm>
          <a:prstGeom prst="rect">
            <a:avLst/>
          </a:prstGeom>
          <a:noFill/>
          <a:ln/>
        </p:spPr>
        <p:txBody>
          <a:bodyPr wrap="square" lIns="0" tIns="0" rIns="0" bIns="0" rtlCol="0" anchor="t"/>
          <a:lstStyle/>
          <a:p>
            <a:pPr marL="0" indent="0">
              <a:buNone/>
            </a:pPr>
            <a:r>
              <a:rPr lang="en-US" sz="1050" dirty="0">
                <a:solidFill>
                  <a:srgbClr val="5A5E63"/>
                </a:solidFill>
                <a:latin typeface="Inter" pitchFamily="34" charset="0"/>
                <a:ea typeface="Inter" pitchFamily="34" charset="-122"/>
                <a:cs typeface="Inter" pitchFamily="34" charset="-120"/>
              </a:rPr>
              <a:t>Grounded answers 92.2% → 96.0%, eval pass 91.4% → 94.8%, escalations −2.7 pts (week 1 → week 4).</a:t>
            </a:r>
            <a:endParaRPr lang="en-US" sz="1050" dirty="0"/>
          </a:p>
        </p:txBody>
      </p:sp>
      <p:graphicFrame>
        <p:nvGraphicFramePr>
          <p:cNvPr id="22" name="Chart 1"/>
          <p:cNvGraphicFramePr/>
          <p:nvPr/>
        </p:nvGraphicFramePr>
        <p:xfrm>
          <a:off x="6342736" y="3090672"/>
          <a:ext cx="4952848" cy="1801368"/>
        </p:xfrm>
        <a:graphic>
          <a:graphicData uri="http://schemas.openxmlformats.org/drawingml/2006/chart">
            <c:chart xmlns:c="http://schemas.openxmlformats.org/drawingml/2006/chart" xmlns:r="http://schemas.openxmlformats.org/officeDocument/2006/relationships" r:id="rId4"/>
          </a:graphicData>
        </a:graphic>
      </p:graphicFrame>
      <p:sp>
        <p:nvSpPr>
          <p:cNvPr id="23" name="Shape 19"/>
          <p:cNvSpPr/>
          <p:nvPr/>
        </p:nvSpPr>
        <p:spPr>
          <a:xfrm>
            <a:off x="7979172" y="3162727"/>
            <a:ext cx="0" cy="1441094"/>
          </a:xfrm>
          <a:prstGeom prst="line">
            <a:avLst/>
          </a:prstGeom>
          <a:noFill/>
          <a:ln w="12700">
            <a:solidFill>
              <a:srgbClr val="F14539"/>
            </a:solidFill>
            <a:prstDash val="dash"/>
          </a:ln>
        </p:spPr>
      </p:sp>
      <p:sp>
        <p:nvSpPr>
          <p:cNvPr id="24" name="Shape 20"/>
          <p:cNvSpPr/>
          <p:nvPr/>
        </p:nvSpPr>
        <p:spPr>
          <a:xfrm>
            <a:off x="9695094" y="3162727"/>
            <a:ext cx="0" cy="1441094"/>
          </a:xfrm>
          <a:prstGeom prst="line">
            <a:avLst/>
          </a:prstGeom>
          <a:noFill/>
          <a:ln w="12700">
            <a:solidFill>
              <a:srgbClr val="F14539"/>
            </a:solidFill>
            <a:prstDash val="dash"/>
          </a:ln>
        </p:spPr>
      </p:sp>
      <p:sp>
        <p:nvSpPr>
          <p:cNvPr id="25" name="Shape 21"/>
          <p:cNvSpPr/>
          <p:nvPr/>
        </p:nvSpPr>
        <p:spPr>
          <a:xfrm>
            <a:off x="10124075" y="3162727"/>
            <a:ext cx="0" cy="1441094"/>
          </a:xfrm>
          <a:prstGeom prst="line">
            <a:avLst/>
          </a:prstGeom>
          <a:noFill/>
          <a:ln w="12700">
            <a:solidFill>
              <a:srgbClr val="9D72FE"/>
            </a:solidFill>
            <a:prstDash val="dash"/>
          </a:ln>
        </p:spPr>
      </p:sp>
      <p:sp>
        <p:nvSpPr>
          <p:cNvPr id="26" name="Shape 22"/>
          <p:cNvSpPr/>
          <p:nvPr/>
        </p:nvSpPr>
        <p:spPr>
          <a:xfrm>
            <a:off x="6461608" y="5111496"/>
            <a:ext cx="182880" cy="0"/>
          </a:xfrm>
          <a:prstGeom prst="line">
            <a:avLst/>
          </a:prstGeom>
          <a:noFill/>
          <a:ln w="25400">
            <a:solidFill>
              <a:srgbClr val="6720FF"/>
            </a:solidFill>
            <a:prstDash val="solid"/>
          </a:ln>
        </p:spPr>
      </p:sp>
      <p:sp>
        <p:nvSpPr>
          <p:cNvPr id="27" name="Text 23"/>
          <p:cNvSpPr txBox="1"/>
          <p:nvPr/>
        </p:nvSpPr>
        <p:spPr>
          <a:xfrm>
            <a:off x="6708496" y="5020056"/>
            <a:ext cx="1086307" cy="18288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Grounded answers</a:t>
            </a:r>
            <a:endParaRPr lang="en-US" sz="950" dirty="0"/>
          </a:p>
        </p:txBody>
      </p:sp>
      <p:sp>
        <p:nvSpPr>
          <p:cNvPr id="28" name="Shape 24"/>
          <p:cNvSpPr/>
          <p:nvPr/>
        </p:nvSpPr>
        <p:spPr>
          <a:xfrm>
            <a:off x="7959395" y="5111496"/>
            <a:ext cx="182880" cy="0"/>
          </a:xfrm>
          <a:prstGeom prst="line">
            <a:avLst/>
          </a:prstGeom>
          <a:noFill/>
          <a:ln w="25400">
            <a:solidFill>
              <a:srgbClr val="1756FF"/>
            </a:solidFill>
            <a:prstDash val="solid"/>
          </a:ln>
        </p:spPr>
      </p:sp>
      <p:sp>
        <p:nvSpPr>
          <p:cNvPr id="29" name="Text 25"/>
          <p:cNvSpPr txBox="1"/>
          <p:nvPr/>
        </p:nvSpPr>
        <p:spPr>
          <a:xfrm>
            <a:off x="8206283" y="5020056"/>
            <a:ext cx="651053" cy="18288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Eval pass</a:t>
            </a:r>
            <a:endParaRPr lang="en-US" sz="950" dirty="0"/>
          </a:p>
        </p:txBody>
      </p:sp>
      <p:sp>
        <p:nvSpPr>
          <p:cNvPr id="30" name="Shape 26"/>
          <p:cNvSpPr/>
          <p:nvPr/>
        </p:nvSpPr>
        <p:spPr>
          <a:xfrm>
            <a:off x="9021928" y="5111496"/>
            <a:ext cx="182880" cy="0"/>
          </a:xfrm>
          <a:prstGeom prst="line">
            <a:avLst/>
          </a:prstGeom>
          <a:noFill/>
          <a:ln w="25400">
            <a:solidFill>
              <a:srgbClr val="F14539"/>
            </a:solidFill>
            <a:prstDash val="dash"/>
          </a:ln>
        </p:spPr>
      </p:sp>
      <p:sp>
        <p:nvSpPr>
          <p:cNvPr id="31" name="Text 27"/>
          <p:cNvSpPr txBox="1"/>
          <p:nvPr/>
        </p:nvSpPr>
        <p:spPr>
          <a:xfrm>
            <a:off x="9268816" y="5020056"/>
            <a:ext cx="588874" cy="18288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Incident</a:t>
            </a:r>
            <a:endParaRPr lang="en-US" sz="950" dirty="0"/>
          </a:p>
        </p:txBody>
      </p:sp>
      <p:sp>
        <p:nvSpPr>
          <p:cNvPr id="32" name="Shape 28"/>
          <p:cNvSpPr/>
          <p:nvPr/>
        </p:nvSpPr>
        <p:spPr>
          <a:xfrm>
            <a:off x="10022281" y="5111496"/>
            <a:ext cx="182880" cy="0"/>
          </a:xfrm>
          <a:prstGeom prst="line">
            <a:avLst/>
          </a:prstGeom>
          <a:noFill/>
          <a:ln w="25400">
            <a:solidFill>
              <a:srgbClr val="9D72FE"/>
            </a:solidFill>
            <a:prstDash val="dash"/>
          </a:ln>
        </p:spPr>
      </p:sp>
      <p:sp>
        <p:nvSpPr>
          <p:cNvPr id="33" name="Text 29"/>
          <p:cNvSpPr txBox="1"/>
          <p:nvPr/>
        </p:nvSpPr>
        <p:spPr>
          <a:xfrm>
            <a:off x="10269169" y="5020056"/>
            <a:ext cx="464515" cy="18288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Change</a:t>
            </a:r>
            <a:endParaRPr lang="en-US" sz="950" dirty="0"/>
          </a:p>
        </p:txBody>
      </p:sp>
      <p:sp>
        <p:nvSpPr>
          <p:cNvPr id="34" name="Shape 30"/>
          <p:cNvSpPr/>
          <p:nvPr/>
        </p:nvSpPr>
        <p:spPr>
          <a:xfrm>
            <a:off x="731520" y="5550408"/>
            <a:ext cx="10728655" cy="768096"/>
          </a:xfrm>
          <a:prstGeom prst="roundRect">
            <a:avLst>
              <a:gd name="adj" fmla="val 14286"/>
            </a:avLst>
          </a:prstGeom>
          <a:solidFill>
            <a:srgbClr val="FAF7FF"/>
          </a:solidFill>
          <a:ln w="9525">
            <a:solidFill>
              <a:srgbClr val="E6EAF4"/>
            </a:solidFill>
            <a:prstDash val="solid"/>
          </a:ln>
        </p:spPr>
      </p:sp>
      <p:sp>
        <p:nvSpPr>
          <p:cNvPr id="35" name="Text 31"/>
          <p:cNvSpPr txBox="1"/>
          <p:nvPr/>
        </p:nvSpPr>
        <p:spPr>
          <a:xfrm>
            <a:off x="960120" y="5678424"/>
            <a:ext cx="2743200" cy="182880"/>
          </a:xfrm>
          <a:prstGeom prst="rect">
            <a:avLst/>
          </a:prstGeom>
          <a:noFill/>
          <a:ln/>
        </p:spPr>
        <p:txBody>
          <a:bodyPr wrap="square" lIns="0" tIns="0" rIns="0" bIns="0" rtlCol="0" anchor="t"/>
          <a:lstStyle/>
          <a:p>
            <a:pPr marL="0" indent="0">
              <a:buNone/>
            </a:pPr>
            <a:r>
              <a:rPr lang="en-US" sz="950" dirty="0">
                <a:solidFill>
                  <a:srgbClr val="5A5E63"/>
                </a:solidFill>
                <a:latin typeface="Inter Medium" pitchFamily="34" charset="0"/>
                <a:ea typeface="Inter Medium" pitchFamily="34" charset="-122"/>
                <a:cs typeface="Inter Medium" pitchFamily="34" charset="-120"/>
              </a:rPr>
              <a:t>Worth reviewing together</a:t>
            </a:r>
            <a:endParaRPr lang="en-US" sz="950" dirty="0"/>
          </a:p>
        </p:txBody>
      </p:sp>
      <p:sp>
        <p:nvSpPr>
          <p:cNvPr id="36" name="Text 32"/>
          <p:cNvSpPr txBox="1"/>
          <p:nvPr/>
        </p:nvSpPr>
        <p:spPr>
          <a:xfrm>
            <a:off x="960120" y="5897880"/>
            <a:ext cx="10271455" cy="365760"/>
          </a:xfrm>
          <a:prstGeom prst="rect">
            <a:avLst/>
          </a:prstGeom>
          <a:noFill/>
          <a:ln/>
        </p:spPr>
        <p:txBody>
          <a:bodyPr wrap="square" lIns="0" tIns="0" rIns="0" bIns="0" rtlCol="0" anchor="t"/>
          <a:lstStyle/>
          <a:p>
            <a:pPr marL="0" indent="0">
              <a:buNone/>
            </a:pPr>
            <a:r>
              <a:rPr lang="en-US" sz="1050" dirty="0">
                <a:solidFill>
                  <a:srgbClr val="28282E"/>
                </a:solidFill>
                <a:latin typeface="Inter" pitchFamily="34" charset="0"/>
                <a:ea typeface="Inter" pitchFamily="34" charset="-122"/>
                <a:cs typeface="Inter" pitchFamily="34" charset="-120"/>
              </a:rPr>
              <a:t>Requests per Tier-1 ticket rose from 4.6 to 6.2 over the month (7-day averages). It may be longer conversations, repeat contacts or non-ticket traffic; we’d like to look at it with your team.</a:t>
            </a:r>
            <a:endParaRPr lang="en-US" sz="1050" dirty="0"/>
          </a:p>
        </p:txBody>
      </p:sp>
      <p:sp>
        <p:nvSpPr>
          <p:cNvPr id="37"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ma14="http://schemas.microsoft.com/office/mac/drawingml/2011/main" xmlns=""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a:spLocks noGrp="1"/>
          </p:cNvSpPr>
          <p:nvPr>
            <p:ph type="body" idx="106" hasCustomPrompt="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Service reliability</a:t>
            </a:r>
            <a:endParaRPr lang="en-US" sz="1100" dirty="0"/>
          </a:p>
        </p:txBody>
      </p:sp>
      <p:sp>
        <p:nvSpPr>
          <p:cNvPr id="3" name="Text 5"/>
          <p:cNvSpPr>
            <a:spLocks noGrp="1"/>
          </p:cNvSpPr>
          <p:nvPr>
            <p:ph type="title" idx="107" hasCustomPrompt="1"/>
          </p:nvPr>
        </p:nvSpPr>
        <p:spPr>
          <a:xfrm>
            <a:off x="731520" y="969264"/>
            <a:ext cx="10728655" cy="566928"/>
          </a:xfrm>
          <a:prstGeom prst="rect">
            <a:avLst/>
          </a:prstGeom>
          <a:noFill/>
          <a:ln/>
        </p:spPr>
        <p:txBody>
          <a:bodyPr wrap="square" lIns="0" tIns="0" rIns="0" bIns="0" rtlCol="0" anchor="t"/>
          <a:lstStyle/>
          <a:p>
            <a:pPr marL="0" indent="0" algn="l">
              <a:buNone/>
            </a:pPr>
            <a:r>
              <a:rPr lang="en-US" sz="2800" kern="0" spc="-70" dirty="0">
                <a:solidFill>
                  <a:srgbClr val="16181D"/>
                </a:solidFill>
                <a:latin typeface="Inter Medium" pitchFamily="34" charset="0"/>
                <a:ea typeface="Inter Medium" pitchFamily="34" charset="-122"/>
                <a:cs typeface="Inter Medium" pitchFamily="34" charset="-120"/>
              </a:rPr>
              <a:t>Find the cause before buying capacity</a:t>
            </a:r>
            <a:endParaRPr lang="en-US" sz="2800" dirty="0"/>
          </a:p>
        </p:txBody>
      </p:sp>
      <p:sp>
        <p:nvSpPr>
          <p:cNvPr id="4" name="Text 5"/>
          <p:cNvSpPr>
            <a:spLocks noGrp="1"/>
          </p:cNvSpPr>
          <p:nvPr>
            <p:ph type="body" idx="108" hasCustomPrompt="1"/>
          </p:nvPr>
        </p:nvSpPr>
        <p:spPr>
          <a:xfrm>
            <a:off x="731520" y="1517904"/>
            <a:ext cx="10728655" cy="457200"/>
          </a:xfrm>
          <a:prstGeom prst="rect">
            <a:avLst/>
          </a:prstGeom>
          <a:noFill/>
          <a:ln/>
        </p:spPr>
        <p:txBody>
          <a:bodyPr wrap="square" lIns="0" tIns="0" rIns="0" bIns="0" rtlCol="0" anchor="t"/>
          <a:lstStyle/>
          <a:p>
            <a:pPr marL="0" indent="0">
              <a:buNone/>
            </a:pPr>
            <a:r>
              <a:rPr lang="en-US" sz="1300" dirty="0">
                <a:solidFill>
                  <a:srgbClr val="5A5E63"/>
                </a:solidFill>
                <a:latin typeface="Inter" pitchFamily="34" charset="0"/>
                <a:ea typeface="Inter" pitchFamily="34" charset="-122"/>
                <a:cs typeface="Inter" pitchFamily="34" charset="-120"/>
              </a:rPr>
              <a:t>Availability averaged 99.85% and met 99.9% on 4 of 31 days, so the gap is not only the two incident days. Daily metrics can’t show why; deployment telemetry can.</a:t>
            </a:r>
            <a:endParaRPr lang="en-US" sz="1300" dirty="0"/>
          </a:p>
        </p:txBody>
      </p:sp>
      <p:sp>
        <p:nvSpPr>
          <p:cNvPr id="5" name="chart-availability"/>
          <p:cNvSpPr/>
          <p:nvPr/>
        </p:nvSpPr>
        <p:spPr>
          <a:xfrm>
            <a:off x="731520" y="2103120"/>
            <a:ext cx="5486400" cy="3886200"/>
          </a:xfrm>
          <a:prstGeom prst="roundRect">
            <a:avLst>
              <a:gd name="adj" fmla="val 2824"/>
            </a:avLst>
          </a:prstGeom>
          <a:solidFill>
            <a:srgbClr val="FFFFFF"/>
          </a:solidFill>
          <a:ln w="9525">
            <a:solidFill>
              <a:srgbClr val="E6EAF4"/>
            </a:solidFill>
            <a:prstDash val="solid"/>
          </a:ln>
        </p:spPr>
      </p:sp>
      <p:sp>
        <p:nvSpPr>
          <p:cNvPr id="6" name="Text 4"/>
          <p:cNvSpPr txBox="1"/>
          <p:nvPr/>
        </p:nvSpPr>
        <p:spPr>
          <a:xfrm>
            <a:off x="960120" y="2304288"/>
            <a:ext cx="5029200" cy="274320"/>
          </a:xfrm>
          <a:prstGeom prst="rect">
            <a:avLst/>
          </a:prstGeom>
          <a:noFill/>
          <a:ln/>
        </p:spPr>
        <p:txBody>
          <a:bodyPr wrap="square" lIns="0" tIns="0" rIns="0" bIns="0" rtlCol="0" anchor="t"/>
          <a:lstStyle/>
          <a:p>
            <a:pPr marL="0" indent="0">
              <a:buNone/>
            </a:pPr>
            <a:r>
              <a:rPr lang="en-US" sz="1400" dirty="0">
                <a:solidFill>
                  <a:srgbClr val="16181D"/>
                </a:solidFill>
                <a:latin typeface="Inter Medium" pitchFamily="34" charset="0"/>
                <a:ea typeface="Inter Medium" pitchFamily="34" charset="-122"/>
                <a:cs typeface="Inter Medium" pitchFamily="34" charset="-120"/>
              </a:rPr>
              <a:t>Availability</a:t>
            </a:r>
            <a:endParaRPr lang="en-US" sz="1400" dirty="0"/>
          </a:p>
        </p:txBody>
      </p:sp>
      <p:sp>
        <p:nvSpPr>
          <p:cNvPr id="7" name="Text 5"/>
          <p:cNvSpPr txBox="1"/>
          <p:nvPr/>
        </p:nvSpPr>
        <p:spPr>
          <a:xfrm>
            <a:off x="960120" y="2596896"/>
            <a:ext cx="5029200" cy="457200"/>
          </a:xfrm>
          <a:prstGeom prst="rect">
            <a:avLst/>
          </a:prstGeom>
          <a:noFill/>
          <a:ln/>
        </p:spPr>
        <p:txBody>
          <a:bodyPr wrap="square" lIns="0" tIns="0" rIns="0" bIns="0" rtlCol="0" anchor="t"/>
          <a:lstStyle/>
          <a:p>
            <a:pPr marL="0" indent="0">
              <a:buNone/>
            </a:pPr>
            <a:r>
              <a:rPr lang="en-US" sz="1050" dirty="0">
                <a:solidFill>
                  <a:srgbClr val="5A5E63"/>
                </a:solidFill>
                <a:latin typeface="Inter" pitchFamily="34" charset="0"/>
                <a:ea typeface="Inter" pitchFamily="34" charset="-122"/>
                <a:cs typeface="Inter" pitchFamily="34" charset="-120"/>
              </a:rPr>
              <a:t>Averaged 99.85%; 99.9% met on 4 of 31 days, all in the final week. 99.9% is a proposed target; no SLA was in place for August.</a:t>
            </a:r>
            <a:endParaRPr lang="en-US" sz="1050" dirty="0"/>
          </a:p>
        </p:txBody>
      </p:sp>
      <p:graphicFrame>
        <p:nvGraphicFramePr>
          <p:cNvPr id="8" name="Chart 0"/>
          <p:cNvGraphicFramePr/>
          <p:nvPr/>
        </p:nvGraphicFramePr>
        <p:xfrm>
          <a:off x="841248" y="3090672"/>
          <a:ext cx="5212080" cy="2441448"/>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txBox="1"/>
          <p:nvPr/>
        </p:nvSpPr>
        <p:spPr>
          <a:xfrm>
            <a:off x="1339139" y="3475452"/>
            <a:ext cx="2194560" cy="182880"/>
          </a:xfrm>
          <a:prstGeom prst="rect">
            <a:avLst/>
          </a:prstGeom>
          <a:noFill/>
          <a:ln/>
        </p:spPr>
        <p:txBody>
          <a:bodyPr wrap="square" lIns="0" tIns="0" rIns="0" bIns="0" rtlCol="0" anchor="t"/>
          <a:lstStyle/>
          <a:p>
            <a:pPr marL="0" indent="0">
              <a:buNone/>
            </a:pPr>
            <a:r>
              <a:rPr lang="en-US" sz="850" dirty="0">
                <a:solidFill>
                  <a:srgbClr val="5A5E63"/>
                </a:solidFill>
                <a:latin typeface="Inter" pitchFamily="34" charset="0"/>
                <a:ea typeface="Inter" pitchFamily="34" charset="-122"/>
                <a:cs typeface="Inter" pitchFamily="34" charset="-120"/>
              </a:rPr>
              <a:t>99.9% proposed target</a:t>
            </a:r>
            <a:endParaRPr lang="en-US" sz="850" dirty="0"/>
          </a:p>
        </p:txBody>
      </p:sp>
      <p:sp>
        <p:nvSpPr>
          <p:cNvPr id="10" name="Shape 7"/>
          <p:cNvSpPr/>
          <p:nvPr/>
        </p:nvSpPr>
        <p:spPr>
          <a:xfrm>
            <a:off x="2563336" y="3188330"/>
            <a:ext cx="0" cy="1953158"/>
          </a:xfrm>
          <a:prstGeom prst="line">
            <a:avLst/>
          </a:prstGeom>
          <a:noFill/>
          <a:ln w="12700">
            <a:solidFill>
              <a:srgbClr val="F14539"/>
            </a:solidFill>
            <a:prstDash val="dash"/>
          </a:ln>
        </p:spPr>
      </p:sp>
      <p:sp>
        <p:nvSpPr>
          <p:cNvPr id="11" name="Shape 8"/>
          <p:cNvSpPr/>
          <p:nvPr/>
        </p:nvSpPr>
        <p:spPr>
          <a:xfrm>
            <a:off x="4369070" y="3188330"/>
            <a:ext cx="0" cy="1953158"/>
          </a:xfrm>
          <a:prstGeom prst="line">
            <a:avLst/>
          </a:prstGeom>
          <a:noFill/>
          <a:ln w="12700">
            <a:solidFill>
              <a:srgbClr val="F14539"/>
            </a:solidFill>
            <a:prstDash val="dash"/>
          </a:ln>
        </p:spPr>
      </p:sp>
      <p:sp>
        <p:nvSpPr>
          <p:cNvPr id="12" name="Shape 9"/>
          <p:cNvSpPr/>
          <p:nvPr/>
        </p:nvSpPr>
        <p:spPr>
          <a:xfrm>
            <a:off x="4820503" y="3188330"/>
            <a:ext cx="0" cy="1953158"/>
          </a:xfrm>
          <a:prstGeom prst="line">
            <a:avLst/>
          </a:prstGeom>
          <a:noFill/>
          <a:ln w="12700">
            <a:solidFill>
              <a:srgbClr val="9D72FE"/>
            </a:solidFill>
            <a:prstDash val="dash"/>
          </a:ln>
        </p:spPr>
      </p:sp>
      <p:sp>
        <p:nvSpPr>
          <p:cNvPr id="13" name="Shape 10"/>
          <p:cNvSpPr/>
          <p:nvPr/>
        </p:nvSpPr>
        <p:spPr>
          <a:xfrm>
            <a:off x="960120" y="5751576"/>
            <a:ext cx="182880" cy="0"/>
          </a:xfrm>
          <a:prstGeom prst="line">
            <a:avLst/>
          </a:prstGeom>
          <a:noFill/>
          <a:ln w="25400">
            <a:solidFill>
              <a:srgbClr val="6720FF"/>
            </a:solidFill>
            <a:prstDash val="solid"/>
          </a:ln>
        </p:spPr>
      </p:sp>
      <p:sp>
        <p:nvSpPr>
          <p:cNvPr id="14" name="Text 11"/>
          <p:cNvSpPr txBox="1"/>
          <p:nvPr/>
        </p:nvSpPr>
        <p:spPr>
          <a:xfrm>
            <a:off x="1207008" y="5660136"/>
            <a:ext cx="837590" cy="18288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Availability</a:t>
            </a:r>
            <a:endParaRPr lang="en-US" sz="950" dirty="0"/>
          </a:p>
        </p:txBody>
      </p:sp>
      <p:sp>
        <p:nvSpPr>
          <p:cNvPr id="15" name="Shape 12"/>
          <p:cNvSpPr/>
          <p:nvPr/>
        </p:nvSpPr>
        <p:spPr>
          <a:xfrm>
            <a:off x="2209190" y="5751576"/>
            <a:ext cx="182880" cy="0"/>
          </a:xfrm>
          <a:prstGeom prst="line">
            <a:avLst/>
          </a:prstGeom>
          <a:noFill/>
          <a:ln w="25400">
            <a:solidFill>
              <a:srgbClr val="F14539"/>
            </a:solidFill>
            <a:prstDash val="dash"/>
          </a:ln>
        </p:spPr>
      </p:sp>
      <p:sp>
        <p:nvSpPr>
          <p:cNvPr id="16" name="Text 13"/>
          <p:cNvSpPr txBox="1"/>
          <p:nvPr/>
        </p:nvSpPr>
        <p:spPr>
          <a:xfrm>
            <a:off x="2456078" y="5660136"/>
            <a:ext cx="588874" cy="18288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Incident</a:t>
            </a:r>
            <a:endParaRPr lang="en-US" sz="950" dirty="0"/>
          </a:p>
        </p:txBody>
      </p:sp>
      <p:sp>
        <p:nvSpPr>
          <p:cNvPr id="17" name="Shape 14"/>
          <p:cNvSpPr/>
          <p:nvPr/>
        </p:nvSpPr>
        <p:spPr>
          <a:xfrm>
            <a:off x="3209544" y="5751576"/>
            <a:ext cx="182880" cy="0"/>
          </a:xfrm>
          <a:prstGeom prst="line">
            <a:avLst/>
          </a:prstGeom>
          <a:noFill/>
          <a:ln w="25400">
            <a:solidFill>
              <a:srgbClr val="9D72FE"/>
            </a:solidFill>
            <a:prstDash val="dash"/>
          </a:ln>
        </p:spPr>
      </p:sp>
      <p:sp>
        <p:nvSpPr>
          <p:cNvPr id="18" name="Text 15"/>
          <p:cNvSpPr txBox="1"/>
          <p:nvPr/>
        </p:nvSpPr>
        <p:spPr>
          <a:xfrm>
            <a:off x="3456432" y="5660136"/>
            <a:ext cx="464515" cy="18288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Change</a:t>
            </a:r>
            <a:endParaRPr lang="en-US" sz="950" dirty="0"/>
          </a:p>
        </p:txBody>
      </p:sp>
      <p:sp>
        <p:nvSpPr>
          <p:cNvPr id="19" name="option-1"/>
          <p:cNvSpPr/>
          <p:nvPr/>
        </p:nvSpPr>
        <p:spPr>
          <a:xfrm>
            <a:off x="6492240" y="2103120"/>
            <a:ext cx="4967935" cy="1210056"/>
          </a:xfrm>
          <a:prstGeom prst="roundRect">
            <a:avLst>
              <a:gd name="adj" fmla="val 9068"/>
            </a:avLst>
          </a:prstGeom>
          <a:solidFill>
            <a:srgbClr val="FFFFFF"/>
          </a:solidFill>
          <a:ln w="9525">
            <a:solidFill>
              <a:srgbClr val="E6EAF4"/>
            </a:solidFill>
            <a:prstDash val="solid"/>
          </a:ln>
        </p:spPr>
      </p:sp>
      <p:sp>
        <p:nvSpPr>
          <p:cNvPr id="20" name="Shape 17"/>
          <p:cNvSpPr/>
          <p:nvPr/>
        </p:nvSpPr>
        <p:spPr>
          <a:xfrm>
            <a:off x="6693408" y="2249424"/>
            <a:ext cx="1217524" cy="237744"/>
          </a:xfrm>
          <a:prstGeom prst="rect">
            <a:avLst/>
          </a:prstGeom>
          <a:solidFill>
            <a:srgbClr val="1DA28F"/>
          </a:solidFill>
          <a:ln/>
        </p:spPr>
      </p:sp>
      <p:sp>
        <p:nvSpPr>
          <p:cNvPr id="21" name="Text 18"/>
          <p:cNvSpPr txBox="1"/>
          <p:nvPr/>
        </p:nvSpPr>
        <p:spPr>
          <a:xfrm>
            <a:off x="6693408" y="2249424"/>
            <a:ext cx="1217524" cy="237744"/>
          </a:xfrm>
          <a:prstGeom prst="rect">
            <a:avLst/>
          </a:prstGeom>
          <a:noFill/>
          <a:ln/>
        </p:spPr>
        <p:txBody>
          <a:bodyPr wrap="square" lIns="0" tIns="0" rIns="0" bIns="0" rtlCol="0" anchor="ctr"/>
          <a:lstStyle/>
          <a:p>
            <a:pPr marL="0" indent="0" algn="ctr">
              <a:buNone/>
            </a:pPr>
            <a:r>
              <a:rPr lang="en-US" sz="950" dirty="0">
                <a:solidFill>
                  <a:srgbClr val="FFFFFF"/>
                </a:solidFill>
                <a:latin typeface="Inter Medium" pitchFamily="34" charset="0"/>
                <a:ea typeface="Inter Medium" pitchFamily="34" charset="-122"/>
                <a:cs typeface="Inter Medium" pitchFamily="34" charset="-120"/>
              </a:rPr>
              <a:t>Recommended now</a:t>
            </a:r>
            <a:endParaRPr lang="en-US" sz="950" dirty="0"/>
          </a:p>
        </p:txBody>
      </p:sp>
      <p:sp>
        <p:nvSpPr>
          <p:cNvPr id="22" name="Text 19"/>
          <p:cNvSpPr txBox="1"/>
          <p:nvPr/>
        </p:nvSpPr>
        <p:spPr>
          <a:xfrm>
            <a:off x="6693408" y="2523744"/>
            <a:ext cx="4565599" cy="237744"/>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Diagnose and tune</a:t>
            </a:r>
            <a:endParaRPr lang="en-US" sz="1300" dirty="0"/>
          </a:p>
        </p:txBody>
      </p:sp>
      <p:sp>
        <p:nvSpPr>
          <p:cNvPr id="23" name="Text 20"/>
          <p:cNvSpPr txBox="1"/>
          <p:nvPr/>
        </p:nvSpPr>
        <p:spPr>
          <a:xfrm>
            <a:off x="6693408" y="2788920"/>
            <a:ext cx="4565599" cy="45720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Review deployment telemetry together (scale-up events, error codes by hour), retune scale-up thresholds and pre-warm before promotions.</a:t>
            </a:r>
            <a:endParaRPr lang="en-US" sz="950" dirty="0"/>
          </a:p>
          <a:p>
            <a:pPr marL="0" indent="0">
              <a:buNone/>
            </a:pPr>
            <a:r>
              <a:rPr lang="en-US" sz="950" dirty="0">
                <a:solidFill>
                  <a:srgbClr val="5A5E63"/>
                </a:solidFill>
                <a:latin typeface="Inter" pitchFamily="34" charset="0"/>
                <a:ea typeface="Inter" pitchFamily="34" charset="-122"/>
                <a:cs typeface="Inter" pitchFamily="34" charset="-120"/>
              </a:rPr>
              <a:t>Bill stays approx. $1.4k/month at current traffic</a:t>
            </a:r>
            <a:endParaRPr lang="en-US" sz="950" dirty="0"/>
          </a:p>
        </p:txBody>
      </p:sp>
      <p:sp>
        <p:nvSpPr>
          <p:cNvPr id="24" name="option-2"/>
          <p:cNvSpPr/>
          <p:nvPr/>
        </p:nvSpPr>
        <p:spPr>
          <a:xfrm>
            <a:off x="6492240" y="3441192"/>
            <a:ext cx="4967935" cy="1210056"/>
          </a:xfrm>
          <a:prstGeom prst="roundRect">
            <a:avLst>
              <a:gd name="adj" fmla="val 9068"/>
            </a:avLst>
          </a:prstGeom>
          <a:solidFill>
            <a:srgbClr val="FFFFFF"/>
          </a:solidFill>
          <a:ln w="9525">
            <a:solidFill>
              <a:srgbClr val="E6EAF4"/>
            </a:solidFill>
            <a:prstDash val="solid"/>
          </a:ln>
        </p:spPr>
      </p:sp>
      <p:sp>
        <p:nvSpPr>
          <p:cNvPr id="25" name="Shape 22"/>
          <p:cNvSpPr/>
          <p:nvPr/>
        </p:nvSpPr>
        <p:spPr>
          <a:xfrm>
            <a:off x="6693408" y="3587496"/>
            <a:ext cx="1895094" cy="237744"/>
          </a:xfrm>
          <a:prstGeom prst="rect">
            <a:avLst/>
          </a:prstGeom>
          <a:solidFill>
            <a:srgbClr val="FDECD1"/>
          </a:solidFill>
          <a:ln/>
        </p:spPr>
      </p:sp>
      <p:sp>
        <p:nvSpPr>
          <p:cNvPr id="26" name="Text 23"/>
          <p:cNvSpPr txBox="1"/>
          <p:nvPr/>
        </p:nvSpPr>
        <p:spPr>
          <a:xfrm>
            <a:off x="6693408" y="3587496"/>
            <a:ext cx="1895094" cy="237744"/>
          </a:xfrm>
          <a:prstGeom prst="rect">
            <a:avLst/>
          </a:prstGeom>
          <a:noFill/>
          <a:ln/>
        </p:spPr>
        <p:txBody>
          <a:bodyPr wrap="square" lIns="0" tIns="0" rIns="0" bIns="0" rtlCol="0" anchor="ctr"/>
          <a:lstStyle/>
          <a:p>
            <a:pPr marL="0" indent="0" algn="ctr">
              <a:buNone/>
            </a:pPr>
            <a:r>
              <a:rPr lang="en-US" sz="950" dirty="0">
                <a:solidFill>
                  <a:srgbClr val="975800"/>
                </a:solidFill>
                <a:latin typeface="Inter Medium" pitchFamily="34" charset="0"/>
                <a:ea typeface="Inter Medium" pitchFamily="34" charset="-122"/>
                <a:cs typeface="Inter Medium" pitchFamily="34" charset="-120"/>
              </a:rPr>
              <a:t>Only if the data shows it</a:t>
            </a:r>
            <a:endParaRPr lang="en-US" sz="950" dirty="0"/>
          </a:p>
        </p:txBody>
      </p:sp>
      <p:sp>
        <p:nvSpPr>
          <p:cNvPr id="27" name="Text 24"/>
          <p:cNvSpPr txBox="1"/>
          <p:nvPr/>
        </p:nvSpPr>
        <p:spPr>
          <a:xfrm>
            <a:off x="6693408" y="3861816"/>
            <a:ext cx="4565599" cy="237744"/>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Always-on capacity for Atlas alone</a:t>
            </a:r>
            <a:endParaRPr lang="en-US" sz="1300" dirty="0"/>
          </a:p>
        </p:txBody>
      </p:sp>
      <p:sp>
        <p:nvSpPr>
          <p:cNvPr id="28" name="Text 25"/>
          <p:cNvSpPr txBox="1"/>
          <p:nvPr/>
        </p:nvSpPr>
        <p:spPr>
          <a:xfrm>
            <a:off x="6693408" y="4126992"/>
            <a:ext cx="4565599" cy="45720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Approx. $5,800/month, or $8,800 with EU-only placement.</a:t>
            </a:r>
            <a:endParaRPr lang="en-US" sz="950" dirty="0"/>
          </a:p>
          <a:p>
            <a:pPr marL="0" indent="0">
              <a:buNone/>
            </a:pPr>
            <a:r>
              <a:rPr lang="en-US" sz="950" dirty="0">
                <a:solidFill>
                  <a:srgbClr val="5A5E63"/>
                </a:solidFill>
                <a:latin typeface="Inter" pitchFamily="34" charset="0"/>
                <a:ea typeface="Inter" pitchFamily="34" charset="-122"/>
                <a:cs typeface="Inter" pitchFamily="34" charset="-120"/>
              </a:rPr>
              <a:t>Justified only if scale-up is driving the misses</a:t>
            </a:r>
            <a:endParaRPr lang="en-US" sz="950" dirty="0"/>
          </a:p>
        </p:txBody>
      </p:sp>
      <p:sp>
        <p:nvSpPr>
          <p:cNvPr id="29" name="option-3"/>
          <p:cNvSpPr/>
          <p:nvPr/>
        </p:nvSpPr>
        <p:spPr>
          <a:xfrm>
            <a:off x="6492240" y="4779264"/>
            <a:ext cx="4967935" cy="1210056"/>
          </a:xfrm>
          <a:prstGeom prst="roundRect">
            <a:avLst>
              <a:gd name="adj" fmla="val 9068"/>
            </a:avLst>
          </a:prstGeom>
          <a:solidFill>
            <a:srgbClr val="FAF7FF"/>
          </a:solidFill>
          <a:ln w="9525">
            <a:solidFill>
              <a:srgbClr val="9D72FE"/>
            </a:solidFill>
            <a:prstDash val="solid"/>
          </a:ln>
        </p:spPr>
      </p:sp>
      <p:sp>
        <p:nvSpPr>
          <p:cNvPr id="30" name="Shape 27"/>
          <p:cNvSpPr/>
          <p:nvPr/>
        </p:nvSpPr>
        <p:spPr>
          <a:xfrm>
            <a:off x="6693408" y="4925568"/>
            <a:ext cx="1149767" cy="237744"/>
          </a:xfrm>
          <a:prstGeom prst="rect">
            <a:avLst/>
          </a:prstGeom>
          <a:solidFill>
            <a:srgbClr val="6720FF"/>
          </a:solidFill>
          <a:ln/>
        </p:spPr>
      </p:sp>
      <p:sp>
        <p:nvSpPr>
          <p:cNvPr id="31" name="Text 28"/>
          <p:cNvSpPr txBox="1"/>
          <p:nvPr/>
        </p:nvSpPr>
        <p:spPr>
          <a:xfrm>
            <a:off x="6693408" y="4925568"/>
            <a:ext cx="1149767" cy="237744"/>
          </a:xfrm>
          <a:prstGeom prst="rect">
            <a:avLst/>
          </a:prstGeom>
          <a:noFill/>
          <a:ln/>
        </p:spPr>
        <p:txBody>
          <a:bodyPr wrap="square" lIns="0" tIns="0" rIns="0" bIns="0" rtlCol="0" anchor="ctr"/>
          <a:lstStyle/>
          <a:p>
            <a:pPr marL="0" indent="0" algn="ctr">
              <a:buNone/>
            </a:pPr>
            <a:r>
              <a:rPr lang="en-US" sz="950" dirty="0">
                <a:solidFill>
                  <a:srgbClr val="FFFFFF"/>
                </a:solidFill>
                <a:latin typeface="Inter Medium" pitchFamily="34" charset="0"/>
                <a:ea typeface="Inter Medium" pitchFamily="34" charset="-122"/>
                <a:cs typeface="Inter Medium" pitchFamily="34" charset="-120"/>
              </a:rPr>
              <a:t>With expansion</a:t>
            </a:r>
            <a:endParaRPr lang="en-US" sz="950" dirty="0"/>
          </a:p>
        </p:txBody>
      </p:sp>
      <p:sp>
        <p:nvSpPr>
          <p:cNvPr id="32" name="Text 29"/>
          <p:cNvSpPr txBox="1"/>
          <p:nvPr/>
        </p:nvSpPr>
        <p:spPr>
          <a:xfrm>
            <a:off x="6693408" y="5199888"/>
            <a:ext cx="4565599" cy="237744"/>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Shared five-brand deployment</a:t>
            </a:r>
            <a:endParaRPr lang="en-US" sz="1300" dirty="0"/>
          </a:p>
        </p:txBody>
      </p:sp>
      <p:sp>
        <p:nvSpPr>
          <p:cNvPr id="33" name="Text 30"/>
          <p:cNvSpPr txBox="1"/>
          <p:nvPr/>
        </p:nvSpPr>
        <p:spPr>
          <a:xfrm>
            <a:off x="6693408" y="5465064"/>
            <a:ext cx="4565599" cy="45720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Always-on capacity shared by 5 brands, billed as dedicated capacity: approx. $1,200–$1,800 per brand per month.</a:t>
            </a:r>
            <a:endParaRPr lang="en-US" sz="950" dirty="0"/>
          </a:p>
          <a:p>
            <a:pPr marL="0" indent="0">
              <a:buNone/>
            </a:pPr>
            <a:r>
              <a:rPr lang="en-US" sz="950" dirty="0">
                <a:solidFill>
                  <a:srgbClr val="5A5E63"/>
                </a:solidFill>
                <a:latin typeface="Inter" pitchFamily="34" charset="0"/>
                <a:ea typeface="Inter" pitchFamily="34" charset="-122"/>
                <a:cs typeface="Inter" pitchFamily="34" charset="-120"/>
              </a:rPr>
              <a:t>Baseline capacity is affordable once shared</a:t>
            </a:r>
            <a:endParaRPr lang="en-US" sz="950" dirty="0"/>
          </a:p>
        </p:txBody>
      </p:sp>
      <p:sp>
        <p:nvSpPr>
          <p:cNvPr id="34" name="Text 31"/>
          <p:cNvSpPr txBox="1"/>
          <p:nvPr/>
        </p:nvSpPr>
        <p:spPr>
          <a:xfrm>
            <a:off x="731520" y="6153912"/>
            <a:ext cx="10728655" cy="2286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Capacity figures at Fireworks list rates as of 5 Oct 2026; contracted terms may differ.</a:t>
            </a:r>
            <a:endParaRPr lang="en-US" sz="950" dirty="0"/>
          </a:p>
        </p:txBody>
      </p:sp>
      <p:sp>
        <p:nvSpPr>
          <p:cNvPr id="35"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ma14="http://schemas.microsoft.com/office/mac/drawingml/2011/main" xmlns=""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5"/>
          <p:cNvSpPr>
            <a:spLocks noGrp="1"/>
          </p:cNvSpPr>
          <p:nvPr>
            <p:ph type="body" idx="106" hasCustomPrompt="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Next steps</a:t>
            </a:r>
            <a:endParaRPr lang="en-US" sz="1100" dirty="0"/>
          </a:p>
        </p:txBody>
      </p:sp>
      <p:sp>
        <p:nvSpPr>
          <p:cNvPr id="3" name="Text 5"/>
          <p:cNvSpPr>
            <a:spLocks noGrp="1"/>
          </p:cNvSpPr>
          <p:nvPr>
            <p:ph type="title" idx="107" hasCustomPrompt="1"/>
          </p:nvPr>
        </p:nvSpPr>
        <p:spPr>
          <a:xfrm>
            <a:off x="731520" y="969264"/>
            <a:ext cx="10728655" cy="566928"/>
          </a:xfrm>
          <a:prstGeom prst="rect">
            <a:avLst/>
          </a:prstGeom>
          <a:noFill/>
          <a:ln/>
        </p:spPr>
        <p:txBody>
          <a:bodyPr wrap="square" lIns="0" tIns="0" rIns="0" bIns="0" rtlCol="0" anchor="t"/>
          <a:lstStyle/>
          <a:p>
            <a:pPr marL="0" indent="0" algn="l">
              <a:buNone/>
            </a:pPr>
            <a:r>
              <a:rPr lang="en-US" sz="2800" kern="0" spc="-70" dirty="0">
                <a:solidFill>
                  <a:srgbClr val="16181D"/>
                </a:solidFill>
                <a:latin typeface="Inter Medium" pitchFamily="34" charset="0"/>
                <a:ea typeface="Inter Medium" pitchFamily="34" charset="-122"/>
                <a:cs typeface="Inter Medium" pitchFamily="34" charset="-120"/>
              </a:rPr>
              <a:t>One base model, one adapter per brand, data kept apart</a:t>
            </a:r>
            <a:endParaRPr lang="en-US" sz="2800" dirty="0"/>
          </a:p>
        </p:txBody>
      </p:sp>
      <p:sp>
        <p:nvSpPr>
          <p:cNvPr id="4" name="Text 5"/>
          <p:cNvSpPr>
            <a:spLocks noGrp="1"/>
          </p:cNvSpPr>
          <p:nvPr>
            <p:ph type="body" idx="108" hasCustomPrompt="1"/>
          </p:nvPr>
        </p:nvSpPr>
        <p:spPr>
          <a:xfrm>
            <a:off x="731520" y="1517904"/>
            <a:ext cx="10728655" cy="457200"/>
          </a:xfrm>
          <a:prstGeom prst="rect">
            <a:avLst/>
          </a:prstGeom>
          <a:noFill/>
          <a:ln/>
        </p:spPr>
        <p:txBody>
          <a:bodyPr wrap="square" lIns="0" tIns="0" rIns="0" bIns="0" rtlCol="0" anchor="t"/>
          <a:lstStyle/>
          <a:p>
            <a:pPr marL="0" indent="0">
              <a:buNone/>
            </a:pPr>
            <a:r>
              <a:rPr lang="en-US" sz="1300" dirty="0">
                <a:solidFill>
                  <a:srgbClr val="5A5E63"/>
                </a:solidFill>
                <a:latin typeface="Inter" pitchFamily="34" charset="0"/>
                <a:ea typeface="Inter" pitchFamily="34" charset="-122"/>
                <a:cs typeface="Inter" pitchFamily="34" charset="-120"/>
              </a:rPr>
              <a:t>Each brand keeps its own voice, knowledge and data on a single shared deployment.</a:t>
            </a:r>
            <a:endParaRPr lang="en-US" sz="1300" dirty="0"/>
          </a:p>
        </p:txBody>
      </p:sp>
      <p:sp>
        <p:nvSpPr>
          <p:cNvPr id="5" name="shared-deployment"/>
          <p:cNvSpPr/>
          <p:nvPr/>
        </p:nvSpPr>
        <p:spPr>
          <a:xfrm>
            <a:off x="731520" y="2103120"/>
            <a:ext cx="8001000" cy="4023360"/>
          </a:xfrm>
          <a:prstGeom prst="roundRect">
            <a:avLst>
              <a:gd name="adj" fmla="val 2727"/>
            </a:avLst>
          </a:prstGeom>
          <a:solidFill>
            <a:srgbClr val="FAF7FF"/>
          </a:solidFill>
          <a:ln w="9525">
            <a:solidFill>
              <a:srgbClr val="E6EAF4"/>
            </a:solidFill>
            <a:prstDash val="solid"/>
          </a:ln>
        </p:spPr>
      </p:sp>
      <p:sp>
        <p:nvSpPr>
          <p:cNvPr id="6" name="Text 4"/>
          <p:cNvSpPr txBox="1"/>
          <p:nvPr/>
        </p:nvSpPr>
        <p:spPr>
          <a:xfrm>
            <a:off x="987552" y="2322576"/>
            <a:ext cx="3657600" cy="201168"/>
          </a:xfrm>
          <a:prstGeom prst="rect">
            <a:avLst/>
          </a:prstGeom>
          <a:noFill/>
          <a:ln/>
        </p:spPr>
        <p:txBody>
          <a:bodyPr wrap="square" lIns="0" tIns="0" rIns="0" bIns="0" rtlCol="0" anchor="t"/>
          <a:lstStyle/>
          <a:p>
            <a:pPr marL="0" indent="0">
              <a:buNone/>
            </a:pPr>
            <a:r>
              <a:rPr lang="en-US" sz="1100" dirty="0">
                <a:solidFill>
                  <a:srgbClr val="501BC4"/>
                </a:solidFill>
                <a:latin typeface="Inter Medium" pitchFamily="34" charset="0"/>
                <a:ea typeface="Inter Medium" pitchFamily="34" charset="-122"/>
                <a:cs typeface="Inter Medium" pitchFamily="34" charset="-120"/>
              </a:rPr>
              <a:t>Shared deployment</a:t>
            </a:r>
            <a:endParaRPr lang="en-US" sz="1100" dirty="0"/>
          </a:p>
        </p:txBody>
      </p:sp>
      <p:sp>
        <p:nvSpPr>
          <p:cNvPr id="7" name="Shape 5"/>
          <p:cNvSpPr/>
          <p:nvPr/>
        </p:nvSpPr>
        <p:spPr>
          <a:xfrm>
            <a:off x="987552" y="2633472"/>
            <a:ext cx="7488936" cy="512064"/>
          </a:xfrm>
          <a:prstGeom prst="rect">
            <a:avLst/>
          </a:prstGeom>
          <a:solidFill>
            <a:srgbClr val="6720FF"/>
          </a:solidFill>
          <a:ln/>
        </p:spPr>
      </p:sp>
      <p:sp>
        <p:nvSpPr>
          <p:cNvPr id="8" name="Text 6"/>
          <p:cNvSpPr txBox="1"/>
          <p:nvPr/>
        </p:nvSpPr>
        <p:spPr>
          <a:xfrm>
            <a:off x="987552" y="2633472"/>
            <a:ext cx="7488936" cy="512064"/>
          </a:xfrm>
          <a:prstGeom prst="rect">
            <a:avLst/>
          </a:prstGeom>
          <a:noFill/>
          <a:ln/>
        </p:spPr>
        <p:txBody>
          <a:bodyPr wrap="square" lIns="0" tIns="0" rIns="0" bIns="0" rtlCol="0" anchor="ctr"/>
          <a:lstStyle/>
          <a:p>
            <a:pPr marL="0" indent="0" algn="ctr">
              <a:buNone/>
            </a:pPr>
            <a:r>
              <a:rPr lang="en-US" sz="1400" dirty="0">
                <a:solidFill>
                  <a:srgbClr val="FFFFFF"/>
                </a:solidFill>
                <a:latin typeface="Inter Medium" pitchFamily="34" charset="0"/>
                <a:ea typeface="Inter Medium" pitchFamily="34" charset="-122"/>
                <a:cs typeface="Inter Medium" pitchFamily="34" charset="-120"/>
              </a:rPr>
              <a:t>Open-weight base model</a:t>
            </a:r>
            <a:endParaRPr lang="en-US" sz="1400" dirty="0"/>
          </a:p>
        </p:txBody>
      </p:sp>
      <p:sp>
        <p:nvSpPr>
          <p:cNvPr id="9" name="Shape 7"/>
          <p:cNvSpPr/>
          <p:nvPr/>
        </p:nvSpPr>
        <p:spPr>
          <a:xfrm>
            <a:off x="987552" y="3310128"/>
            <a:ext cx="1395374" cy="2560320"/>
          </a:xfrm>
          <a:prstGeom prst="roundRect">
            <a:avLst>
              <a:gd name="adj" fmla="val 5242"/>
            </a:avLst>
          </a:prstGeom>
          <a:solidFill>
            <a:srgbClr val="FFFFFF"/>
          </a:solidFill>
          <a:ln w="9525">
            <a:solidFill>
              <a:srgbClr val="E6EAF4"/>
            </a:solidFill>
            <a:prstDash val="solid"/>
          </a:ln>
        </p:spPr>
      </p:sp>
      <p:sp>
        <p:nvSpPr>
          <p:cNvPr id="10" name="Text 8"/>
          <p:cNvSpPr txBox="1"/>
          <p:nvPr/>
        </p:nvSpPr>
        <p:spPr>
          <a:xfrm>
            <a:off x="1097280" y="3456432"/>
            <a:ext cx="1212494" cy="237744"/>
          </a:xfrm>
          <a:prstGeom prst="rect">
            <a:avLst/>
          </a:prstGeom>
          <a:noFill/>
          <a:ln/>
        </p:spPr>
        <p:txBody>
          <a:bodyPr wrap="square" lIns="0" tIns="0" rIns="0" bIns="0" rtlCol="0" anchor="t"/>
          <a:lstStyle/>
          <a:p>
            <a:pPr marL="0" indent="0">
              <a:buNone/>
            </a:pPr>
            <a:r>
              <a:rPr lang="en-US" sz="1150" dirty="0">
                <a:solidFill>
                  <a:srgbClr val="16181D"/>
                </a:solidFill>
                <a:latin typeface="Inter Medium" pitchFamily="34" charset="0"/>
                <a:ea typeface="Inter Medium" pitchFamily="34" charset="-122"/>
                <a:cs typeface="Inter Medium" pitchFamily="34" charset="-120"/>
              </a:rPr>
              <a:t>Atlas</a:t>
            </a:r>
            <a:endParaRPr lang="en-US" sz="1150" dirty="0"/>
          </a:p>
        </p:txBody>
      </p:sp>
      <p:sp>
        <p:nvSpPr>
          <p:cNvPr id="11" name="Shape 9"/>
          <p:cNvSpPr/>
          <p:nvPr/>
        </p:nvSpPr>
        <p:spPr>
          <a:xfrm>
            <a:off x="1097280" y="3767328"/>
            <a:ext cx="457932" cy="237744"/>
          </a:xfrm>
          <a:prstGeom prst="rect">
            <a:avLst/>
          </a:prstGeom>
          <a:solidFill>
            <a:srgbClr val="1DA28F"/>
          </a:solidFill>
          <a:ln/>
        </p:spPr>
      </p:sp>
      <p:sp>
        <p:nvSpPr>
          <p:cNvPr id="12" name="Text 10"/>
          <p:cNvSpPr txBox="1"/>
          <p:nvPr/>
        </p:nvSpPr>
        <p:spPr>
          <a:xfrm>
            <a:off x="1097280" y="3767328"/>
            <a:ext cx="457932" cy="237744"/>
          </a:xfrm>
          <a:prstGeom prst="rect">
            <a:avLst/>
          </a:prstGeom>
          <a:noFill/>
          <a:ln/>
        </p:spPr>
        <p:txBody>
          <a:bodyPr wrap="square" lIns="0" tIns="0" rIns="0" bIns="0" rtlCol="0" anchor="ctr"/>
          <a:lstStyle/>
          <a:p>
            <a:pPr marL="0" indent="0" algn="ctr">
              <a:buNone/>
            </a:pPr>
            <a:r>
              <a:rPr lang="en-US" sz="900" dirty="0">
                <a:solidFill>
                  <a:srgbClr val="FFFFFF"/>
                </a:solidFill>
                <a:latin typeface="Inter Medium" pitchFamily="34" charset="0"/>
                <a:ea typeface="Inter Medium" pitchFamily="34" charset="-122"/>
                <a:cs typeface="Inter Medium" pitchFamily="34" charset="-120"/>
              </a:rPr>
              <a:t>Live</a:t>
            </a:r>
            <a:endParaRPr lang="en-US" sz="900" dirty="0"/>
          </a:p>
        </p:txBody>
      </p:sp>
      <p:sp>
        <p:nvSpPr>
          <p:cNvPr id="13" name="Text 11"/>
          <p:cNvSpPr txBox="1"/>
          <p:nvPr/>
        </p:nvSpPr>
        <p:spPr>
          <a:xfrm>
            <a:off x="1097280" y="4096512"/>
            <a:ext cx="1175918"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Existing adapter, unchanged</a:t>
            </a:r>
            <a:endParaRPr lang="en-US" sz="950" dirty="0"/>
          </a:p>
        </p:txBody>
      </p:sp>
      <p:sp>
        <p:nvSpPr>
          <p:cNvPr id="14" name="Shape 12"/>
          <p:cNvSpPr/>
          <p:nvPr/>
        </p:nvSpPr>
        <p:spPr>
          <a:xfrm>
            <a:off x="1097280" y="4608576"/>
            <a:ext cx="1175918" cy="329184"/>
          </a:xfrm>
          <a:prstGeom prst="rect">
            <a:avLst/>
          </a:prstGeom>
          <a:solidFill>
            <a:srgbClr val="E0D2FD"/>
          </a:solidFill>
          <a:ln w="9525">
            <a:solidFill>
              <a:srgbClr val="9D72FE"/>
            </a:solidFill>
            <a:prstDash val="solid"/>
          </a:ln>
        </p:spPr>
      </p:sp>
      <p:sp>
        <p:nvSpPr>
          <p:cNvPr id="15" name="Text 13"/>
          <p:cNvSpPr txBox="1"/>
          <p:nvPr/>
        </p:nvSpPr>
        <p:spPr>
          <a:xfrm>
            <a:off x="1097280" y="4608576"/>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Brand adapter</a:t>
            </a:r>
            <a:endParaRPr lang="en-US" sz="950" dirty="0"/>
          </a:p>
        </p:txBody>
      </p:sp>
      <p:sp>
        <p:nvSpPr>
          <p:cNvPr id="16" name="Shape 14"/>
          <p:cNvSpPr/>
          <p:nvPr/>
        </p:nvSpPr>
        <p:spPr>
          <a:xfrm>
            <a:off x="1097280" y="5010912"/>
            <a:ext cx="1175918" cy="329184"/>
          </a:xfrm>
          <a:prstGeom prst="rect">
            <a:avLst/>
          </a:prstGeom>
          <a:solidFill>
            <a:srgbClr val="FFFFFF"/>
          </a:solidFill>
          <a:ln w="9525">
            <a:solidFill>
              <a:srgbClr val="E6EAF4"/>
            </a:solidFill>
            <a:prstDash val="solid"/>
          </a:ln>
        </p:spPr>
      </p:sp>
      <p:sp>
        <p:nvSpPr>
          <p:cNvPr id="17" name="Text 15"/>
          <p:cNvSpPr txBox="1"/>
          <p:nvPr/>
        </p:nvSpPr>
        <p:spPr>
          <a:xfrm>
            <a:off x="1097280" y="5010912"/>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Knowledge index</a:t>
            </a:r>
            <a:endParaRPr lang="en-US" sz="950" dirty="0"/>
          </a:p>
        </p:txBody>
      </p:sp>
      <p:sp>
        <p:nvSpPr>
          <p:cNvPr id="18" name="Shape 16"/>
          <p:cNvSpPr/>
          <p:nvPr/>
        </p:nvSpPr>
        <p:spPr>
          <a:xfrm>
            <a:off x="1097280" y="5413248"/>
            <a:ext cx="1175918" cy="329184"/>
          </a:xfrm>
          <a:prstGeom prst="rect">
            <a:avLst/>
          </a:prstGeom>
          <a:solidFill>
            <a:srgbClr val="FFFFFF"/>
          </a:solidFill>
          <a:ln w="9525">
            <a:solidFill>
              <a:srgbClr val="E6EAF4"/>
            </a:solidFill>
            <a:prstDash val="solid"/>
          </a:ln>
        </p:spPr>
      </p:sp>
      <p:sp>
        <p:nvSpPr>
          <p:cNvPr id="19" name="Text 17"/>
          <p:cNvSpPr txBox="1"/>
          <p:nvPr/>
        </p:nvSpPr>
        <p:spPr>
          <a:xfrm>
            <a:off x="1097280" y="5413248"/>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System prompt</a:t>
            </a:r>
            <a:endParaRPr lang="en-US" sz="950" dirty="0"/>
          </a:p>
        </p:txBody>
      </p:sp>
      <p:sp>
        <p:nvSpPr>
          <p:cNvPr id="20" name="Shape 18"/>
          <p:cNvSpPr/>
          <p:nvPr/>
        </p:nvSpPr>
        <p:spPr>
          <a:xfrm>
            <a:off x="2510942" y="3310128"/>
            <a:ext cx="1395374" cy="2560320"/>
          </a:xfrm>
          <a:prstGeom prst="roundRect">
            <a:avLst>
              <a:gd name="adj" fmla="val 5242"/>
            </a:avLst>
          </a:prstGeom>
          <a:solidFill>
            <a:srgbClr val="FFFFFF"/>
          </a:solidFill>
          <a:ln w="9525">
            <a:solidFill>
              <a:srgbClr val="E6EAF4"/>
            </a:solidFill>
            <a:prstDash val="solid"/>
          </a:ln>
        </p:spPr>
      </p:sp>
      <p:sp>
        <p:nvSpPr>
          <p:cNvPr id="21" name="Text 19"/>
          <p:cNvSpPr txBox="1"/>
          <p:nvPr/>
        </p:nvSpPr>
        <p:spPr>
          <a:xfrm>
            <a:off x="2620670" y="3456432"/>
            <a:ext cx="1212494" cy="237744"/>
          </a:xfrm>
          <a:prstGeom prst="rect">
            <a:avLst/>
          </a:prstGeom>
          <a:noFill/>
          <a:ln/>
        </p:spPr>
        <p:txBody>
          <a:bodyPr wrap="square" lIns="0" tIns="0" rIns="0" bIns="0" rtlCol="0" anchor="t"/>
          <a:lstStyle/>
          <a:p>
            <a:pPr marL="0" indent="0">
              <a:buNone/>
            </a:pPr>
            <a:r>
              <a:rPr lang="en-US" sz="1150" dirty="0">
                <a:solidFill>
                  <a:srgbClr val="16181D"/>
                </a:solidFill>
                <a:latin typeface="Inter Medium" pitchFamily="34" charset="0"/>
                <a:ea typeface="Inter Medium" pitchFamily="34" charset="-122"/>
                <a:cs typeface="Inter Medium" pitchFamily="34" charset="-120"/>
              </a:rPr>
              <a:t>Ridgeline</a:t>
            </a:r>
            <a:endParaRPr lang="en-US" sz="1150" dirty="0"/>
          </a:p>
        </p:txBody>
      </p:sp>
      <p:sp>
        <p:nvSpPr>
          <p:cNvPr id="22" name="Shape 20"/>
          <p:cNvSpPr/>
          <p:nvPr/>
        </p:nvSpPr>
        <p:spPr>
          <a:xfrm>
            <a:off x="2620670" y="3767328"/>
            <a:ext cx="522122" cy="237744"/>
          </a:xfrm>
          <a:prstGeom prst="rect">
            <a:avLst/>
          </a:prstGeom>
          <a:solidFill>
            <a:srgbClr val="6720FF"/>
          </a:solidFill>
          <a:ln/>
        </p:spPr>
      </p:sp>
      <p:sp>
        <p:nvSpPr>
          <p:cNvPr id="23" name="Text 21"/>
          <p:cNvSpPr txBox="1"/>
          <p:nvPr/>
        </p:nvSpPr>
        <p:spPr>
          <a:xfrm>
            <a:off x="2620670" y="3767328"/>
            <a:ext cx="522122" cy="237744"/>
          </a:xfrm>
          <a:prstGeom prst="rect">
            <a:avLst/>
          </a:prstGeom>
          <a:noFill/>
          <a:ln/>
        </p:spPr>
        <p:txBody>
          <a:bodyPr wrap="square" lIns="0" tIns="0" rIns="0" bIns="0" rtlCol="0" anchor="ctr"/>
          <a:lstStyle/>
          <a:p>
            <a:pPr marL="0" indent="0" algn="ctr">
              <a:buNone/>
            </a:pPr>
            <a:r>
              <a:rPr lang="en-US" sz="900" dirty="0">
                <a:solidFill>
                  <a:srgbClr val="FFFFFF"/>
                </a:solidFill>
                <a:latin typeface="Inter Medium" pitchFamily="34" charset="0"/>
                <a:ea typeface="Inter Medium" pitchFamily="34" charset="-122"/>
                <a:cs typeface="Inter Medium" pitchFamily="34" charset="-120"/>
              </a:rPr>
              <a:t>Pilot</a:t>
            </a:r>
            <a:endParaRPr lang="en-US" sz="900" dirty="0"/>
          </a:p>
        </p:txBody>
      </p:sp>
      <p:sp>
        <p:nvSpPr>
          <p:cNvPr id="24" name="Text 22"/>
          <p:cNvSpPr txBox="1"/>
          <p:nvPr/>
        </p:nvSpPr>
        <p:spPr>
          <a:xfrm>
            <a:off x="2620670" y="4096512"/>
            <a:ext cx="1175918"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New adapter</a:t>
            </a:r>
            <a:endParaRPr lang="en-US" sz="950" dirty="0"/>
          </a:p>
        </p:txBody>
      </p:sp>
      <p:sp>
        <p:nvSpPr>
          <p:cNvPr id="25" name="Shape 23"/>
          <p:cNvSpPr/>
          <p:nvPr/>
        </p:nvSpPr>
        <p:spPr>
          <a:xfrm>
            <a:off x="2620670" y="4608576"/>
            <a:ext cx="1175918" cy="329184"/>
          </a:xfrm>
          <a:prstGeom prst="rect">
            <a:avLst/>
          </a:prstGeom>
          <a:solidFill>
            <a:srgbClr val="E0D2FD"/>
          </a:solidFill>
          <a:ln w="9525">
            <a:solidFill>
              <a:srgbClr val="9D72FE"/>
            </a:solidFill>
            <a:prstDash val="solid"/>
          </a:ln>
        </p:spPr>
      </p:sp>
      <p:sp>
        <p:nvSpPr>
          <p:cNvPr id="26" name="Text 24"/>
          <p:cNvSpPr txBox="1"/>
          <p:nvPr/>
        </p:nvSpPr>
        <p:spPr>
          <a:xfrm>
            <a:off x="2620670" y="4608576"/>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Brand adapter</a:t>
            </a:r>
            <a:endParaRPr lang="en-US" sz="950" dirty="0"/>
          </a:p>
        </p:txBody>
      </p:sp>
      <p:sp>
        <p:nvSpPr>
          <p:cNvPr id="27" name="Shape 25"/>
          <p:cNvSpPr/>
          <p:nvPr/>
        </p:nvSpPr>
        <p:spPr>
          <a:xfrm>
            <a:off x="2620670" y="5010912"/>
            <a:ext cx="1175918" cy="329184"/>
          </a:xfrm>
          <a:prstGeom prst="rect">
            <a:avLst/>
          </a:prstGeom>
          <a:solidFill>
            <a:srgbClr val="FFFFFF"/>
          </a:solidFill>
          <a:ln w="9525">
            <a:solidFill>
              <a:srgbClr val="E6EAF4"/>
            </a:solidFill>
            <a:prstDash val="solid"/>
          </a:ln>
        </p:spPr>
      </p:sp>
      <p:sp>
        <p:nvSpPr>
          <p:cNvPr id="28" name="Text 26"/>
          <p:cNvSpPr txBox="1"/>
          <p:nvPr/>
        </p:nvSpPr>
        <p:spPr>
          <a:xfrm>
            <a:off x="2620670" y="5010912"/>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Knowledge index</a:t>
            </a:r>
            <a:endParaRPr lang="en-US" sz="950" dirty="0"/>
          </a:p>
        </p:txBody>
      </p:sp>
      <p:sp>
        <p:nvSpPr>
          <p:cNvPr id="29" name="Shape 27"/>
          <p:cNvSpPr/>
          <p:nvPr/>
        </p:nvSpPr>
        <p:spPr>
          <a:xfrm>
            <a:off x="2620670" y="5413248"/>
            <a:ext cx="1175918" cy="329184"/>
          </a:xfrm>
          <a:prstGeom prst="rect">
            <a:avLst/>
          </a:prstGeom>
          <a:solidFill>
            <a:srgbClr val="FFFFFF"/>
          </a:solidFill>
          <a:ln w="9525">
            <a:solidFill>
              <a:srgbClr val="E6EAF4"/>
            </a:solidFill>
            <a:prstDash val="solid"/>
          </a:ln>
        </p:spPr>
      </p:sp>
      <p:sp>
        <p:nvSpPr>
          <p:cNvPr id="30" name="Text 28"/>
          <p:cNvSpPr txBox="1"/>
          <p:nvPr/>
        </p:nvSpPr>
        <p:spPr>
          <a:xfrm>
            <a:off x="2620670" y="5413248"/>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System prompt</a:t>
            </a:r>
            <a:endParaRPr lang="en-US" sz="950" dirty="0"/>
          </a:p>
        </p:txBody>
      </p:sp>
      <p:sp>
        <p:nvSpPr>
          <p:cNvPr id="31" name="Shape 29"/>
          <p:cNvSpPr/>
          <p:nvPr/>
        </p:nvSpPr>
        <p:spPr>
          <a:xfrm>
            <a:off x="4034333" y="3310128"/>
            <a:ext cx="1395374" cy="2560320"/>
          </a:xfrm>
          <a:prstGeom prst="roundRect">
            <a:avLst>
              <a:gd name="adj" fmla="val 5242"/>
            </a:avLst>
          </a:prstGeom>
          <a:solidFill>
            <a:srgbClr val="FFFFFF"/>
          </a:solidFill>
          <a:ln w="9525">
            <a:solidFill>
              <a:srgbClr val="E6EAF4"/>
            </a:solidFill>
            <a:prstDash val="solid"/>
          </a:ln>
        </p:spPr>
      </p:sp>
      <p:sp>
        <p:nvSpPr>
          <p:cNvPr id="32" name="Text 30"/>
          <p:cNvSpPr txBox="1"/>
          <p:nvPr/>
        </p:nvSpPr>
        <p:spPr>
          <a:xfrm>
            <a:off x="4144061" y="3456432"/>
            <a:ext cx="1212494" cy="237744"/>
          </a:xfrm>
          <a:prstGeom prst="rect">
            <a:avLst/>
          </a:prstGeom>
          <a:noFill/>
          <a:ln/>
        </p:spPr>
        <p:txBody>
          <a:bodyPr wrap="square" lIns="0" tIns="0" rIns="0" bIns="0" rtlCol="0" anchor="t"/>
          <a:lstStyle/>
          <a:p>
            <a:pPr marL="0" indent="0">
              <a:buNone/>
            </a:pPr>
            <a:r>
              <a:rPr lang="en-US" sz="1150" dirty="0">
                <a:solidFill>
                  <a:srgbClr val="16181D"/>
                </a:solidFill>
                <a:latin typeface="Inter Medium" pitchFamily="34" charset="0"/>
                <a:ea typeface="Inter Medium" pitchFamily="34" charset="-122"/>
                <a:cs typeface="Inter Medium" pitchFamily="34" charset="-120"/>
              </a:rPr>
              <a:t>Halden</a:t>
            </a:r>
            <a:endParaRPr lang="en-US" sz="1150" dirty="0"/>
          </a:p>
        </p:txBody>
      </p:sp>
      <p:sp>
        <p:nvSpPr>
          <p:cNvPr id="33" name="Shape 31"/>
          <p:cNvSpPr/>
          <p:nvPr/>
        </p:nvSpPr>
        <p:spPr>
          <a:xfrm>
            <a:off x="4144061" y="3767328"/>
            <a:ext cx="586313" cy="237744"/>
          </a:xfrm>
          <a:prstGeom prst="rect">
            <a:avLst/>
          </a:prstGeom>
          <a:solidFill>
            <a:srgbClr val="F2F2F2"/>
          </a:solidFill>
          <a:ln/>
        </p:spPr>
      </p:sp>
      <p:sp>
        <p:nvSpPr>
          <p:cNvPr id="34" name="Text 32"/>
          <p:cNvSpPr txBox="1"/>
          <p:nvPr/>
        </p:nvSpPr>
        <p:spPr>
          <a:xfrm>
            <a:off x="4144061" y="3767328"/>
            <a:ext cx="586313" cy="237744"/>
          </a:xfrm>
          <a:prstGeom prst="rect">
            <a:avLst/>
          </a:prstGeom>
          <a:noFill/>
          <a:ln/>
        </p:spPr>
        <p:txBody>
          <a:bodyPr wrap="square" lIns="0" tIns="0" rIns="0" bIns="0" rtlCol="0" anchor="ctr"/>
          <a:lstStyle/>
          <a:p>
            <a:pPr marL="0" indent="0" algn="ctr">
              <a:buNone/>
            </a:pPr>
            <a:r>
              <a:rPr lang="en-US" sz="900" dirty="0">
                <a:solidFill>
                  <a:srgbClr val="16181D"/>
                </a:solidFill>
                <a:latin typeface="Inter Medium" pitchFamily="34" charset="0"/>
                <a:ea typeface="Inter Medium" pitchFamily="34" charset="-122"/>
                <a:cs typeface="Inter Medium" pitchFamily="34" charset="-120"/>
              </a:rPr>
              <a:t>Wave 2</a:t>
            </a:r>
            <a:endParaRPr lang="en-US" sz="900" dirty="0"/>
          </a:p>
        </p:txBody>
      </p:sp>
      <p:sp>
        <p:nvSpPr>
          <p:cNvPr id="35" name="Text 33"/>
          <p:cNvSpPr txBox="1"/>
          <p:nvPr/>
        </p:nvSpPr>
        <p:spPr>
          <a:xfrm>
            <a:off x="4144061" y="4096512"/>
            <a:ext cx="1175918"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New adapter; own deployment later</a:t>
            </a:r>
            <a:endParaRPr lang="en-US" sz="950" dirty="0"/>
          </a:p>
        </p:txBody>
      </p:sp>
      <p:sp>
        <p:nvSpPr>
          <p:cNvPr id="36" name="Shape 34"/>
          <p:cNvSpPr/>
          <p:nvPr/>
        </p:nvSpPr>
        <p:spPr>
          <a:xfrm>
            <a:off x="4144061" y="4608576"/>
            <a:ext cx="1175918" cy="329184"/>
          </a:xfrm>
          <a:prstGeom prst="rect">
            <a:avLst/>
          </a:prstGeom>
          <a:solidFill>
            <a:srgbClr val="E0D2FD"/>
          </a:solidFill>
          <a:ln w="9525">
            <a:solidFill>
              <a:srgbClr val="9D72FE"/>
            </a:solidFill>
            <a:prstDash val="solid"/>
          </a:ln>
        </p:spPr>
      </p:sp>
      <p:sp>
        <p:nvSpPr>
          <p:cNvPr id="37" name="Text 35"/>
          <p:cNvSpPr txBox="1"/>
          <p:nvPr/>
        </p:nvSpPr>
        <p:spPr>
          <a:xfrm>
            <a:off x="4144061" y="4608576"/>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Brand adapter</a:t>
            </a:r>
            <a:endParaRPr lang="en-US" sz="950" dirty="0"/>
          </a:p>
        </p:txBody>
      </p:sp>
      <p:sp>
        <p:nvSpPr>
          <p:cNvPr id="38" name="Shape 36"/>
          <p:cNvSpPr/>
          <p:nvPr/>
        </p:nvSpPr>
        <p:spPr>
          <a:xfrm>
            <a:off x="4144061" y="5010912"/>
            <a:ext cx="1175918" cy="329184"/>
          </a:xfrm>
          <a:prstGeom prst="rect">
            <a:avLst/>
          </a:prstGeom>
          <a:solidFill>
            <a:srgbClr val="FFFFFF"/>
          </a:solidFill>
          <a:ln w="9525">
            <a:solidFill>
              <a:srgbClr val="E6EAF4"/>
            </a:solidFill>
            <a:prstDash val="solid"/>
          </a:ln>
        </p:spPr>
      </p:sp>
      <p:sp>
        <p:nvSpPr>
          <p:cNvPr id="39" name="Text 37"/>
          <p:cNvSpPr txBox="1"/>
          <p:nvPr/>
        </p:nvSpPr>
        <p:spPr>
          <a:xfrm>
            <a:off x="4144061" y="5010912"/>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Knowledge index</a:t>
            </a:r>
            <a:endParaRPr lang="en-US" sz="950" dirty="0"/>
          </a:p>
        </p:txBody>
      </p:sp>
      <p:sp>
        <p:nvSpPr>
          <p:cNvPr id="40" name="Shape 38"/>
          <p:cNvSpPr/>
          <p:nvPr/>
        </p:nvSpPr>
        <p:spPr>
          <a:xfrm>
            <a:off x="4144061" y="5413248"/>
            <a:ext cx="1175918" cy="329184"/>
          </a:xfrm>
          <a:prstGeom prst="rect">
            <a:avLst/>
          </a:prstGeom>
          <a:solidFill>
            <a:srgbClr val="FFFFFF"/>
          </a:solidFill>
          <a:ln w="9525">
            <a:solidFill>
              <a:srgbClr val="E6EAF4"/>
            </a:solidFill>
            <a:prstDash val="solid"/>
          </a:ln>
        </p:spPr>
      </p:sp>
      <p:sp>
        <p:nvSpPr>
          <p:cNvPr id="41" name="Text 39"/>
          <p:cNvSpPr txBox="1"/>
          <p:nvPr/>
        </p:nvSpPr>
        <p:spPr>
          <a:xfrm>
            <a:off x="4144061" y="5413248"/>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System prompt</a:t>
            </a:r>
            <a:endParaRPr lang="en-US" sz="950" dirty="0"/>
          </a:p>
        </p:txBody>
      </p:sp>
      <p:sp>
        <p:nvSpPr>
          <p:cNvPr id="42" name="Shape 40"/>
          <p:cNvSpPr/>
          <p:nvPr/>
        </p:nvSpPr>
        <p:spPr>
          <a:xfrm>
            <a:off x="5557723" y="3310128"/>
            <a:ext cx="1395374" cy="2560320"/>
          </a:xfrm>
          <a:prstGeom prst="roundRect">
            <a:avLst>
              <a:gd name="adj" fmla="val 5242"/>
            </a:avLst>
          </a:prstGeom>
          <a:solidFill>
            <a:srgbClr val="FFFFFF"/>
          </a:solidFill>
          <a:ln w="9525">
            <a:solidFill>
              <a:srgbClr val="E6EAF4"/>
            </a:solidFill>
            <a:prstDash val="solid"/>
          </a:ln>
        </p:spPr>
      </p:sp>
      <p:sp>
        <p:nvSpPr>
          <p:cNvPr id="43" name="Text 41"/>
          <p:cNvSpPr txBox="1"/>
          <p:nvPr/>
        </p:nvSpPr>
        <p:spPr>
          <a:xfrm>
            <a:off x="5667451" y="3456432"/>
            <a:ext cx="1212494" cy="237744"/>
          </a:xfrm>
          <a:prstGeom prst="rect">
            <a:avLst/>
          </a:prstGeom>
          <a:noFill/>
          <a:ln/>
        </p:spPr>
        <p:txBody>
          <a:bodyPr wrap="square" lIns="0" tIns="0" rIns="0" bIns="0" rtlCol="0" anchor="t"/>
          <a:lstStyle/>
          <a:p>
            <a:pPr marL="0" indent="0">
              <a:buNone/>
            </a:pPr>
            <a:r>
              <a:rPr lang="en-US" sz="1150" dirty="0">
                <a:solidFill>
                  <a:srgbClr val="16181D"/>
                </a:solidFill>
                <a:latin typeface="Inter Medium" pitchFamily="34" charset="0"/>
                <a:ea typeface="Inter Medium" pitchFamily="34" charset="-122"/>
                <a:cs typeface="Inter Medium" pitchFamily="34" charset="-120"/>
              </a:rPr>
              <a:t>Polar</a:t>
            </a:r>
            <a:endParaRPr lang="en-US" sz="1150" dirty="0"/>
          </a:p>
        </p:txBody>
      </p:sp>
      <p:sp>
        <p:nvSpPr>
          <p:cNvPr id="44" name="Shape 42"/>
          <p:cNvSpPr/>
          <p:nvPr/>
        </p:nvSpPr>
        <p:spPr>
          <a:xfrm>
            <a:off x="5667451" y="3767328"/>
            <a:ext cx="586313" cy="237744"/>
          </a:xfrm>
          <a:prstGeom prst="rect">
            <a:avLst/>
          </a:prstGeom>
          <a:solidFill>
            <a:srgbClr val="F2F2F2"/>
          </a:solidFill>
          <a:ln/>
        </p:spPr>
      </p:sp>
      <p:sp>
        <p:nvSpPr>
          <p:cNvPr id="45" name="Text 43"/>
          <p:cNvSpPr txBox="1"/>
          <p:nvPr/>
        </p:nvSpPr>
        <p:spPr>
          <a:xfrm>
            <a:off x="5667451" y="3767328"/>
            <a:ext cx="586313" cy="237744"/>
          </a:xfrm>
          <a:prstGeom prst="rect">
            <a:avLst/>
          </a:prstGeom>
          <a:noFill/>
          <a:ln/>
        </p:spPr>
        <p:txBody>
          <a:bodyPr wrap="square" lIns="0" tIns="0" rIns="0" bIns="0" rtlCol="0" anchor="ctr"/>
          <a:lstStyle/>
          <a:p>
            <a:pPr marL="0" indent="0" algn="ctr">
              <a:buNone/>
            </a:pPr>
            <a:r>
              <a:rPr lang="en-US" sz="900" dirty="0">
                <a:solidFill>
                  <a:srgbClr val="16181D"/>
                </a:solidFill>
                <a:latin typeface="Inter Medium" pitchFamily="34" charset="0"/>
                <a:ea typeface="Inter Medium" pitchFamily="34" charset="-122"/>
                <a:cs typeface="Inter Medium" pitchFamily="34" charset="-120"/>
              </a:rPr>
              <a:t>Wave 2</a:t>
            </a:r>
            <a:endParaRPr lang="en-US" sz="900" dirty="0"/>
          </a:p>
        </p:txBody>
      </p:sp>
      <p:sp>
        <p:nvSpPr>
          <p:cNvPr id="46" name="Text 44"/>
          <p:cNvSpPr txBox="1"/>
          <p:nvPr/>
        </p:nvSpPr>
        <p:spPr>
          <a:xfrm>
            <a:off x="5667451" y="4096512"/>
            <a:ext cx="1175918"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New adapter</a:t>
            </a:r>
            <a:endParaRPr lang="en-US" sz="950" dirty="0"/>
          </a:p>
        </p:txBody>
      </p:sp>
      <p:sp>
        <p:nvSpPr>
          <p:cNvPr id="47" name="Shape 45"/>
          <p:cNvSpPr/>
          <p:nvPr/>
        </p:nvSpPr>
        <p:spPr>
          <a:xfrm>
            <a:off x="5667451" y="4608576"/>
            <a:ext cx="1175918" cy="329184"/>
          </a:xfrm>
          <a:prstGeom prst="rect">
            <a:avLst/>
          </a:prstGeom>
          <a:solidFill>
            <a:srgbClr val="E0D2FD"/>
          </a:solidFill>
          <a:ln w="9525">
            <a:solidFill>
              <a:srgbClr val="9D72FE"/>
            </a:solidFill>
            <a:prstDash val="solid"/>
          </a:ln>
        </p:spPr>
      </p:sp>
      <p:sp>
        <p:nvSpPr>
          <p:cNvPr id="48" name="Text 46"/>
          <p:cNvSpPr txBox="1"/>
          <p:nvPr/>
        </p:nvSpPr>
        <p:spPr>
          <a:xfrm>
            <a:off x="5667451" y="4608576"/>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Brand adapter</a:t>
            </a:r>
            <a:endParaRPr lang="en-US" sz="950" dirty="0"/>
          </a:p>
        </p:txBody>
      </p:sp>
      <p:sp>
        <p:nvSpPr>
          <p:cNvPr id="49" name="Shape 47"/>
          <p:cNvSpPr/>
          <p:nvPr/>
        </p:nvSpPr>
        <p:spPr>
          <a:xfrm>
            <a:off x="5667451" y="5010912"/>
            <a:ext cx="1175918" cy="329184"/>
          </a:xfrm>
          <a:prstGeom prst="rect">
            <a:avLst/>
          </a:prstGeom>
          <a:solidFill>
            <a:srgbClr val="FFFFFF"/>
          </a:solidFill>
          <a:ln w="9525">
            <a:solidFill>
              <a:srgbClr val="E6EAF4"/>
            </a:solidFill>
            <a:prstDash val="solid"/>
          </a:ln>
        </p:spPr>
      </p:sp>
      <p:sp>
        <p:nvSpPr>
          <p:cNvPr id="50" name="Text 48"/>
          <p:cNvSpPr txBox="1"/>
          <p:nvPr/>
        </p:nvSpPr>
        <p:spPr>
          <a:xfrm>
            <a:off x="5667451" y="5010912"/>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Knowledge index</a:t>
            </a:r>
            <a:endParaRPr lang="en-US" sz="950" dirty="0"/>
          </a:p>
        </p:txBody>
      </p:sp>
      <p:sp>
        <p:nvSpPr>
          <p:cNvPr id="51" name="Shape 49"/>
          <p:cNvSpPr/>
          <p:nvPr/>
        </p:nvSpPr>
        <p:spPr>
          <a:xfrm>
            <a:off x="5667451" y="5413248"/>
            <a:ext cx="1175918" cy="329184"/>
          </a:xfrm>
          <a:prstGeom prst="rect">
            <a:avLst/>
          </a:prstGeom>
          <a:solidFill>
            <a:srgbClr val="FFFFFF"/>
          </a:solidFill>
          <a:ln w="9525">
            <a:solidFill>
              <a:srgbClr val="E6EAF4"/>
            </a:solidFill>
            <a:prstDash val="solid"/>
          </a:ln>
        </p:spPr>
      </p:sp>
      <p:sp>
        <p:nvSpPr>
          <p:cNvPr id="52" name="Text 50"/>
          <p:cNvSpPr txBox="1"/>
          <p:nvPr/>
        </p:nvSpPr>
        <p:spPr>
          <a:xfrm>
            <a:off x="5667451" y="5413248"/>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System prompt</a:t>
            </a:r>
            <a:endParaRPr lang="en-US" sz="950" dirty="0"/>
          </a:p>
        </p:txBody>
      </p:sp>
      <p:sp>
        <p:nvSpPr>
          <p:cNvPr id="53" name="Shape 51"/>
          <p:cNvSpPr/>
          <p:nvPr/>
        </p:nvSpPr>
        <p:spPr>
          <a:xfrm>
            <a:off x="7081114" y="3310128"/>
            <a:ext cx="1395374" cy="2560320"/>
          </a:xfrm>
          <a:prstGeom prst="roundRect">
            <a:avLst>
              <a:gd name="adj" fmla="val 5242"/>
            </a:avLst>
          </a:prstGeom>
          <a:solidFill>
            <a:srgbClr val="FFFFFF"/>
          </a:solidFill>
          <a:ln w="9525">
            <a:solidFill>
              <a:srgbClr val="E6EAF4"/>
            </a:solidFill>
            <a:prstDash val="solid"/>
          </a:ln>
        </p:spPr>
      </p:sp>
      <p:sp>
        <p:nvSpPr>
          <p:cNvPr id="54" name="Text 52"/>
          <p:cNvSpPr txBox="1"/>
          <p:nvPr/>
        </p:nvSpPr>
        <p:spPr>
          <a:xfrm>
            <a:off x="7190842" y="3456432"/>
            <a:ext cx="1212494" cy="237744"/>
          </a:xfrm>
          <a:prstGeom prst="rect">
            <a:avLst/>
          </a:prstGeom>
          <a:noFill/>
          <a:ln/>
        </p:spPr>
        <p:txBody>
          <a:bodyPr wrap="square" lIns="0" tIns="0" rIns="0" bIns="0" rtlCol="0" anchor="t"/>
          <a:lstStyle/>
          <a:p>
            <a:pPr marL="0" indent="0">
              <a:buNone/>
            </a:pPr>
            <a:r>
              <a:rPr lang="en-US" sz="1150" dirty="0">
                <a:solidFill>
                  <a:srgbClr val="16181D"/>
                </a:solidFill>
                <a:latin typeface="Inter Medium" pitchFamily="34" charset="0"/>
                <a:ea typeface="Inter Medium" pitchFamily="34" charset="-122"/>
                <a:cs typeface="Inter Medium" pitchFamily="34" charset="-120"/>
              </a:rPr>
              <a:t>Harbour &amp; Hide</a:t>
            </a:r>
            <a:endParaRPr lang="en-US" sz="1150" dirty="0"/>
          </a:p>
        </p:txBody>
      </p:sp>
      <p:sp>
        <p:nvSpPr>
          <p:cNvPr id="55" name="Shape 53"/>
          <p:cNvSpPr/>
          <p:nvPr/>
        </p:nvSpPr>
        <p:spPr>
          <a:xfrm>
            <a:off x="7190842" y="3767328"/>
            <a:ext cx="586313" cy="237744"/>
          </a:xfrm>
          <a:prstGeom prst="rect">
            <a:avLst/>
          </a:prstGeom>
          <a:solidFill>
            <a:srgbClr val="F2F2F2"/>
          </a:solidFill>
          <a:ln/>
        </p:spPr>
      </p:sp>
      <p:sp>
        <p:nvSpPr>
          <p:cNvPr id="56" name="Text 54"/>
          <p:cNvSpPr txBox="1"/>
          <p:nvPr/>
        </p:nvSpPr>
        <p:spPr>
          <a:xfrm>
            <a:off x="7190842" y="3767328"/>
            <a:ext cx="586313" cy="237744"/>
          </a:xfrm>
          <a:prstGeom prst="rect">
            <a:avLst/>
          </a:prstGeom>
          <a:noFill/>
          <a:ln/>
        </p:spPr>
        <p:txBody>
          <a:bodyPr wrap="square" lIns="0" tIns="0" rIns="0" bIns="0" rtlCol="0" anchor="ctr"/>
          <a:lstStyle/>
          <a:p>
            <a:pPr marL="0" indent="0" algn="ctr">
              <a:buNone/>
            </a:pPr>
            <a:r>
              <a:rPr lang="en-US" sz="900" dirty="0">
                <a:solidFill>
                  <a:srgbClr val="16181D"/>
                </a:solidFill>
                <a:latin typeface="Inter Medium" pitchFamily="34" charset="0"/>
                <a:ea typeface="Inter Medium" pitchFamily="34" charset="-122"/>
                <a:cs typeface="Inter Medium" pitchFamily="34" charset="-120"/>
              </a:rPr>
              <a:t>Wave 3</a:t>
            </a:r>
            <a:endParaRPr lang="en-US" sz="900" dirty="0"/>
          </a:p>
        </p:txBody>
      </p:sp>
      <p:sp>
        <p:nvSpPr>
          <p:cNvPr id="57" name="Text 55"/>
          <p:cNvSpPr txBox="1"/>
          <p:nvPr/>
        </p:nvSpPr>
        <p:spPr>
          <a:xfrm>
            <a:off x="7190842" y="4096512"/>
            <a:ext cx="1175918"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New adapter</a:t>
            </a:r>
            <a:endParaRPr lang="en-US" sz="950" dirty="0"/>
          </a:p>
        </p:txBody>
      </p:sp>
      <p:sp>
        <p:nvSpPr>
          <p:cNvPr id="58" name="Shape 56"/>
          <p:cNvSpPr/>
          <p:nvPr/>
        </p:nvSpPr>
        <p:spPr>
          <a:xfrm>
            <a:off x="7190842" y="4608576"/>
            <a:ext cx="1175918" cy="329184"/>
          </a:xfrm>
          <a:prstGeom prst="rect">
            <a:avLst/>
          </a:prstGeom>
          <a:solidFill>
            <a:srgbClr val="E0D2FD"/>
          </a:solidFill>
          <a:ln w="9525">
            <a:solidFill>
              <a:srgbClr val="9D72FE"/>
            </a:solidFill>
            <a:prstDash val="solid"/>
          </a:ln>
        </p:spPr>
      </p:sp>
      <p:sp>
        <p:nvSpPr>
          <p:cNvPr id="59" name="Text 57"/>
          <p:cNvSpPr txBox="1"/>
          <p:nvPr/>
        </p:nvSpPr>
        <p:spPr>
          <a:xfrm>
            <a:off x="7190842" y="4608576"/>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Brand adapter</a:t>
            </a:r>
            <a:endParaRPr lang="en-US" sz="950" dirty="0"/>
          </a:p>
        </p:txBody>
      </p:sp>
      <p:sp>
        <p:nvSpPr>
          <p:cNvPr id="60" name="Shape 58"/>
          <p:cNvSpPr/>
          <p:nvPr/>
        </p:nvSpPr>
        <p:spPr>
          <a:xfrm>
            <a:off x="7190842" y="5010912"/>
            <a:ext cx="1175918" cy="329184"/>
          </a:xfrm>
          <a:prstGeom prst="rect">
            <a:avLst/>
          </a:prstGeom>
          <a:solidFill>
            <a:srgbClr val="FFFFFF"/>
          </a:solidFill>
          <a:ln w="9525">
            <a:solidFill>
              <a:srgbClr val="E6EAF4"/>
            </a:solidFill>
            <a:prstDash val="solid"/>
          </a:ln>
        </p:spPr>
      </p:sp>
      <p:sp>
        <p:nvSpPr>
          <p:cNvPr id="61" name="Text 59"/>
          <p:cNvSpPr txBox="1"/>
          <p:nvPr/>
        </p:nvSpPr>
        <p:spPr>
          <a:xfrm>
            <a:off x="7190842" y="5010912"/>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Knowledge index</a:t>
            </a:r>
            <a:endParaRPr lang="en-US" sz="950" dirty="0"/>
          </a:p>
        </p:txBody>
      </p:sp>
      <p:sp>
        <p:nvSpPr>
          <p:cNvPr id="62" name="Shape 60"/>
          <p:cNvSpPr/>
          <p:nvPr/>
        </p:nvSpPr>
        <p:spPr>
          <a:xfrm>
            <a:off x="7190842" y="5413248"/>
            <a:ext cx="1175918" cy="329184"/>
          </a:xfrm>
          <a:prstGeom prst="rect">
            <a:avLst/>
          </a:prstGeom>
          <a:solidFill>
            <a:srgbClr val="FFFFFF"/>
          </a:solidFill>
          <a:ln w="9525">
            <a:solidFill>
              <a:srgbClr val="E6EAF4"/>
            </a:solidFill>
            <a:prstDash val="solid"/>
          </a:ln>
        </p:spPr>
      </p:sp>
      <p:sp>
        <p:nvSpPr>
          <p:cNvPr id="63" name="Text 61"/>
          <p:cNvSpPr txBox="1"/>
          <p:nvPr/>
        </p:nvSpPr>
        <p:spPr>
          <a:xfrm>
            <a:off x="7190842" y="5413248"/>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System prompt</a:t>
            </a:r>
            <a:endParaRPr lang="en-US" sz="950" dirty="0"/>
          </a:p>
        </p:txBody>
      </p:sp>
      <p:sp>
        <p:nvSpPr>
          <p:cNvPr id="64" name="Shape 62"/>
          <p:cNvSpPr/>
          <p:nvPr/>
        </p:nvSpPr>
        <p:spPr>
          <a:xfrm>
            <a:off x="9098280" y="2203704"/>
            <a:ext cx="118872" cy="118872"/>
          </a:xfrm>
          <a:prstGeom prst="rect">
            <a:avLst/>
          </a:prstGeom>
          <a:solidFill>
            <a:srgbClr val="1DA28F"/>
          </a:solidFill>
          <a:ln/>
        </p:spPr>
      </p:sp>
      <p:sp>
        <p:nvSpPr>
          <p:cNvPr id="65" name="Text 63"/>
          <p:cNvSpPr txBox="1"/>
          <p:nvPr/>
        </p:nvSpPr>
        <p:spPr>
          <a:xfrm>
            <a:off x="9372600" y="2148840"/>
            <a:ext cx="2087575" cy="1234440"/>
          </a:xfrm>
          <a:prstGeom prst="rect">
            <a:avLst/>
          </a:prstGeom>
          <a:noFill/>
          <a:ln/>
        </p:spPr>
        <p:txBody>
          <a:bodyPr wrap="square" lIns="0" tIns="0" rIns="0" bIns="0" rtlCol="0" anchor="t"/>
          <a:lstStyle/>
          <a:p>
            <a:pPr marL="0" indent="0">
              <a:spcAft>
                <a:spcPts val="400"/>
              </a:spcAft>
              <a:buNone/>
            </a:pPr>
            <a:r>
              <a:rPr lang="en-US" sz="1300" dirty="0">
                <a:solidFill>
                  <a:srgbClr val="16181D"/>
                </a:solidFill>
                <a:latin typeface="Inter Medium" pitchFamily="34" charset="0"/>
                <a:ea typeface="Inter Medium" pitchFamily="34" charset="-122"/>
                <a:cs typeface="Inter Medium" pitchFamily="34" charset="-120"/>
              </a:rPr>
              <a:t>Data isolation</a:t>
            </a:r>
            <a:endParaRPr lang="en-US" sz="1300" dirty="0"/>
          </a:p>
          <a:p>
            <a:pPr marL="0" indent="0">
              <a:spcAft>
                <a:spcPts val="400"/>
              </a:spcAft>
              <a:buNone/>
            </a:pPr>
            <a:r>
              <a:rPr lang="en-US" sz="1100" dirty="0">
                <a:solidFill>
                  <a:srgbClr val="5A5E63"/>
                </a:solidFill>
                <a:latin typeface="Inter" pitchFamily="34" charset="0"/>
                <a:ea typeface="Inter" pitchFamily="34" charset="-122"/>
                <a:cs typeface="Inter" pitchFamily="34" charset="-120"/>
              </a:rPr>
              <a:t>Each brand’s catalogue and policy facts sit in its own knowledge index; each adapter is trained on that brand’s transcripts.</a:t>
            </a:r>
            <a:endParaRPr lang="en-US" sz="1300" dirty="0"/>
          </a:p>
        </p:txBody>
      </p:sp>
      <p:sp>
        <p:nvSpPr>
          <p:cNvPr id="66" name="Shape 64"/>
          <p:cNvSpPr/>
          <p:nvPr/>
        </p:nvSpPr>
        <p:spPr>
          <a:xfrm>
            <a:off x="9098280" y="3575304"/>
            <a:ext cx="118872" cy="118872"/>
          </a:xfrm>
          <a:prstGeom prst="rect">
            <a:avLst/>
          </a:prstGeom>
          <a:solidFill>
            <a:srgbClr val="6720FF"/>
          </a:solidFill>
          <a:ln/>
        </p:spPr>
      </p:sp>
      <p:sp>
        <p:nvSpPr>
          <p:cNvPr id="67" name="Text 65"/>
          <p:cNvSpPr txBox="1"/>
          <p:nvPr/>
        </p:nvSpPr>
        <p:spPr>
          <a:xfrm>
            <a:off x="9372600" y="3520440"/>
            <a:ext cx="2087575" cy="1234440"/>
          </a:xfrm>
          <a:prstGeom prst="rect">
            <a:avLst/>
          </a:prstGeom>
          <a:noFill/>
          <a:ln/>
        </p:spPr>
        <p:txBody>
          <a:bodyPr wrap="square" lIns="0" tIns="0" rIns="0" bIns="0" rtlCol="0" anchor="t"/>
          <a:lstStyle/>
          <a:p>
            <a:pPr marL="0" indent="0">
              <a:spcAft>
                <a:spcPts val="400"/>
              </a:spcAft>
              <a:buNone/>
            </a:pPr>
            <a:r>
              <a:rPr lang="en-US" sz="1300" dirty="0">
                <a:solidFill>
                  <a:srgbClr val="16181D"/>
                </a:solidFill>
                <a:latin typeface="Inter Medium" pitchFamily="34" charset="0"/>
                <a:ea typeface="Inter Medium" pitchFamily="34" charset="-122"/>
                <a:cs typeface="Inter Medium" pitchFamily="34" charset="-120"/>
              </a:rPr>
              <a:t>Why not reuse Atlas with a new prompt?</a:t>
            </a:r>
            <a:endParaRPr lang="en-US" sz="1300" dirty="0"/>
          </a:p>
          <a:p>
            <a:pPr marL="0" indent="0">
              <a:spcAft>
                <a:spcPts val="400"/>
              </a:spcAft>
              <a:buNone/>
            </a:pPr>
            <a:r>
              <a:rPr lang="en-US" sz="1100" dirty="0">
                <a:solidFill>
                  <a:srgbClr val="5A5E63"/>
                </a:solidFill>
                <a:latin typeface="Inter" pitchFamily="34" charset="0"/>
                <a:ea typeface="Inter" pitchFamily="34" charset="-122"/>
                <a:cs typeface="Inter" pitchFamily="34" charset="-120"/>
              </a:rPr>
              <a:t>Atlas’s tone and policy-handling habits are learned into its adapter and would leak into other brands.</a:t>
            </a:r>
            <a:endParaRPr lang="en-US" sz="1300" dirty="0"/>
          </a:p>
        </p:txBody>
      </p:sp>
      <p:sp>
        <p:nvSpPr>
          <p:cNvPr id="68" name="Shape 66"/>
          <p:cNvSpPr/>
          <p:nvPr/>
        </p:nvSpPr>
        <p:spPr>
          <a:xfrm>
            <a:off x="9098280" y="4946904"/>
            <a:ext cx="118872" cy="118872"/>
          </a:xfrm>
          <a:prstGeom prst="rect">
            <a:avLst/>
          </a:prstGeom>
          <a:solidFill>
            <a:srgbClr val="6720FF"/>
          </a:solidFill>
          <a:ln/>
        </p:spPr>
      </p:sp>
      <p:sp>
        <p:nvSpPr>
          <p:cNvPr id="69" name="Text 67"/>
          <p:cNvSpPr txBox="1"/>
          <p:nvPr/>
        </p:nvSpPr>
        <p:spPr>
          <a:xfrm>
            <a:off x="9372600" y="4892040"/>
            <a:ext cx="2087575" cy="1234440"/>
          </a:xfrm>
          <a:prstGeom prst="rect">
            <a:avLst/>
          </a:prstGeom>
          <a:noFill/>
          <a:ln/>
        </p:spPr>
        <p:txBody>
          <a:bodyPr wrap="square" lIns="0" tIns="0" rIns="0" bIns="0" rtlCol="0" anchor="t"/>
          <a:lstStyle/>
          <a:p>
            <a:pPr marL="0" indent="0">
              <a:spcAft>
                <a:spcPts val="400"/>
              </a:spcAft>
              <a:buNone/>
            </a:pPr>
            <a:r>
              <a:rPr lang="en-US" sz="1300" dirty="0">
                <a:solidFill>
                  <a:srgbClr val="16181D"/>
                </a:solidFill>
                <a:latin typeface="Inter Medium" pitchFamily="34" charset="0"/>
                <a:ea typeface="Inter Medium" pitchFamily="34" charset="-122"/>
                <a:cs typeface="Inter Medium" pitchFamily="34" charset="-120"/>
              </a:rPr>
              <a:t>Why not five separate models?</a:t>
            </a:r>
            <a:endParaRPr lang="en-US" sz="1300" dirty="0"/>
          </a:p>
          <a:p>
            <a:pPr marL="0" indent="0">
              <a:spcAft>
                <a:spcPts val="400"/>
              </a:spcAft>
              <a:buNone/>
            </a:pPr>
            <a:r>
              <a:rPr lang="en-US" sz="1100" dirty="0">
                <a:solidFill>
                  <a:srgbClr val="5A5E63"/>
                </a:solidFill>
                <a:latin typeface="Inter" pitchFamily="34" charset="0"/>
                <a:ea typeface="Inter" pitchFamily="34" charset="-122"/>
                <a:cs typeface="Inter" pitchFamily="34" charset="-120"/>
              </a:rPr>
              <a:t>Five deployments to run and retrain, and the smaller brands lack the data to train them well.</a:t>
            </a:r>
            <a:endParaRPr lang="en-US" sz="1300" dirty="0"/>
          </a:p>
        </p:txBody>
      </p:sp>
      <p:sp>
        <p:nvSpPr>
          <p:cNvPr id="70"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ma14="http://schemas.microsoft.com/office/mac/drawingml/2011/main" xmlns=""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a:spLocks noGrp="1"/>
          </p:cNvSpPr>
          <p:nvPr>
            <p:ph type="body" idx="106" hasCustomPrompt="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Next steps</a:t>
            </a:r>
            <a:endParaRPr lang="en-US" sz="1100" dirty="0"/>
          </a:p>
        </p:txBody>
      </p:sp>
      <p:sp>
        <p:nvSpPr>
          <p:cNvPr id="3" name="Text 5"/>
          <p:cNvSpPr>
            <a:spLocks noGrp="1"/>
          </p:cNvSpPr>
          <p:nvPr>
            <p:ph type="title" idx="107" hasCustomPrompt="1"/>
          </p:nvPr>
        </p:nvSpPr>
        <p:spPr>
          <a:xfrm>
            <a:off x="731520" y="969264"/>
            <a:ext cx="10728655" cy="566928"/>
          </a:xfrm>
          <a:prstGeom prst="rect">
            <a:avLst/>
          </a:prstGeom>
          <a:noFill/>
          <a:ln/>
        </p:spPr>
        <p:txBody>
          <a:bodyPr wrap="square" lIns="0" tIns="0" rIns="0" bIns="0" rtlCol="0" anchor="t"/>
          <a:lstStyle/>
          <a:p>
            <a:pPr marL="0" indent="0" algn="l">
              <a:buNone/>
            </a:pPr>
            <a:r>
              <a:rPr lang="en-US" sz="2800" kern="0" spc="-70" dirty="0">
                <a:solidFill>
                  <a:srgbClr val="16181D"/>
                </a:solidFill>
                <a:latin typeface="Inter Medium" pitchFamily="34" charset="0"/>
                <a:ea typeface="Inter Medium" pitchFamily="34" charset="-122"/>
                <a:cs typeface="Inter Medium" pitchFamily="34" charset="-120"/>
              </a:rPr>
              <a:t>Ridgeline pilot: two arms, criteria agreed up front</a:t>
            </a:r>
            <a:endParaRPr lang="en-US" sz="2800" dirty="0"/>
          </a:p>
        </p:txBody>
      </p:sp>
      <p:sp>
        <p:nvSpPr>
          <p:cNvPr id="4" name="Text 5"/>
          <p:cNvSpPr>
            <a:spLocks noGrp="1"/>
          </p:cNvSpPr>
          <p:nvPr>
            <p:ph type="body" idx="108" hasCustomPrompt="1"/>
          </p:nvPr>
        </p:nvSpPr>
        <p:spPr>
          <a:xfrm>
            <a:off x="731520" y="1517904"/>
            <a:ext cx="10728655" cy="457200"/>
          </a:xfrm>
          <a:prstGeom prst="rect">
            <a:avLst/>
          </a:prstGeom>
          <a:noFill/>
          <a:ln/>
        </p:spPr>
        <p:txBody>
          <a:bodyPr wrap="square" lIns="0" tIns="0" rIns="0" bIns="0" rtlCol="0" anchor="t"/>
          <a:lstStyle/>
          <a:p>
            <a:pPr marL="0" indent="0">
              <a:buNone/>
            </a:pPr>
            <a:r>
              <a:rPr lang="en-US" sz="1300" dirty="0">
                <a:solidFill>
                  <a:srgbClr val="5A5E63"/>
                </a:solidFill>
                <a:latin typeface="Inter" pitchFamily="34" charset="0"/>
                <a:ea typeface="Inter" pitchFamily="34" charset="-122"/>
                <a:cs typeface="Inter" pitchFamily="34" charset="-120"/>
              </a:rPr>
              <a:t>Closest to Atlas in product and customer, on the same Zendesk tooling, at moderate volume: it tests tone and return-policy handling with limited exposure.</a:t>
            </a:r>
            <a:endParaRPr lang="en-US" sz="1300" dirty="0"/>
          </a:p>
        </p:txBody>
      </p:sp>
      <p:sp>
        <p:nvSpPr>
          <p:cNvPr id="5" name="arm-a"/>
          <p:cNvSpPr/>
          <p:nvPr/>
        </p:nvSpPr>
        <p:spPr>
          <a:xfrm>
            <a:off x="731520" y="2103120"/>
            <a:ext cx="4983480" cy="1783080"/>
          </a:xfrm>
          <a:prstGeom prst="roundRect">
            <a:avLst>
              <a:gd name="adj" fmla="val 6154"/>
            </a:avLst>
          </a:prstGeom>
          <a:solidFill>
            <a:srgbClr val="FFFFFF"/>
          </a:solidFill>
          <a:ln w="9525">
            <a:solidFill>
              <a:srgbClr val="E6EAF4"/>
            </a:solidFill>
            <a:prstDash val="solid"/>
          </a:ln>
        </p:spPr>
      </p:sp>
      <p:sp>
        <p:nvSpPr>
          <p:cNvPr id="6" name="Shape 4"/>
          <p:cNvSpPr/>
          <p:nvPr/>
        </p:nvSpPr>
        <p:spPr>
          <a:xfrm>
            <a:off x="960120" y="2322576"/>
            <a:ext cx="1488552" cy="237744"/>
          </a:xfrm>
          <a:prstGeom prst="rect">
            <a:avLst/>
          </a:prstGeom>
          <a:solidFill>
            <a:srgbClr val="1DA28F"/>
          </a:solidFill>
          <a:ln/>
        </p:spPr>
      </p:sp>
      <p:sp>
        <p:nvSpPr>
          <p:cNvPr id="7" name="Text 5"/>
          <p:cNvSpPr txBox="1"/>
          <p:nvPr/>
        </p:nvSpPr>
        <p:spPr>
          <a:xfrm>
            <a:off x="960120" y="2322576"/>
            <a:ext cx="1488552" cy="237744"/>
          </a:xfrm>
          <a:prstGeom prst="rect">
            <a:avLst/>
          </a:prstGeom>
          <a:noFill/>
          <a:ln/>
        </p:spPr>
        <p:txBody>
          <a:bodyPr wrap="square" lIns="0" tIns="0" rIns="0" bIns="0" rtlCol="0" anchor="ctr"/>
          <a:lstStyle/>
          <a:p>
            <a:pPr marL="0" indent="0" algn="ctr">
              <a:buNone/>
            </a:pPr>
            <a:r>
              <a:rPr lang="en-US" sz="950" dirty="0">
                <a:solidFill>
                  <a:srgbClr val="FFFFFF"/>
                </a:solidFill>
                <a:latin typeface="Inter Medium" pitchFamily="34" charset="0"/>
                <a:ea typeface="Inter Medium" pitchFamily="34" charset="-122"/>
                <a:cs typeface="Inter Medium" pitchFamily="34" charset="-120"/>
              </a:rPr>
              <a:t>Arm A · Lowest cost</a:t>
            </a:r>
            <a:endParaRPr lang="en-US" sz="950" dirty="0"/>
          </a:p>
        </p:txBody>
      </p:sp>
      <p:sp>
        <p:nvSpPr>
          <p:cNvPr id="8" name="Text 6"/>
          <p:cNvSpPr txBox="1"/>
          <p:nvPr/>
        </p:nvSpPr>
        <p:spPr>
          <a:xfrm>
            <a:off x="960120" y="2670048"/>
            <a:ext cx="4526280" cy="502920"/>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Base model + Ridgeline system prompt + Ridgeline knowledge index</a:t>
            </a:r>
            <a:endParaRPr lang="en-US" sz="1300" dirty="0"/>
          </a:p>
        </p:txBody>
      </p:sp>
      <p:sp>
        <p:nvSpPr>
          <p:cNvPr id="9" name="Text 7"/>
          <p:cNvSpPr txBox="1"/>
          <p:nvPr/>
        </p:nvSpPr>
        <p:spPr>
          <a:xfrm>
            <a:off x="960120" y="3200400"/>
            <a:ext cx="4526280" cy="548640"/>
          </a:xfrm>
          <a:prstGeom prst="rect">
            <a:avLst/>
          </a:prstGeom>
          <a:noFill/>
          <a:ln/>
        </p:spPr>
        <p:txBody>
          <a:bodyPr wrap="square" lIns="0" tIns="0" rIns="0" bIns="0" rtlCol="0" anchor="t"/>
          <a:lstStyle/>
          <a:p>
            <a:pPr marL="0" indent="0">
              <a:buNone/>
            </a:pPr>
            <a:r>
              <a:rPr lang="en-US" sz="1100" dirty="0">
                <a:solidFill>
                  <a:srgbClr val="5A5E63"/>
                </a:solidFill>
                <a:latin typeface="Inter" pitchFamily="34" charset="0"/>
                <a:ea typeface="Inter" pitchFamily="34" charset="-122"/>
                <a:cs typeface="Inter" pitchFamily="34" charset="-120"/>
              </a:rPr>
              <a:t>No brand-specific training. If it clears every criterion, no adapter is needed.</a:t>
            </a:r>
            <a:endParaRPr lang="en-US" sz="1100" dirty="0"/>
          </a:p>
        </p:txBody>
      </p:sp>
      <p:sp>
        <p:nvSpPr>
          <p:cNvPr id="10" name="arm-b"/>
          <p:cNvSpPr/>
          <p:nvPr/>
        </p:nvSpPr>
        <p:spPr>
          <a:xfrm>
            <a:off x="731520" y="4114800"/>
            <a:ext cx="4983480" cy="1783080"/>
          </a:xfrm>
          <a:prstGeom prst="roundRect">
            <a:avLst>
              <a:gd name="adj" fmla="val 6154"/>
            </a:avLst>
          </a:prstGeom>
          <a:solidFill>
            <a:srgbClr val="FAF7FF"/>
          </a:solidFill>
          <a:ln w="9525">
            <a:solidFill>
              <a:srgbClr val="9D72FE"/>
            </a:solidFill>
            <a:prstDash val="solid"/>
          </a:ln>
        </p:spPr>
      </p:sp>
      <p:sp>
        <p:nvSpPr>
          <p:cNvPr id="11" name="Shape 9"/>
          <p:cNvSpPr/>
          <p:nvPr/>
        </p:nvSpPr>
        <p:spPr>
          <a:xfrm>
            <a:off x="960120" y="4334256"/>
            <a:ext cx="1488552" cy="237744"/>
          </a:xfrm>
          <a:prstGeom prst="rect">
            <a:avLst/>
          </a:prstGeom>
          <a:solidFill>
            <a:srgbClr val="6720FF"/>
          </a:solidFill>
          <a:ln/>
        </p:spPr>
      </p:sp>
      <p:sp>
        <p:nvSpPr>
          <p:cNvPr id="12" name="Text 10"/>
          <p:cNvSpPr txBox="1"/>
          <p:nvPr/>
        </p:nvSpPr>
        <p:spPr>
          <a:xfrm>
            <a:off x="960120" y="4334256"/>
            <a:ext cx="1488552" cy="237744"/>
          </a:xfrm>
          <a:prstGeom prst="rect">
            <a:avLst/>
          </a:prstGeom>
          <a:noFill/>
          <a:ln/>
        </p:spPr>
        <p:txBody>
          <a:bodyPr wrap="square" lIns="0" tIns="0" rIns="0" bIns="0" rtlCol="0" anchor="ctr"/>
          <a:lstStyle/>
          <a:p>
            <a:pPr marL="0" indent="0" algn="ctr">
              <a:buNone/>
            </a:pPr>
            <a:r>
              <a:rPr lang="en-US" sz="950" dirty="0">
                <a:solidFill>
                  <a:srgbClr val="FFFFFF"/>
                </a:solidFill>
                <a:latin typeface="Inter Medium" pitchFamily="34" charset="0"/>
                <a:ea typeface="Inter Medium" pitchFamily="34" charset="-122"/>
                <a:cs typeface="Inter Medium" pitchFamily="34" charset="-120"/>
              </a:rPr>
              <a:t>Arm B · Brand-tuned</a:t>
            </a:r>
            <a:endParaRPr lang="en-US" sz="950" dirty="0"/>
          </a:p>
        </p:txBody>
      </p:sp>
      <p:sp>
        <p:nvSpPr>
          <p:cNvPr id="13" name="Text 11"/>
          <p:cNvSpPr txBox="1"/>
          <p:nvPr/>
        </p:nvSpPr>
        <p:spPr>
          <a:xfrm>
            <a:off x="960120" y="4681728"/>
            <a:ext cx="4526280" cy="502920"/>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Base model + Ridgeline adapter + Ridgeline system prompt + knowledge index</a:t>
            </a:r>
            <a:endParaRPr lang="en-US" sz="1300" dirty="0"/>
          </a:p>
        </p:txBody>
      </p:sp>
      <p:sp>
        <p:nvSpPr>
          <p:cNvPr id="14" name="Text 12"/>
          <p:cNvSpPr txBox="1"/>
          <p:nvPr/>
        </p:nvSpPr>
        <p:spPr>
          <a:xfrm>
            <a:off x="960120" y="5212080"/>
            <a:ext cx="4526280" cy="548640"/>
          </a:xfrm>
          <a:prstGeom prst="rect">
            <a:avLst/>
          </a:prstGeom>
          <a:noFill/>
          <a:ln/>
        </p:spPr>
        <p:txBody>
          <a:bodyPr wrap="square" lIns="0" tIns="0" rIns="0" bIns="0" rtlCol="0" anchor="t"/>
          <a:lstStyle/>
          <a:p>
            <a:pPr marL="0" indent="0">
              <a:buNone/>
            </a:pPr>
            <a:r>
              <a:rPr lang="en-US" sz="1100" dirty="0">
                <a:solidFill>
                  <a:srgbClr val="5A5E63"/>
                </a:solidFill>
                <a:latin typeface="Inter" pitchFamily="34" charset="0"/>
                <a:ea typeface="Inter" pitchFamily="34" charset="-122"/>
                <a:cs typeface="Inter" pitchFamily="34" charset="-120"/>
              </a:rPr>
              <a:t>Tone, workflow and policy-following learned from Ridgeline transcripts; policy facts stay in the knowledge index.</a:t>
            </a:r>
            <a:endParaRPr lang="en-US" sz="1100" dirty="0"/>
          </a:p>
        </p:txBody>
      </p:sp>
      <p:sp>
        <p:nvSpPr>
          <p:cNvPr id="15" name="Shape 13"/>
          <p:cNvSpPr/>
          <p:nvPr/>
        </p:nvSpPr>
        <p:spPr>
          <a:xfrm>
            <a:off x="6035040" y="2103120"/>
            <a:ext cx="5425135" cy="3127248"/>
          </a:xfrm>
          <a:prstGeom prst="roundRect">
            <a:avLst>
              <a:gd name="adj" fmla="val 3509"/>
            </a:avLst>
          </a:prstGeom>
          <a:solidFill>
            <a:srgbClr val="FFFFFF"/>
          </a:solidFill>
          <a:ln/>
        </p:spPr>
      </p:sp>
      <p:sp>
        <p:nvSpPr>
          <p:cNvPr id="16" name="Shape 14"/>
          <p:cNvSpPr/>
          <p:nvPr/>
        </p:nvSpPr>
        <p:spPr>
          <a:xfrm>
            <a:off x="6035040" y="2103120"/>
            <a:ext cx="5425135" cy="384048"/>
          </a:xfrm>
          <a:prstGeom prst="round2SameRect">
            <a:avLst/>
          </a:prstGeom>
          <a:solidFill>
            <a:srgbClr val="FAF7FF"/>
          </a:solidFill>
          <a:ln/>
        </p:spPr>
      </p:sp>
      <p:sp>
        <p:nvSpPr>
          <p:cNvPr id="17" name="Shape 15"/>
          <p:cNvSpPr/>
          <p:nvPr/>
        </p:nvSpPr>
        <p:spPr>
          <a:xfrm>
            <a:off x="6035040" y="2487168"/>
            <a:ext cx="5425135" cy="0"/>
          </a:xfrm>
          <a:prstGeom prst="line">
            <a:avLst/>
          </a:prstGeom>
          <a:noFill/>
          <a:ln w="9525">
            <a:solidFill>
              <a:srgbClr val="E6EAF4"/>
            </a:solidFill>
            <a:prstDash val="solid"/>
          </a:ln>
        </p:spPr>
      </p:sp>
      <p:sp>
        <p:nvSpPr>
          <p:cNvPr id="18" name="Text 16"/>
          <p:cNvSpPr txBox="1"/>
          <p:nvPr/>
        </p:nvSpPr>
        <p:spPr>
          <a:xfrm>
            <a:off x="6236208" y="2103120"/>
            <a:ext cx="2712568" cy="384048"/>
          </a:xfrm>
          <a:prstGeom prst="rect">
            <a:avLst/>
          </a:prstGeom>
          <a:noFill/>
          <a:ln/>
        </p:spPr>
        <p:txBody>
          <a:bodyPr wrap="square" lIns="0" tIns="0" rIns="0" bIns="0" rtlCol="0" anchor="ctr"/>
          <a:lstStyle/>
          <a:p>
            <a:pPr marL="0" indent="0">
              <a:buNone/>
            </a:pPr>
            <a:r>
              <a:rPr lang="en-US" sz="950" dirty="0">
                <a:solidFill>
                  <a:srgbClr val="5A5E63"/>
                </a:solidFill>
                <a:latin typeface="Inter Medium" pitchFamily="34" charset="0"/>
                <a:ea typeface="Inter Medium" pitchFamily="34" charset="-122"/>
                <a:cs typeface="Inter Medium" pitchFamily="34" charset="-120"/>
              </a:rPr>
              <a:t>Success criterion, four weeks</a:t>
            </a:r>
            <a:endParaRPr lang="en-US" sz="950" dirty="0"/>
          </a:p>
        </p:txBody>
      </p:sp>
      <p:sp>
        <p:nvSpPr>
          <p:cNvPr id="19" name="Text 17"/>
          <p:cNvSpPr txBox="1"/>
          <p:nvPr/>
        </p:nvSpPr>
        <p:spPr>
          <a:xfrm>
            <a:off x="8747608" y="2103120"/>
            <a:ext cx="2529688" cy="384048"/>
          </a:xfrm>
          <a:prstGeom prst="rect">
            <a:avLst/>
          </a:prstGeom>
          <a:noFill/>
          <a:ln/>
        </p:spPr>
        <p:txBody>
          <a:bodyPr wrap="square" lIns="0" tIns="0" rIns="0" bIns="0" rtlCol="0" anchor="ctr"/>
          <a:lstStyle/>
          <a:p>
            <a:pPr marL="0" indent="0">
              <a:buNone/>
            </a:pPr>
            <a:r>
              <a:rPr lang="en-US" sz="950" dirty="0">
                <a:solidFill>
                  <a:srgbClr val="5A5E63"/>
                </a:solidFill>
                <a:latin typeface="Inter Medium" pitchFamily="34" charset="0"/>
                <a:ea typeface="Inter Medium" pitchFamily="34" charset="-122"/>
                <a:cs typeface="Inter Medium" pitchFamily="34" charset="-120"/>
              </a:rPr>
              <a:t>Target</a:t>
            </a:r>
            <a:endParaRPr lang="en-US" sz="950" dirty="0"/>
          </a:p>
        </p:txBody>
      </p:sp>
      <p:sp>
        <p:nvSpPr>
          <p:cNvPr id="20" name="Text 18"/>
          <p:cNvSpPr txBox="1"/>
          <p:nvPr/>
        </p:nvSpPr>
        <p:spPr>
          <a:xfrm>
            <a:off x="6236208" y="2487168"/>
            <a:ext cx="2438248" cy="548640"/>
          </a:xfrm>
          <a:prstGeom prst="rect">
            <a:avLst/>
          </a:prstGeom>
          <a:noFill/>
          <a:ln/>
        </p:spPr>
        <p:txBody>
          <a:bodyPr wrap="square" lIns="0" tIns="0" rIns="0" bIns="0" rtlCol="0" anchor="ctr"/>
          <a:lstStyle/>
          <a:p>
            <a:pPr marL="0" indent="0">
              <a:buNone/>
            </a:pPr>
            <a:r>
              <a:rPr lang="en-US" sz="1150" dirty="0">
                <a:solidFill>
                  <a:srgbClr val="16181D"/>
                </a:solidFill>
                <a:latin typeface="Inter Medium" pitchFamily="34" charset="0"/>
                <a:ea typeface="Inter Medium" pitchFamily="34" charset="-122"/>
                <a:cs typeface="Inter Medium" pitchFamily="34" charset="-120"/>
              </a:rPr>
              <a:t>Grounded answers</a:t>
            </a:r>
            <a:endParaRPr lang="en-US" sz="1150" dirty="0"/>
          </a:p>
        </p:txBody>
      </p:sp>
      <p:sp>
        <p:nvSpPr>
          <p:cNvPr id="21" name="Text 19"/>
          <p:cNvSpPr txBox="1"/>
          <p:nvPr/>
        </p:nvSpPr>
        <p:spPr>
          <a:xfrm>
            <a:off x="8747608" y="2487168"/>
            <a:ext cx="2529688" cy="548640"/>
          </a:xfrm>
          <a:prstGeom prst="rect">
            <a:avLst/>
          </a:prstGeom>
          <a:noFill/>
          <a:ln/>
        </p:spPr>
        <p:txBody>
          <a:bodyPr wrap="square" lIns="0" tIns="0" rIns="0" bIns="0" rtlCol="0" anchor="ctr"/>
          <a:lstStyle/>
          <a:p>
            <a:pPr marL="0" indent="0">
              <a:buNone/>
            </a:pPr>
            <a:r>
              <a:rPr lang="en-US" sz="1150" dirty="0">
                <a:solidFill>
                  <a:srgbClr val="28282E"/>
                </a:solidFill>
                <a:latin typeface="Inter" pitchFamily="34" charset="0"/>
                <a:ea typeface="Inter" pitchFamily="34" charset="-122"/>
                <a:cs typeface="Inter" pitchFamily="34" charset="-120"/>
              </a:rPr>
              <a:t>≥ 95%</a:t>
            </a:r>
            <a:endParaRPr lang="en-US" sz="1150" dirty="0"/>
          </a:p>
        </p:txBody>
      </p:sp>
      <p:sp>
        <p:nvSpPr>
          <p:cNvPr id="22" name="Shape 20"/>
          <p:cNvSpPr/>
          <p:nvPr/>
        </p:nvSpPr>
        <p:spPr>
          <a:xfrm>
            <a:off x="6035040" y="3035808"/>
            <a:ext cx="5425135" cy="0"/>
          </a:xfrm>
          <a:prstGeom prst="line">
            <a:avLst/>
          </a:prstGeom>
          <a:noFill/>
          <a:ln w="9525">
            <a:solidFill>
              <a:srgbClr val="E6EAF4"/>
            </a:solidFill>
            <a:prstDash val="solid"/>
          </a:ln>
        </p:spPr>
      </p:sp>
      <p:sp>
        <p:nvSpPr>
          <p:cNvPr id="23" name="Text 21"/>
          <p:cNvSpPr txBox="1"/>
          <p:nvPr/>
        </p:nvSpPr>
        <p:spPr>
          <a:xfrm>
            <a:off x="6236208" y="3035808"/>
            <a:ext cx="2438248" cy="548640"/>
          </a:xfrm>
          <a:prstGeom prst="rect">
            <a:avLst/>
          </a:prstGeom>
          <a:noFill/>
          <a:ln/>
        </p:spPr>
        <p:txBody>
          <a:bodyPr wrap="square" lIns="0" tIns="0" rIns="0" bIns="0" rtlCol="0" anchor="ctr"/>
          <a:lstStyle/>
          <a:p>
            <a:pPr marL="0" indent="0">
              <a:buNone/>
            </a:pPr>
            <a:r>
              <a:rPr lang="en-US" sz="1150" dirty="0">
                <a:solidFill>
                  <a:srgbClr val="16181D"/>
                </a:solidFill>
                <a:latin typeface="Inter Medium" pitchFamily="34" charset="0"/>
                <a:ea typeface="Inter Medium" pitchFamily="34" charset="-122"/>
                <a:cs typeface="Inter Medium" pitchFamily="34" charset="-120"/>
              </a:rPr>
              <a:t>Eval pass rate</a:t>
            </a:r>
            <a:endParaRPr lang="en-US" sz="1150" dirty="0"/>
          </a:p>
        </p:txBody>
      </p:sp>
      <p:sp>
        <p:nvSpPr>
          <p:cNvPr id="24" name="Text 22"/>
          <p:cNvSpPr txBox="1"/>
          <p:nvPr/>
        </p:nvSpPr>
        <p:spPr>
          <a:xfrm>
            <a:off x="8747608" y="3035808"/>
            <a:ext cx="2529688" cy="548640"/>
          </a:xfrm>
          <a:prstGeom prst="rect">
            <a:avLst/>
          </a:prstGeom>
          <a:noFill/>
          <a:ln/>
        </p:spPr>
        <p:txBody>
          <a:bodyPr wrap="square" lIns="0" tIns="0" rIns="0" bIns="0" rtlCol="0" anchor="ctr"/>
          <a:lstStyle/>
          <a:p>
            <a:pPr marL="0" indent="0">
              <a:buNone/>
            </a:pPr>
            <a:r>
              <a:rPr lang="en-US" sz="1150" dirty="0">
                <a:solidFill>
                  <a:srgbClr val="28282E"/>
                </a:solidFill>
                <a:latin typeface="Inter" pitchFamily="34" charset="0"/>
                <a:ea typeface="Inter" pitchFamily="34" charset="-122"/>
                <a:cs typeface="Inter" pitchFamily="34" charset="-120"/>
              </a:rPr>
              <a:t>≥ 93%</a:t>
            </a:r>
            <a:endParaRPr lang="en-US" sz="1150" dirty="0"/>
          </a:p>
        </p:txBody>
      </p:sp>
      <p:sp>
        <p:nvSpPr>
          <p:cNvPr id="25" name="Shape 23"/>
          <p:cNvSpPr/>
          <p:nvPr/>
        </p:nvSpPr>
        <p:spPr>
          <a:xfrm>
            <a:off x="6035040" y="3584448"/>
            <a:ext cx="5425135" cy="0"/>
          </a:xfrm>
          <a:prstGeom prst="line">
            <a:avLst/>
          </a:prstGeom>
          <a:noFill/>
          <a:ln w="9525">
            <a:solidFill>
              <a:srgbClr val="E6EAF4"/>
            </a:solidFill>
            <a:prstDash val="solid"/>
          </a:ln>
        </p:spPr>
      </p:sp>
      <p:sp>
        <p:nvSpPr>
          <p:cNvPr id="26" name="Text 24"/>
          <p:cNvSpPr txBox="1"/>
          <p:nvPr/>
        </p:nvSpPr>
        <p:spPr>
          <a:xfrm>
            <a:off x="6236208" y="3584448"/>
            <a:ext cx="2438248" cy="548640"/>
          </a:xfrm>
          <a:prstGeom prst="rect">
            <a:avLst/>
          </a:prstGeom>
          <a:noFill/>
          <a:ln/>
        </p:spPr>
        <p:txBody>
          <a:bodyPr wrap="square" lIns="0" tIns="0" rIns="0" bIns="0" rtlCol="0" anchor="ctr"/>
          <a:lstStyle/>
          <a:p>
            <a:pPr marL="0" indent="0">
              <a:buNone/>
            </a:pPr>
            <a:r>
              <a:rPr lang="en-US" sz="1150" dirty="0">
                <a:solidFill>
                  <a:srgbClr val="16181D"/>
                </a:solidFill>
                <a:latin typeface="Inter Medium" pitchFamily="34" charset="0"/>
                <a:ea typeface="Inter Medium" pitchFamily="34" charset="-122"/>
                <a:cs typeface="Inter Medium" pitchFamily="34" charset="-120"/>
              </a:rPr>
              <a:t>Escalation rate</a:t>
            </a:r>
            <a:endParaRPr lang="en-US" sz="1150" dirty="0"/>
          </a:p>
        </p:txBody>
      </p:sp>
      <p:sp>
        <p:nvSpPr>
          <p:cNvPr id="27" name="Text 25"/>
          <p:cNvSpPr txBox="1"/>
          <p:nvPr/>
        </p:nvSpPr>
        <p:spPr>
          <a:xfrm>
            <a:off x="8747608" y="3584448"/>
            <a:ext cx="2529688" cy="548640"/>
          </a:xfrm>
          <a:prstGeom prst="rect">
            <a:avLst/>
          </a:prstGeom>
          <a:noFill/>
          <a:ln/>
        </p:spPr>
        <p:txBody>
          <a:bodyPr wrap="square" lIns="0" tIns="0" rIns="0" bIns="0" rtlCol="0" anchor="ctr"/>
          <a:lstStyle/>
          <a:p>
            <a:pPr marL="0" indent="0">
              <a:buNone/>
            </a:pPr>
            <a:r>
              <a:rPr lang="en-US" sz="1150" dirty="0">
                <a:solidFill>
                  <a:srgbClr val="28282E"/>
                </a:solidFill>
                <a:latin typeface="Inter" pitchFamily="34" charset="0"/>
                <a:ea typeface="Inter" pitchFamily="34" charset="-122"/>
                <a:cs typeface="Inter" pitchFamily="34" charset="-120"/>
              </a:rPr>
              <a:t>≤ 12%</a:t>
            </a:r>
            <a:endParaRPr lang="en-US" sz="1150" dirty="0"/>
          </a:p>
        </p:txBody>
      </p:sp>
      <p:sp>
        <p:nvSpPr>
          <p:cNvPr id="28" name="Shape 26"/>
          <p:cNvSpPr/>
          <p:nvPr/>
        </p:nvSpPr>
        <p:spPr>
          <a:xfrm>
            <a:off x="6035040" y="4133088"/>
            <a:ext cx="5425135" cy="0"/>
          </a:xfrm>
          <a:prstGeom prst="line">
            <a:avLst/>
          </a:prstGeom>
          <a:noFill/>
          <a:ln w="9525">
            <a:solidFill>
              <a:srgbClr val="E6EAF4"/>
            </a:solidFill>
            <a:prstDash val="solid"/>
          </a:ln>
        </p:spPr>
      </p:sp>
      <p:sp>
        <p:nvSpPr>
          <p:cNvPr id="29" name="Text 27"/>
          <p:cNvSpPr txBox="1"/>
          <p:nvPr/>
        </p:nvSpPr>
        <p:spPr>
          <a:xfrm>
            <a:off x="6236208" y="4133088"/>
            <a:ext cx="2438248" cy="548640"/>
          </a:xfrm>
          <a:prstGeom prst="rect">
            <a:avLst/>
          </a:prstGeom>
          <a:noFill/>
          <a:ln/>
        </p:spPr>
        <p:txBody>
          <a:bodyPr wrap="square" lIns="0" tIns="0" rIns="0" bIns="0" rtlCol="0" anchor="ctr"/>
          <a:lstStyle/>
          <a:p>
            <a:pPr marL="0" indent="0">
              <a:buNone/>
            </a:pPr>
            <a:r>
              <a:rPr lang="en-US" sz="1150" dirty="0">
                <a:solidFill>
                  <a:srgbClr val="16181D"/>
                </a:solidFill>
                <a:latin typeface="Inter Medium" pitchFamily="34" charset="0"/>
                <a:ea typeface="Inter Medium" pitchFamily="34" charset="-122"/>
                <a:cs typeface="Inter Medium" pitchFamily="34" charset="-120"/>
              </a:rPr>
              <a:t>CSAT</a:t>
            </a:r>
            <a:endParaRPr lang="en-US" sz="1150" dirty="0"/>
          </a:p>
        </p:txBody>
      </p:sp>
      <p:sp>
        <p:nvSpPr>
          <p:cNvPr id="30" name="Text 28"/>
          <p:cNvSpPr txBox="1"/>
          <p:nvPr/>
        </p:nvSpPr>
        <p:spPr>
          <a:xfrm>
            <a:off x="8747608" y="4133088"/>
            <a:ext cx="2529688" cy="548640"/>
          </a:xfrm>
          <a:prstGeom prst="rect">
            <a:avLst/>
          </a:prstGeom>
          <a:noFill/>
          <a:ln/>
        </p:spPr>
        <p:txBody>
          <a:bodyPr wrap="square" lIns="0" tIns="0" rIns="0" bIns="0" rtlCol="0" anchor="ctr"/>
          <a:lstStyle/>
          <a:p>
            <a:pPr marL="0" indent="0">
              <a:buNone/>
            </a:pPr>
            <a:r>
              <a:rPr lang="en-US" sz="1150" dirty="0">
                <a:solidFill>
                  <a:srgbClr val="28282E"/>
                </a:solidFill>
                <a:latin typeface="Inter" pitchFamily="34" charset="0"/>
                <a:ea typeface="Inter" pitchFamily="34" charset="-122"/>
                <a:cs typeface="Inter" pitchFamily="34" charset="-120"/>
              </a:rPr>
              <a:t>≥ Atlas final week (83.7)</a:t>
            </a:r>
            <a:endParaRPr lang="en-US" sz="1150" dirty="0"/>
          </a:p>
        </p:txBody>
      </p:sp>
      <p:sp>
        <p:nvSpPr>
          <p:cNvPr id="31" name="Shape 29"/>
          <p:cNvSpPr/>
          <p:nvPr/>
        </p:nvSpPr>
        <p:spPr>
          <a:xfrm>
            <a:off x="6035040" y="4681728"/>
            <a:ext cx="5425135" cy="0"/>
          </a:xfrm>
          <a:prstGeom prst="line">
            <a:avLst/>
          </a:prstGeom>
          <a:noFill/>
          <a:ln w="9525">
            <a:solidFill>
              <a:srgbClr val="E6EAF4"/>
            </a:solidFill>
            <a:prstDash val="solid"/>
          </a:ln>
        </p:spPr>
      </p:sp>
      <p:sp>
        <p:nvSpPr>
          <p:cNvPr id="32" name="Text 30"/>
          <p:cNvSpPr txBox="1"/>
          <p:nvPr/>
        </p:nvSpPr>
        <p:spPr>
          <a:xfrm>
            <a:off x="6236208" y="4681728"/>
            <a:ext cx="2438248" cy="548640"/>
          </a:xfrm>
          <a:prstGeom prst="rect">
            <a:avLst/>
          </a:prstGeom>
          <a:noFill/>
          <a:ln/>
        </p:spPr>
        <p:txBody>
          <a:bodyPr wrap="square" lIns="0" tIns="0" rIns="0" bIns="0" rtlCol="0" anchor="ctr"/>
          <a:lstStyle/>
          <a:p>
            <a:pPr marL="0" indent="0">
              <a:buNone/>
            </a:pPr>
            <a:r>
              <a:rPr lang="en-US" sz="1150" dirty="0">
                <a:solidFill>
                  <a:srgbClr val="16181D"/>
                </a:solidFill>
                <a:latin typeface="Inter Medium" pitchFamily="34" charset="0"/>
                <a:ea typeface="Inter Medium" pitchFamily="34" charset="-122"/>
                <a:cs typeface="Inter Medium" pitchFamily="34" charset="-120"/>
              </a:rPr>
              <a:t>P95 latency</a:t>
            </a:r>
            <a:endParaRPr lang="en-US" sz="1150" dirty="0"/>
          </a:p>
        </p:txBody>
      </p:sp>
      <p:sp>
        <p:nvSpPr>
          <p:cNvPr id="33" name="Text 31"/>
          <p:cNvSpPr txBox="1"/>
          <p:nvPr/>
        </p:nvSpPr>
        <p:spPr>
          <a:xfrm>
            <a:off x="8747608" y="4681728"/>
            <a:ext cx="2529688" cy="548640"/>
          </a:xfrm>
          <a:prstGeom prst="rect">
            <a:avLst/>
          </a:prstGeom>
          <a:noFill/>
          <a:ln/>
        </p:spPr>
        <p:txBody>
          <a:bodyPr wrap="square" lIns="0" tIns="0" rIns="0" bIns="0" rtlCol="0" anchor="ctr"/>
          <a:lstStyle/>
          <a:p>
            <a:pPr marL="0" indent="0">
              <a:buNone/>
            </a:pPr>
            <a:r>
              <a:rPr lang="en-US" sz="1150" dirty="0">
                <a:solidFill>
                  <a:srgbClr val="28282E"/>
                </a:solidFill>
                <a:latin typeface="Inter" pitchFamily="34" charset="0"/>
                <a:ea typeface="Inter" pitchFamily="34" charset="-122"/>
                <a:cs typeface="Inter" pitchFamily="34" charset="-120"/>
              </a:rPr>
              <a:t>≤ 1.3 s, held through one promotion peak</a:t>
            </a:r>
            <a:endParaRPr lang="en-US" sz="1150" dirty="0"/>
          </a:p>
        </p:txBody>
      </p:sp>
      <p:sp>
        <p:nvSpPr>
          <p:cNvPr id="34" name="pilot-criteria"/>
          <p:cNvSpPr/>
          <p:nvPr/>
        </p:nvSpPr>
        <p:spPr>
          <a:xfrm>
            <a:off x="6035040" y="2103120"/>
            <a:ext cx="5425135" cy="3127248"/>
          </a:xfrm>
          <a:prstGeom prst="roundRect">
            <a:avLst>
              <a:gd name="adj" fmla="val 3509"/>
            </a:avLst>
          </a:prstGeom>
          <a:ln w="9525">
            <a:solidFill>
              <a:srgbClr val="E6EAF4"/>
            </a:solidFill>
            <a:prstDash val="solid"/>
          </a:ln>
        </p:spPr>
      </p:sp>
      <p:sp>
        <p:nvSpPr>
          <p:cNvPr id="35" name="Text 33"/>
          <p:cNvSpPr txBox="1"/>
          <p:nvPr/>
        </p:nvSpPr>
        <p:spPr>
          <a:xfrm>
            <a:off x="6035040" y="5394960"/>
            <a:ext cx="5425135" cy="566928"/>
          </a:xfrm>
          <a:prstGeom prst="rect">
            <a:avLst/>
          </a:prstGeom>
          <a:noFill/>
          <a:ln/>
        </p:spPr>
        <p:txBody>
          <a:bodyPr wrap="square" lIns="0" tIns="0" rIns="0" bIns="0" rtlCol="0" anchor="t"/>
          <a:lstStyle/>
          <a:p>
            <a:pPr marL="0" indent="0">
              <a:buNone/>
            </a:pPr>
            <a:r>
              <a:rPr lang="en-US" sz="1000" dirty="0">
                <a:solidFill>
                  <a:srgbClr val="5A5E63"/>
                </a:solidFill>
                <a:latin typeface="Inter" pitchFamily="34" charset="0"/>
                <a:ea typeface="Inter" pitchFamily="34" charset="-122"/>
                <a:cs typeface="Inter" pitchFamily="34" charset="-120"/>
              </a:rPr>
              <a:t>Wave 2 goes ahead when one arm clears every criterion. The arm is chosen on quality, and Ridgeline’s handle-time and CSAT baselines are captured before launch so the uplift is measured directly.</a:t>
            </a:r>
            <a:endParaRPr lang="en-US" sz="1000" dirty="0"/>
          </a:p>
        </p:txBody>
      </p:sp>
      <p:sp>
        <p:nvSpPr>
          <p:cNvPr id="36"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ma14="http://schemas.microsoft.com/office/mac/drawingml/2011/main" xmlns=""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a:spLocks noGrp="1"/>
          </p:cNvSpPr>
          <p:nvPr>
            <p:ph type="body" idx="106" hasCustomPrompt="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Next steps</a:t>
            </a:r>
            <a:endParaRPr lang="en-US" sz="1100" dirty="0"/>
          </a:p>
        </p:txBody>
      </p:sp>
      <p:sp>
        <p:nvSpPr>
          <p:cNvPr id="3" name="Text 5"/>
          <p:cNvSpPr>
            <a:spLocks noGrp="1"/>
          </p:cNvSpPr>
          <p:nvPr>
            <p:ph type="title" idx="107" hasCustomPrompt="1"/>
          </p:nvPr>
        </p:nvSpPr>
        <p:spPr>
          <a:xfrm>
            <a:off x="731520" y="969264"/>
            <a:ext cx="10728655" cy="566928"/>
          </a:xfrm>
          <a:prstGeom prst="rect">
            <a:avLst/>
          </a:prstGeom>
          <a:noFill/>
          <a:ln/>
        </p:spPr>
        <p:txBody>
          <a:bodyPr wrap="square" lIns="0" tIns="0" rIns="0" bIns="0" rtlCol="0" anchor="t"/>
          <a:lstStyle/>
          <a:p>
            <a:pPr marL="0" indent="0" algn="l">
              <a:buNone/>
            </a:pPr>
            <a:r>
              <a:rPr lang="en-US" sz="2800" kern="0" spc="-70" dirty="0">
                <a:solidFill>
                  <a:srgbClr val="16181D"/>
                </a:solidFill>
                <a:latin typeface="Inter Medium" pitchFamily="34" charset="0"/>
                <a:ea typeface="Inter Medium" pitchFamily="34" charset="-122"/>
                <a:cs typeface="Inter Medium" pitchFamily="34" charset="-120"/>
              </a:rPr>
              <a:t>From pilot to five brands by mid-2027</a:t>
            </a:r>
            <a:endParaRPr lang="en-US" sz="2800" dirty="0"/>
          </a:p>
        </p:txBody>
      </p:sp>
      <p:sp>
        <p:nvSpPr>
          <p:cNvPr id="4" name="Text 5"/>
          <p:cNvSpPr>
            <a:spLocks noGrp="1"/>
          </p:cNvSpPr>
          <p:nvPr>
            <p:ph type="body" idx="108" hasCustomPrompt="1"/>
          </p:nvPr>
        </p:nvSpPr>
        <p:spPr>
          <a:xfrm>
            <a:off x="731520" y="1517904"/>
            <a:ext cx="10728655" cy="457200"/>
          </a:xfrm>
          <a:prstGeom prst="rect">
            <a:avLst/>
          </a:prstGeom>
          <a:noFill/>
          <a:ln/>
        </p:spPr>
        <p:txBody>
          <a:bodyPr wrap="square" lIns="0" tIns="0" rIns="0" bIns="0" rtlCol="0" anchor="t"/>
          <a:lstStyle/>
          <a:p>
            <a:pPr marL="0" indent="0">
              <a:buNone/>
            </a:pPr>
            <a:r>
              <a:rPr lang="en-US" sz="1300" dirty="0">
                <a:solidFill>
                  <a:srgbClr val="5A5E63"/>
                </a:solidFill>
                <a:latin typeface="Inter" pitchFamily="34" charset="0"/>
                <a:ea typeface="Inter" pitchFamily="34" charset="-122"/>
                <a:cs typeface="Inter" pitchFamily="34" charset="-120"/>
              </a:rPr>
              <a:t>Each step has a gate; wave 2 starts only after the pilot readout.</a:t>
            </a:r>
            <a:endParaRPr lang="en-US" sz="1300" dirty="0"/>
          </a:p>
        </p:txBody>
      </p:sp>
      <p:sp>
        <p:nvSpPr>
          <p:cNvPr id="5" name="Shape 3"/>
          <p:cNvSpPr/>
          <p:nvPr/>
        </p:nvSpPr>
        <p:spPr>
          <a:xfrm>
            <a:off x="731520" y="2368296"/>
            <a:ext cx="10728655" cy="0"/>
          </a:xfrm>
          <a:prstGeom prst="line">
            <a:avLst/>
          </a:prstGeom>
          <a:noFill/>
          <a:ln w="19050">
            <a:solidFill>
              <a:srgbClr val="E6EAF4"/>
            </a:solidFill>
            <a:prstDash val="solid"/>
          </a:ln>
        </p:spPr>
      </p:sp>
      <p:sp>
        <p:nvSpPr>
          <p:cNvPr id="6" name="Shape 4"/>
          <p:cNvSpPr/>
          <p:nvPr/>
        </p:nvSpPr>
        <p:spPr>
          <a:xfrm>
            <a:off x="731520" y="2286000"/>
            <a:ext cx="164592" cy="164592"/>
          </a:xfrm>
          <a:prstGeom prst="rect">
            <a:avLst/>
          </a:prstGeom>
          <a:solidFill>
            <a:srgbClr val="6720FF"/>
          </a:solidFill>
          <a:ln/>
        </p:spPr>
      </p:sp>
      <p:sp>
        <p:nvSpPr>
          <p:cNvPr id="7" name="Text 5"/>
          <p:cNvSpPr txBox="1"/>
          <p:nvPr/>
        </p:nvSpPr>
        <p:spPr>
          <a:xfrm>
            <a:off x="731520" y="2615184"/>
            <a:ext cx="1605229" cy="256032"/>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Oct 2026</a:t>
            </a:r>
            <a:endParaRPr lang="en-US" sz="1300" dirty="0"/>
          </a:p>
        </p:txBody>
      </p:sp>
      <p:sp>
        <p:nvSpPr>
          <p:cNvPr id="8" name="Text 6"/>
          <p:cNvSpPr txBox="1"/>
          <p:nvPr/>
        </p:nvSpPr>
        <p:spPr>
          <a:xfrm>
            <a:off x="731520" y="2907792"/>
            <a:ext cx="1559509" cy="731520"/>
          </a:xfrm>
          <a:prstGeom prst="rect">
            <a:avLst/>
          </a:prstGeom>
          <a:noFill/>
          <a:ln/>
        </p:spPr>
        <p:txBody>
          <a:bodyPr wrap="square" lIns="0" tIns="0" rIns="0" bIns="0" rtlCol="0" anchor="t"/>
          <a:lstStyle/>
          <a:p>
            <a:pPr marL="0" indent="0">
              <a:buNone/>
            </a:pPr>
            <a:r>
              <a:rPr lang="en-US" sz="1050" dirty="0">
                <a:solidFill>
                  <a:srgbClr val="5A5E63"/>
                </a:solidFill>
                <a:latin typeface="Inter" pitchFamily="34" charset="0"/>
                <a:ea typeface="Inter" pitchFamily="34" charset="-122"/>
                <a:cs typeface="Inter" pitchFamily="34" charset="-120"/>
              </a:rPr>
              <a:t>Executive review, sponsor and dependencies</a:t>
            </a:r>
            <a:endParaRPr lang="en-US" sz="1050" dirty="0"/>
          </a:p>
        </p:txBody>
      </p:sp>
      <p:sp>
        <p:nvSpPr>
          <p:cNvPr id="9" name="Shape 7"/>
          <p:cNvSpPr/>
          <p:nvPr/>
        </p:nvSpPr>
        <p:spPr>
          <a:xfrm>
            <a:off x="2519629" y="2286000"/>
            <a:ext cx="164592" cy="164592"/>
          </a:xfrm>
          <a:prstGeom prst="rect">
            <a:avLst/>
          </a:prstGeom>
          <a:solidFill>
            <a:srgbClr val="6720FF"/>
          </a:solidFill>
          <a:ln/>
        </p:spPr>
      </p:sp>
      <p:sp>
        <p:nvSpPr>
          <p:cNvPr id="10" name="Text 8"/>
          <p:cNvSpPr txBox="1"/>
          <p:nvPr/>
        </p:nvSpPr>
        <p:spPr>
          <a:xfrm>
            <a:off x="2519629" y="2615184"/>
            <a:ext cx="1605229" cy="256032"/>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Nov 2026</a:t>
            </a:r>
            <a:endParaRPr lang="en-US" sz="1300" dirty="0"/>
          </a:p>
        </p:txBody>
      </p:sp>
      <p:sp>
        <p:nvSpPr>
          <p:cNvPr id="11" name="Text 9"/>
          <p:cNvSpPr txBox="1"/>
          <p:nvPr/>
        </p:nvSpPr>
        <p:spPr>
          <a:xfrm>
            <a:off x="2519629" y="2907792"/>
            <a:ext cx="1559509" cy="731520"/>
          </a:xfrm>
          <a:prstGeom prst="rect">
            <a:avLst/>
          </a:prstGeom>
          <a:noFill/>
          <a:ln/>
        </p:spPr>
        <p:txBody>
          <a:bodyPr wrap="square" lIns="0" tIns="0" rIns="0" bIns="0" rtlCol="0" anchor="t"/>
          <a:lstStyle/>
          <a:p>
            <a:pPr marL="0" indent="0">
              <a:buNone/>
            </a:pPr>
            <a:r>
              <a:rPr lang="en-US" sz="1050" dirty="0">
                <a:solidFill>
                  <a:srgbClr val="5A5E63"/>
                </a:solidFill>
                <a:latin typeface="Inter" pitchFamily="34" charset="0"/>
                <a:ea typeface="Inter" pitchFamily="34" charset="-122"/>
                <a:cs typeface="Inter" pitchFamily="34" charset="-120"/>
              </a:rPr>
              <a:t>Shared deployment live; Atlas parity; Ridgeline adapter</a:t>
            </a:r>
            <a:endParaRPr lang="en-US" sz="1050" dirty="0"/>
          </a:p>
        </p:txBody>
      </p:sp>
      <p:sp>
        <p:nvSpPr>
          <p:cNvPr id="12" name="Shape 10"/>
          <p:cNvSpPr/>
          <p:nvPr/>
        </p:nvSpPr>
        <p:spPr>
          <a:xfrm>
            <a:off x="4307738" y="2286000"/>
            <a:ext cx="164592" cy="164592"/>
          </a:xfrm>
          <a:prstGeom prst="rect">
            <a:avLst/>
          </a:prstGeom>
          <a:solidFill>
            <a:srgbClr val="6720FF"/>
          </a:solidFill>
          <a:ln/>
        </p:spPr>
      </p:sp>
      <p:sp>
        <p:nvSpPr>
          <p:cNvPr id="13" name="Text 11"/>
          <p:cNvSpPr txBox="1"/>
          <p:nvPr/>
        </p:nvSpPr>
        <p:spPr>
          <a:xfrm>
            <a:off x="4307738" y="2615184"/>
            <a:ext cx="1605229" cy="256032"/>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Nov–Dec</a:t>
            </a:r>
            <a:endParaRPr lang="en-US" sz="1300" dirty="0"/>
          </a:p>
        </p:txBody>
      </p:sp>
      <p:sp>
        <p:nvSpPr>
          <p:cNvPr id="14" name="Text 12"/>
          <p:cNvSpPr txBox="1"/>
          <p:nvPr/>
        </p:nvSpPr>
        <p:spPr>
          <a:xfrm>
            <a:off x="4307738" y="2907792"/>
            <a:ext cx="1559509" cy="731520"/>
          </a:xfrm>
          <a:prstGeom prst="rect">
            <a:avLst/>
          </a:prstGeom>
          <a:noFill/>
          <a:ln/>
        </p:spPr>
        <p:txBody>
          <a:bodyPr wrap="square" lIns="0" tIns="0" rIns="0" bIns="0" rtlCol="0" anchor="t"/>
          <a:lstStyle/>
          <a:p>
            <a:pPr marL="0" indent="0">
              <a:buNone/>
            </a:pPr>
            <a:r>
              <a:rPr lang="en-US" sz="1050" dirty="0">
                <a:solidFill>
                  <a:srgbClr val="5A5E63"/>
                </a:solidFill>
                <a:latin typeface="Inter" pitchFamily="34" charset="0"/>
                <a:ea typeface="Inter" pitchFamily="34" charset="-122"/>
                <a:cs typeface="Inter" pitchFamily="34" charset="-120"/>
              </a:rPr>
              <a:t>Ridgeline pilot, four weeks</a:t>
            </a:r>
            <a:endParaRPr lang="en-US" sz="1050" dirty="0"/>
          </a:p>
        </p:txBody>
      </p:sp>
      <p:sp>
        <p:nvSpPr>
          <p:cNvPr id="15" name="Shape 13"/>
          <p:cNvSpPr/>
          <p:nvPr/>
        </p:nvSpPr>
        <p:spPr>
          <a:xfrm>
            <a:off x="6095848" y="2286000"/>
            <a:ext cx="164592" cy="164592"/>
          </a:xfrm>
          <a:prstGeom prst="rect">
            <a:avLst/>
          </a:prstGeom>
          <a:solidFill>
            <a:srgbClr val="6720FF"/>
          </a:solidFill>
          <a:ln/>
        </p:spPr>
      </p:sp>
      <p:sp>
        <p:nvSpPr>
          <p:cNvPr id="16" name="Text 14"/>
          <p:cNvSpPr txBox="1"/>
          <p:nvPr/>
        </p:nvSpPr>
        <p:spPr>
          <a:xfrm>
            <a:off x="6095848" y="2615184"/>
            <a:ext cx="1605229" cy="256032"/>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Jan 2027</a:t>
            </a:r>
            <a:endParaRPr lang="en-US" sz="1300" dirty="0"/>
          </a:p>
        </p:txBody>
      </p:sp>
      <p:sp>
        <p:nvSpPr>
          <p:cNvPr id="17" name="Text 15"/>
          <p:cNvSpPr txBox="1"/>
          <p:nvPr/>
        </p:nvSpPr>
        <p:spPr>
          <a:xfrm>
            <a:off x="6095848" y="2907792"/>
            <a:ext cx="1559509" cy="731520"/>
          </a:xfrm>
          <a:prstGeom prst="rect">
            <a:avLst/>
          </a:prstGeom>
          <a:noFill/>
          <a:ln/>
        </p:spPr>
        <p:txBody>
          <a:bodyPr wrap="square" lIns="0" tIns="0" rIns="0" bIns="0" rtlCol="0" anchor="t"/>
          <a:lstStyle/>
          <a:p>
            <a:pPr marL="0" indent="0">
              <a:buNone/>
            </a:pPr>
            <a:r>
              <a:rPr lang="en-US" sz="1050" dirty="0">
                <a:solidFill>
                  <a:srgbClr val="5A5E63"/>
                </a:solidFill>
                <a:latin typeface="Inter" pitchFamily="34" charset="0"/>
                <a:ea typeface="Inter" pitchFamily="34" charset="-122"/>
                <a:cs typeface="Inter" pitchFamily="34" charset="-120"/>
              </a:rPr>
              <a:t>Readout and wave-2 decision</a:t>
            </a:r>
            <a:endParaRPr lang="en-US" sz="1050" dirty="0"/>
          </a:p>
        </p:txBody>
      </p:sp>
      <p:sp>
        <p:nvSpPr>
          <p:cNvPr id="18" name="Shape 16"/>
          <p:cNvSpPr/>
          <p:nvPr/>
        </p:nvSpPr>
        <p:spPr>
          <a:xfrm>
            <a:off x="7883957" y="2286000"/>
            <a:ext cx="164592" cy="164592"/>
          </a:xfrm>
          <a:prstGeom prst="rect">
            <a:avLst/>
          </a:prstGeom>
          <a:solidFill>
            <a:srgbClr val="E0D2FD"/>
          </a:solidFill>
          <a:ln/>
        </p:spPr>
      </p:sp>
      <p:sp>
        <p:nvSpPr>
          <p:cNvPr id="19" name="Text 17"/>
          <p:cNvSpPr txBox="1"/>
          <p:nvPr/>
        </p:nvSpPr>
        <p:spPr>
          <a:xfrm>
            <a:off x="7883957" y="2615184"/>
            <a:ext cx="1605229" cy="256032"/>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Q1 2027</a:t>
            </a:r>
            <a:endParaRPr lang="en-US" sz="1300" dirty="0"/>
          </a:p>
        </p:txBody>
      </p:sp>
      <p:sp>
        <p:nvSpPr>
          <p:cNvPr id="20" name="Text 18"/>
          <p:cNvSpPr txBox="1"/>
          <p:nvPr/>
        </p:nvSpPr>
        <p:spPr>
          <a:xfrm>
            <a:off x="7883957" y="2907792"/>
            <a:ext cx="1559509" cy="731520"/>
          </a:xfrm>
          <a:prstGeom prst="rect">
            <a:avLst/>
          </a:prstGeom>
          <a:noFill/>
          <a:ln/>
        </p:spPr>
        <p:txBody>
          <a:bodyPr wrap="square" lIns="0" tIns="0" rIns="0" bIns="0" rtlCol="0" anchor="t"/>
          <a:lstStyle/>
          <a:p>
            <a:pPr marL="0" indent="0">
              <a:buNone/>
            </a:pPr>
            <a:r>
              <a:rPr lang="en-US" sz="1050" dirty="0">
                <a:solidFill>
                  <a:srgbClr val="5A5E63"/>
                </a:solidFill>
                <a:latin typeface="Inter" pitchFamily="34" charset="0"/>
                <a:ea typeface="Inter" pitchFamily="34" charset="-122"/>
                <a:cs typeface="Inter" pitchFamily="34" charset="-120"/>
              </a:rPr>
              <a:t>Halden and Polar</a:t>
            </a:r>
            <a:endParaRPr lang="en-US" sz="1050" dirty="0"/>
          </a:p>
        </p:txBody>
      </p:sp>
      <p:sp>
        <p:nvSpPr>
          <p:cNvPr id="21" name="Shape 19"/>
          <p:cNvSpPr/>
          <p:nvPr/>
        </p:nvSpPr>
        <p:spPr>
          <a:xfrm>
            <a:off x="9672066" y="2286000"/>
            <a:ext cx="164592" cy="164592"/>
          </a:xfrm>
          <a:prstGeom prst="rect">
            <a:avLst/>
          </a:prstGeom>
          <a:solidFill>
            <a:srgbClr val="E0D2FD"/>
          </a:solidFill>
          <a:ln/>
        </p:spPr>
      </p:sp>
      <p:sp>
        <p:nvSpPr>
          <p:cNvPr id="22" name="Text 20"/>
          <p:cNvSpPr txBox="1"/>
          <p:nvPr/>
        </p:nvSpPr>
        <p:spPr>
          <a:xfrm>
            <a:off x="9672066" y="2615184"/>
            <a:ext cx="1605229" cy="256032"/>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Q2 2027</a:t>
            </a:r>
            <a:endParaRPr lang="en-US" sz="1300" dirty="0"/>
          </a:p>
        </p:txBody>
      </p:sp>
      <p:sp>
        <p:nvSpPr>
          <p:cNvPr id="23" name="Text 21"/>
          <p:cNvSpPr txBox="1"/>
          <p:nvPr/>
        </p:nvSpPr>
        <p:spPr>
          <a:xfrm>
            <a:off x="9672066" y="2907792"/>
            <a:ext cx="1559509" cy="731520"/>
          </a:xfrm>
          <a:prstGeom prst="rect">
            <a:avLst/>
          </a:prstGeom>
          <a:noFill/>
          <a:ln/>
        </p:spPr>
        <p:txBody>
          <a:bodyPr wrap="square" lIns="0" tIns="0" rIns="0" bIns="0" rtlCol="0" anchor="t"/>
          <a:lstStyle/>
          <a:p>
            <a:pPr marL="0" indent="0">
              <a:buNone/>
            </a:pPr>
            <a:r>
              <a:rPr lang="en-US" sz="1050" dirty="0">
                <a:solidFill>
                  <a:srgbClr val="5A5E63"/>
                </a:solidFill>
                <a:latin typeface="Inter" pitchFamily="34" charset="0"/>
                <a:ea typeface="Inter" pitchFamily="34" charset="-122"/>
                <a:cs typeface="Inter" pitchFamily="34" charset="-120"/>
              </a:rPr>
              <a:t>Harbour &amp; Hide</a:t>
            </a:r>
            <a:endParaRPr lang="en-US" sz="1050" dirty="0"/>
          </a:p>
        </p:txBody>
      </p:sp>
      <p:sp>
        <p:nvSpPr>
          <p:cNvPr id="24" name="budget-1"/>
          <p:cNvSpPr/>
          <p:nvPr/>
        </p:nvSpPr>
        <p:spPr>
          <a:xfrm>
            <a:off x="731520" y="3794760"/>
            <a:ext cx="3393338" cy="1783080"/>
          </a:xfrm>
          <a:prstGeom prst="roundRect">
            <a:avLst>
              <a:gd name="adj" fmla="val 6154"/>
            </a:avLst>
          </a:prstGeom>
          <a:solidFill>
            <a:srgbClr val="FAF7FF"/>
          </a:solidFill>
          <a:ln w="9525">
            <a:solidFill>
              <a:srgbClr val="E6EAF4"/>
            </a:solidFill>
            <a:prstDash val="solid"/>
          </a:ln>
        </p:spPr>
      </p:sp>
      <p:sp>
        <p:nvSpPr>
          <p:cNvPr id="25" name="Text 23"/>
          <p:cNvSpPr txBox="1"/>
          <p:nvPr/>
        </p:nvSpPr>
        <p:spPr>
          <a:xfrm>
            <a:off x="960120" y="4023360"/>
            <a:ext cx="2936138" cy="201168"/>
          </a:xfrm>
          <a:prstGeom prst="rect">
            <a:avLst/>
          </a:prstGeom>
          <a:noFill/>
          <a:ln/>
        </p:spPr>
        <p:txBody>
          <a:bodyPr wrap="square" lIns="0" tIns="0" rIns="0" bIns="0" rtlCol="0" anchor="t"/>
          <a:lstStyle/>
          <a:p>
            <a:pPr marL="0" indent="0">
              <a:buNone/>
            </a:pPr>
            <a:r>
              <a:rPr lang="en-US" sz="1050" dirty="0">
                <a:solidFill>
                  <a:srgbClr val="5A5E63"/>
                </a:solidFill>
                <a:latin typeface="Inter Medium" pitchFamily="34" charset="0"/>
                <a:ea typeface="Inter Medium" pitchFamily="34" charset="-122"/>
                <a:cs typeface="Inter Medium" pitchFamily="34" charset="-120"/>
              </a:rPr>
              <a:t>Pilot window</a:t>
            </a:r>
            <a:endParaRPr lang="en-US" sz="1050" dirty="0"/>
          </a:p>
        </p:txBody>
      </p:sp>
      <p:sp>
        <p:nvSpPr>
          <p:cNvPr id="26" name="Text 24"/>
          <p:cNvSpPr txBox="1"/>
          <p:nvPr/>
        </p:nvSpPr>
        <p:spPr>
          <a:xfrm>
            <a:off x="960120" y="4306824"/>
            <a:ext cx="2936138" cy="1097280"/>
          </a:xfrm>
          <a:prstGeom prst="rect">
            <a:avLst/>
          </a:prstGeom>
          <a:noFill/>
          <a:ln/>
        </p:spPr>
        <p:txBody>
          <a:bodyPr wrap="square" lIns="0" tIns="0" rIns="0" bIns="0" rtlCol="0" anchor="t"/>
          <a:lstStyle/>
          <a:p>
            <a:pPr marL="0" indent="0">
              <a:buNone/>
            </a:pPr>
            <a:r>
              <a:rPr lang="en-US" sz="1150" dirty="0">
                <a:solidFill>
                  <a:srgbClr val="28282E"/>
                </a:solidFill>
                <a:latin typeface="Inter" pitchFamily="34" charset="0"/>
                <a:ea typeface="Inter" pitchFamily="34" charset="-122"/>
                <a:cs typeface="Inter" pitchFamily="34" charset="-120"/>
              </a:rPr>
              <a:t>Approx. $5,800–$8,800/month for the shared deployment, billed as dedicated capacity (EU-only placement is the upper figure). Adapter training cost is immaterial.</a:t>
            </a:r>
            <a:endParaRPr lang="en-US" sz="1150" dirty="0"/>
          </a:p>
        </p:txBody>
      </p:sp>
      <p:sp>
        <p:nvSpPr>
          <p:cNvPr id="27" name="budget-2"/>
          <p:cNvSpPr/>
          <p:nvPr/>
        </p:nvSpPr>
        <p:spPr>
          <a:xfrm>
            <a:off x="4399178" y="3794760"/>
            <a:ext cx="3393338" cy="1783080"/>
          </a:xfrm>
          <a:prstGeom prst="roundRect">
            <a:avLst>
              <a:gd name="adj" fmla="val 6154"/>
            </a:avLst>
          </a:prstGeom>
          <a:solidFill>
            <a:srgbClr val="FAF7FF"/>
          </a:solidFill>
          <a:ln w="9525">
            <a:solidFill>
              <a:srgbClr val="E6EAF4"/>
            </a:solidFill>
            <a:prstDash val="solid"/>
          </a:ln>
        </p:spPr>
      </p:sp>
      <p:sp>
        <p:nvSpPr>
          <p:cNvPr id="28" name="Text 26"/>
          <p:cNvSpPr txBox="1"/>
          <p:nvPr/>
        </p:nvSpPr>
        <p:spPr>
          <a:xfrm>
            <a:off x="4627778" y="4023360"/>
            <a:ext cx="2936138" cy="201168"/>
          </a:xfrm>
          <a:prstGeom prst="rect">
            <a:avLst/>
          </a:prstGeom>
          <a:noFill/>
          <a:ln/>
        </p:spPr>
        <p:txBody>
          <a:bodyPr wrap="square" lIns="0" tIns="0" rIns="0" bIns="0" rtlCol="0" anchor="t"/>
          <a:lstStyle/>
          <a:p>
            <a:pPr marL="0" indent="0">
              <a:buNone/>
            </a:pPr>
            <a:r>
              <a:rPr lang="en-US" sz="1050" dirty="0">
                <a:solidFill>
                  <a:srgbClr val="5A5E63"/>
                </a:solidFill>
                <a:latin typeface="Inter Medium" pitchFamily="34" charset="0"/>
                <a:ea typeface="Inter Medium" pitchFamily="34" charset="-122"/>
                <a:cs typeface="Inter Medium" pitchFamily="34" charset="-120"/>
              </a:rPr>
              <a:t>Steady state</a:t>
            </a:r>
            <a:endParaRPr lang="en-US" sz="1050" dirty="0"/>
          </a:p>
        </p:txBody>
      </p:sp>
      <p:sp>
        <p:nvSpPr>
          <p:cNvPr id="29" name="Text 27"/>
          <p:cNvSpPr txBox="1"/>
          <p:nvPr/>
        </p:nvSpPr>
        <p:spPr>
          <a:xfrm>
            <a:off x="4627778" y="4306824"/>
            <a:ext cx="2936138" cy="1097280"/>
          </a:xfrm>
          <a:prstGeom prst="rect">
            <a:avLst/>
          </a:prstGeom>
          <a:noFill/>
          <a:ln/>
        </p:spPr>
        <p:txBody>
          <a:bodyPr wrap="square" lIns="0" tIns="0" rIns="0" bIns="0" rtlCol="0" anchor="t"/>
          <a:lstStyle/>
          <a:p>
            <a:pPr marL="0" indent="0">
              <a:buNone/>
            </a:pPr>
            <a:r>
              <a:rPr lang="en-US" sz="1150" dirty="0">
                <a:solidFill>
                  <a:srgbClr val="28282E"/>
                </a:solidFill>
                <a:latin typeface="Inter" pitchFamily="34" charset="0"/>
                <a:ea typeface="Inter" pitchFamily="34" charset="-122"/>
                <a:cs typeface="Inter" pitchFamily="34" charset="-120"/>
              </a:rPr>
              <a:t>One always-on deployment shared by Atlas, Ridgeline, Polar and Harbour &amp; Hide; a second for Halden once its volume justifies it. Replica count is sized from a load benchmark.</a:t>
            </a:r>
            <a:endParaRPr lang="en-US" sz="1150" dirty="0"/>
          </a:p>
        </p:txBody>
      </p:sp>
      <p:sp>
        <p:nvSpPr>
          <p:cNvPr id="30" name="budget-3"/>
          <p:cNvSpPr/>
          <p:nvPr/>
        </p:nvSpPr>
        <p:spPr>
          <a:xfrm>
            <a:off x="8066837" y="3794760"/>
            <a:ext cx="3393338" cy="1783080"/>
          </a:xfrm>
          <a:prstGeom prst="roundRect">
            <a:avLst>
              <a:gd name="adj" fmla="val 6154"/>
            </a:avLst>
          </a:prstGeom>
          <a:solidFill>
            <a:srgbClr val="FAF7FF"/>
          </a:solidFill>
          <a:ln w="9525">
            <a:solidFill>
              <a:srgbClr val="E6EAF4"/>
            </a:solidFill>
            <a:prstDash val="solid"/>
          </a:ln>
        </p:spPr>
      </p:sp>
      <p:sp>
        <p:nvSpPr>
          <p:cNvPr id="31" name="Text 29"/>
          <p:cNvSpPr txBox="1"/>
          <p:nvPr/>
        </p:nvSpPr>
        <p:spPr>
          <a:xfrm>
            <a:off x="8295437" y="4023360"/>
            <a:ext cx="2936138" cy="201168"/>
          </a:xfrm>
          <a:prstGeom prst="rect">
            <a:avLst/>
          </a:prstGeom>
          <a:noFill/>
          <a:ln/>
        </p:spPr>
        <p:txBody>
          <a:bodyPr wrap="square" lIns="0" tIns="0" rIns="0" bIns="0" rtlCol="0" anchor="t"/>
          <a:lstStyle/>
          <a:p>
            <a:pPr marL="0" indent="0">
              <a:buNone/>
            </a:pPr>
            <a:r>
              <a:rPr lang="en-US" sz="1050" dirty="0">
                <a:solidFill>
                  <a:srgbClr val="5A5E63"/>
                </a:solidFill>
                <a:latin typeface="Inter Medium" pitchFamily="34" charset="0"/>
                <a:ea typeface="Inter Medium" pitchFamily="34" charset="-122"/>
                <a:cs typeface="Inter Medium" pitchFamily="34" charset="-120"/>
              </a:rPr>
              <a:t>Migration overlap</a:t>
            </a:r>
            <a:endParaRPr lang="en-US" sz="1050" dirty="0"/>
          </a:p>
        </p:txBody>
      </p:sp>
      <p:sp>
        <p:nvSpPr>
          <p:cNvPr id="32" name="Text 30"/>
          <p:cNvSpPr txBox="1"/>
          <p:nvPr/>
        </p:nvSpPr>
        <p:spPr>
          <a:xfrm>
            <a:off x="8295437" y="4306824"/>
            <a:ext cx="2936138" cy="1097280"/>
          </a:xfrm>
          <a:prstGeom prst="rect">
            <a:avLst/>
          </a:prstGeom>
          <a:noFill/>
          <a:ln/>
        </p:spPr>
        <p:txBody>
          <a:bodyPr wrap="square" lIns="0" tIns="0" rIns="0" bIns="0" rtlCol="0" anchor="t"/>
          <a:lstStyle/>
          <a:p>
            <a:pPr marL="0" indent="0">
              <a:buNone/>
            </a:pPr>
            <a:r>
              <a:rPr lang="en-US" sz="1150" dirty="0">
                <a:solidFill>
                  <a:srgbClr val="28282E"/>
                </a:solidFill>
                <a:latin typeface="Inter" pitchFamily="34" charset="0"/>
                <a:ea typeface="Inter" pitchFamily="34" charset="-122"/>
                <a:cs typeface="Inter" pitchFamily="34" charset="-120"/>
              </a:rPr>
              <a:t>Atlas runs on both deployments while it moves over, with rollback at every step. Budgeted in weeks, not months.</a:t>
            </a:r>
            <a:endParaRPr lang="en-US" sz="1150" dirty="0"/>
          </a:p>
        </p:txBody>
      </p:sp>
      <p:sp>
        <p:nvSpPr>
          <p:cNvPr id="33" name="Text 31"/>
          <p:cNvSpPr txBox="1"/>
          <p:nvPr/>
        </p:nvSpPr>
        <p:spPr>
          <a:xfrm>
            <a:off x="731520" y="5742432"/>
            <a:ext cx="10728655" cy="2286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Capacity figures at Fireworks list rates as of 5 Oct 2026; contracted terms may differ.</a:t>
            </a:r>
            <a:endParaRPr lang="en-US" sz="950" dirty="0"/>
          </a:p>
        </p:txBody>
      </p:sp>
      <p:sp>
        <p:nvSpPr>
          <p:cNvPr id="34"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ma14="http://schemas.microsoft.com/office/mac/drawingml/2011/main" xmlns=""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a:spLocks noGrp="1"/>
          </p:cNvSpPr>
          <p:nvPr>
            <p:ph type="body" idx="106" hasCustomPrompt="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Next steps</a:t>
            </a:r>
            <a:endParaRPr lang="en-US" sz="1100" dirty="0"/>
          </a:p>
        </p:txBody>
      </p:sp>
      <p:sp>
        <p:nvSpPr>
          <p:cNvPr id="3" name="Text 5"/>
          <p:cNvSpPr>
            <a:spLocks noGrp="1"/>
          </p:cNvSpPr>
          <p:nvPr>
            <p:ph type="title" idx="107" hasCustomPrompt="1"/>
          </p:nvPr>
        </p:nvSpPr>
        <p:spPr>
          <a:xfrm>
            <a:off x="731520" y="969264"/>
            <a:ext cx="10728655" cy="566928"/>
          </a:xfrm>
          <a:prstGeom prst="rect">
            <a:avLst/>
          </a:prstGeom>
          <a:noFill/>
          <a:ln/>
        </p:spPr>
        <p:txBody>
          <a:bodyPr wrap="square" lIns="0" tIns="0" rIns="0" bIns="0" rtlCol="0" anchor="t"/>
          <a:lstStyle/>
          <a:p>
            <a:pPr marL="0" indent="0" algn="l">
              <a:buNone/>
            </a:pPr>
            <a:r>
              <a:rPr lang="en-US" sz="2800" kern="0" spc="-70" dirty="0">
                <a:solidFill>
                  <a:srgbClr val="16181D"/>
                </a:solidFill>
                <a:latin typeface="Inter Medium" pitchFamily="34" charset="0"/>
                <a:ea typeface="Inter Medium" pitchFamily="34" charset="-122"/>
                <a:cs typeface="Inter Medium" pitchFamily="34" charset="-120"/>
              </a:rPr>
              <a:t>The rollout must not stall at one brand</a:t>
            </a:r>
            <a:endParaRPr lang="en-US" sz="2800" dirty="0"/>
          </a:p>
        </p:txBody>
      </p:sp>
      <p:sp>
        <p:nvSpPr>
          <p:cNvPr id="4" name="Text 5"/>
          <p:cNvSpPr>
            <a:spLocks noGrp="1"/>
          </p:cNvSpPr>
          <p:nvPr>
            <p:ph type="body" idx="108" hasCustomPrompt="1"/>
          </p:nvPr>
        </p:nvSpPr>
        <p:spPr>
          <a:xfrm>
            <a:off x="731520" y="1517904"/>
            <a:ext cx="10728655" cy="457200"/>
          </a:xfrm>
          <a:prstGeom prst="rect">
            <a:avLst/>
          </a:prstGeom>
          <a:noFill/>
          <a:ln/>
        </p:spPr>
        <p:txBody>
          <a:bodyPr wrap="square" lIns="0" tIns="0" rIns="0" bIns="0" rtlCol="0" anchor="t"/>
          <a:lstStyle/>
          <a:p>
            <a:pPr marL="0" indent="0">
              <a:buNone/>
            </a:pPr>
            <a:r>
              <a:rPr lang="en-US" sz="1300" dirty="0">
                <a:solidFill>
                  <a:srgbClr val="5A5E63"/>
                </a:solidFill>
                <a:latin typeface="Inter" pitchFamily="34" charset="0"/>
                <a:ea typeface="Inter" pitchFamily="34" charset="-122"/>
                <a:cs typeface="Inter" pitchFamily="34" charset="-120"/>
              </a:rPr>
              <a:t>What we are asking for today.</a:t>
            </a:r>
            <a:endParaRPr lang="en-US" sz="1300" dirty="0"/>
          </a:p>
        </p:txBody>
      </p:sp>
      <p:sp>
        <p:nvSpPr>
          <p:cNvPr id="5" name="biggest-risk"/>
          <p:cNvSpPr/>
          <p:nvPr/>
        </p:nvSpPr>
        <p:spPr>
          <a:xfrm>
            <a:off x="731520" y="2103120"/>
            <a:ext cx="5120640" cy="3977640"/>
          </a:xfrm>
          <a:prstGeom prst="roundRect">
            <a:avLst>
              <a:gd name="adj" fmla="val 2759"/>
            </a:avLst>
          </a:prstGeom>
          <a:solidFill>
            <a:srgbClr val="FAF7FF"/>
          </a:solidFill>
          <a:ln w="9525">
            <a:solidFill>
              <a:srgbClr val="E6EAF4"/>
            </a:solidFill>
            <a:prstDash val="solid"/>
          </a:ln>
        </p:spPr>
      </p:sp>
      <p:sp>
        <p:nvSpPr>
          <p:cNvPr id="6" name="Shape 4"/>
          <p:cNvSpPr/>
          <p:nvPr/>
        </p:nvSpPr>
        <p:spPr>
          <a:xfrm>
            <a:off x="987552" y="2359152"/>
            <a:ext cx="1014252" cy="237744"/>
          </a:xfrm>
          <a:prstGeom prst="rect">
            <a:avLst/>
          </a:prstGeom>
          <a:solidFill>
            <a:srgbClr val="FFE4E2"/>
          </a:solidFill>
          <a:ln/>
        </p:spPr>
      </p:sp>
      <p:sp>
        <p:nvSpPr>
          <p:cNvPr id="7" name="Text 5"/>
          <p:cNvSpPr txBox="1"/>
          <p:nvPr/>
        </p:nvSpPr>
        <p:spPr>
          <a:xfrm>
            <a:off x="987552" y="2359152"/>
            <a:ext cx="1014252" cy="237744"/>
          </a:xfrm>
          <a:prstGeom prst="rect">
            <a:avLst/>
          </a:prstGeom>
          <a:noFill/>
          <a:ln/>
        </p:spPr>
        <p:txBody>
          <a:bodyPr wrap="square" lIns="0" tIns="0" rIns="0" bIns="0" rtlCol="0" anchor="ctr"/>
          <a:lstStyle/>
          <a:p>
            <a:pPr marL="0" indent="0" algn="ctr">
              <a:buNone/>
            </a:pPr>
            <a:r>
              <a:rPr lang="en-US" sz="950" dirty="0">
                <a:solidFill>
                  <a:srgbClr val="B32519"/>
                </a:solidFill>
                <a:latin typeface="Inter Medium" pitchFamily="34" charset="0"/>
                <a:ea typeface="Inter Medium" pitchFamily="34" charset="-122"/>
                <a:cs typeface="Inter Medium" pitchFamily="34" charset="-120"/>
              </a:rPr>
              <a:t>Biggest risk</a:t>
            </a:r>
            <a:endParaRPr lang="en-US" sz="950" dirty="0"/>
          </a:p>
        </p:txBody>
      </p:sp>
      <p:sp>
        <p:nvSpPr>
          <p:cNvPr id="8" name="Text 6"/>
          <p:cNvSpPr txBox="1"/>
          <p:nvPr/>
        </p:nvSpPr>
        <p:spPr>
          <a:xfrm>
            <a:off x="987552" y="2743200"/>
            <a:ext cx="4608576" cy="1188720"/>
          </a:xfrm>
          <a:prstGeom prst="rect">
            <a:avLst/>
          </a:prstGeom>
          <a:noFill/>
          <a:ln/>
        </p:spPr>
        <p:txBody>
          <a:bodyPr wrap="square" lIns="0" tIns="0" rIns="0" bIns="0" rtlCol="0" anchor="t"/>
          <a:lstStyle/>
          <a:p>
            <a:pPr marL="0" indent="0">
              <a:buNone/>
            </a:pPr>
            <a:r>
              <a:rPr lang="en-US" sz="1600" dirty="0">
                <a:solidFill>
                  <a:srgbClr val="16181D"/>
                </a:solidFill>
                <a:latin typeface="Inter Medium" pitchFamily="34" charset="0"/>
                <a:ea typeface="Inter Medium" pitchFamily="34" charset="-122"/>
                <a:cs typeface="Inter Medium" pitchFamily="34" charset="-120"/>
              </a:rPr>
              <a:t>Without group-level sponsorship the rollout stays with Atlas, and shared capacity never carries enough volume to make per-brand cost efficient.</a:t>
            </a:r>
            <a:endParaRPr lang="en-US" sz="1600" dirty="0"/>
          </a:p>
        </p:txBody>
      </p:sp>
      <p:sp>
        <p:nvSpPr>
          <p:cNvPr id="9" name="Text 7"/>
          <p:cNvSpPr txBox="1"/>
          <p:nvPr/>
        </p:nvSpPr>
        <p:spPr>
          <a:xfrm>
            <a:off x="987552" y="4114800"/>
            <a:ext cx="2743200" cy="201168"/>
          </a:xfrm>
          <a:prstGeom prst="rect">
            <a:avLst/>
          </a:prstGeom>
          <a:noFill/>
          <a:ln/>
        </p:spPr>
        <p:txBody>
          <a:bodyPr wrap="square" lIns="0" tIns="0" rIns="0" bIns="0" rtlCol="0" anchor="t"/>
          <a:lstStyle/>
          <a:p>
            <a:pPr marL="0" indent="0">
              <a:buNone/>
            </a:pPr>
            <a:r>
              <a:rPr lang="en-US" sz="1050" dirty="0">
                <a:solidFill>
                  <a:srgbClr val="5A5E63"/>
                </a:solidFill>
                <a:latin typeface="Inter Medium" pitchFamily="34" charset="0"/>
                <a:ea typeface="Inter Medium" pitchFamily="34" charset="-122"/>
                <a:cs typeface="Inter Medium" pitchFamily="34" charset="-120"/>
              </a:rPr>
              <a:t>Mitigation</a:t>
            </a:r>
            <a:endParaRPr lang="en-US" sz="1050" dirty="0"/>
          </a:p>
        </p:txBody>
      </p:sp>
      <p:sp>
        <p:nvSpPr>
          <p:cNvPr id="10" name="Shape 8"/>
          <p:cNvSpPr/>
          <p:nvPr/>
        </p:nvSpPr>
        <p:spPr>
          <a:xfrm>
            <a:off x="1005840" y="4507992"/>
            <a:ext cx="100584" cy="100584"/>
          </a:xfrm>
          <a:prstGeom prst="rect">
            <a:avLst/>
          </a:prstGeom>
          <a:solidFill>
            <a:srgbClr val="6720FF"/>
          </a:solidFill>
          <a:ln/>
        </p:spPr>
      </p:sp>
      <p:sp>
        <p:nvSpPr>
          <p:cNvPr id="11" name="Text 9"/>
          <p:cNvSpPr txBox="1"/>
          <p:nvPr/>
        </p:nvSpPr>
        <p:spPr>
          <a:xfrm>
            <a:off x="1261872" y="4434840"/>
            <a:ext cx="4297680" cy="274320"/>
          </a:xfrm>
          <a:prstGeom prst="rect">
            <a:avLst/>
          </a:prstGeom>
          <a:noFill/>
          <a:ln/>
        </p:spPr>
        <p:txBody>
          <a:bodyPr wrap="square" lIns="0" tIns="0" rIns="0" bIns="0" rtlCol="0" anchor="t"/>
          <a:lstStyle/>
          <a:p>
            <a:pPr marL="0" indent="0">
              <a:buNone/>
            </a:pPr>
            <a:r>
              <a:rPr lang="en-US" sz="1200" dirty="0">
                <a:solidFill>
                  <a:srgbClr val="28282E"/>
                </a:solidFill>
                <a:latin typeface="Inter" pitchFamily="34" charset="0"/>
                <a:ea typeface="Inter" pitchFamily="34" charset="-122"/>
                <a:cs typeface="Inter" pitchFamily="34" charset="-120"/>
              </a:rPr>
              <a:t>Name a group sponsor at this review</a:t>
            </a:r>
            <a:endParaRPr lang="en-US" sz="1200" dirty="0"/>
          </a:p>
        </p:txBody>
      </p:sp>
      <p:sp>
        <p:nvSpPr>
          <p:cNvPr id="12" name="Shape 10"/>
          <p:cNvSpPr/>
          <p:nvPr/>
        </p:nvSpPr>
        <p:spPr>
          <a:xfrm>
            <a:off x="1005840" y="4965192"/>
            <a:ext cx="100584" cy="100584"/>
          </a:xfrm>
          <a:prstGeom prst="rect">
            <a:avLst/>
          </a:prstGeom>
          <a:solidFill>
            <a:srgbClr val="6720FF"/>
          </a:solidFill>
          <a:ln/>
        </p:spPr>
      </p:sp>
      <p:sp>
        <p:nvSpPr>
          <p:cNvPr id="13" name="Text 11"/>
          <p:cNvSpPr txBox="1"/>
          <p:nvPr/>
        </p:nvSpPr>
        <p:spPr>
          <a:xfrm>
            <a:off x="1261872" y="4892040"/>
            <a:ext cx="4297680" cy="274320"/>
          </a:xfrm>
          <a:prstGeom prst="rect">
            <a:avLst/>
          </a:prstGeom>
          <a:noFill/>
          <a:ln/>
        </p:spPr>
        <p:txBody>
          <a:bodyPr wrap="square" lIns="0" tIns="0" rIns="0" bIns="0" rtlCol="0" anchor="t"/>
          <a:lstStyle/>
          <a:p>
            <a:pPr marL="0" indent="0">
              <a:buNone/>
            </a:pPr>
            <a:r>
              <a:rPr lang="en-US" sz="1200" dirty="0">
                <a:solidFill>
                  <a:srgbClr val="28282E"/>
                </a:solidFill>
                <a:latin typeface="Inter" pitchFamily="34" charset="0"/>
                <a:ea typeface="Inter" pitchFamily="34" charset="-122"/>
                <a:cs typeface="Inter" pitchFamily="34" charset="-120"/>
              </a:rPr>
              <a:t>Agree the Ridgeline pilot criteria together</a:t>
            </a:r>
            <a:endParaRPr lang="en-US" sz="1200" dirty="0"/>
          </a:p>
        </p:txBody>
      </p:sp>
      <p:sp>
        <p:nvSpPr>
          <p:cNvPr id="14" name="Shape 12"/>
          <p:cNvSpPr/>
          <p:nvPr/>
        </p:nvSpPr>
        <p:spPr>
          <a:xfrm>
            <a:off x="1005840" y="5422392"/>
            <a:ext cx="100584" cy="100584"/>
          </a:xfrm>
          <a:prstGeom prst="rect">
            <a:avLst/>
          </a:prstGeom>
          <a:solidFill>
            <a:srgbClr val="6720FF"/>
          </a:solidFill>
          <a:ln/>
        </p:spPr>
      </p:sp>
      <p:sp>
        <p:nvSpPr>
          <p:cNvPr id="15" name="Text 13"/>
          <p:cNvSpPr txBox="1"/>
          <p:nvPr/>
        </p:nvSpPr>
        <p:spPr>
          <a:xfrm>
            <a:off x="1261872" y="5349240"/>
            <a:ext cx="4297680" cy="274320"/>
          </a:xfrm>
          <a:prstGeom prst="rect">
            <a:avLst/>
          </a:prstGeom>
          <a:noFill/>
          <a:ln/>
        </p:spPr>
        <p:txBody>
          <a:bodyPr wrap="square" lIns="0" tIns="0" rIns="0" bIns="0" rtlCol="0" anchor="t"/>
          <a:lstStyle/>
          <a:p>
            <a:pPr marL="0" indent="0">
              <a:buNone/>
            </a:pPr>
            <a:r>
              <a:rPr lang="en-US" sz="1200" dirty="0">
                <a:solidFill>
                  <a:srgbClr val="28282E"/>
                </a:solidFill>
                <a:latin typeface="Inter" pitchFamily="34" charset="0"/>
                <a:ea typeface="Inter" pitchFamily="34" charset="-122"/>
                <a:cs typeface="Inter" pitchFamily="34" charset="-120"/>
              </a:rPr>
              <a:t>Size shared capacity alongside a second brand</a:t>
            </a:r>
            <a:endParaRPr lang="en-US" sz="1200" dirty="0"/>
          </a:p>
        </p:txBody>
      </p:sp>
      <p:sp>
        <p:nvSpPr>
          <p:cNvPr id="16" name="key-messages"/>
          <p:cNvSpPr/>
          <p:nvPr/>
        </p:nvSpPr>
        <p:spPr>
          <a:xfrm>
            <a:off x="6172200" y="2103120"/>
            <a:ext cx="5287975" cy="3977640"/>
          </a:xfrm>
          <a:prstGeom prst="roundRect">
            <a:avLst>
              <a:gd name="adj" fmla="val 2759"/>
            </a:avLst>
          </a:prstGeom>
          <a:solidFill>
            <a:srgbClr val="FFFFFF"/>
          </a:solidFill>
          <a:ln w="9525">
            <a:solidFill>
              <a:srgbClr val="E6EAF4"/>
            </a:solidFill>
            <a:prstDash val="solid"/>
          </a:ln>
        </p:spPr>
      </p:sp>
      <p:sp>
        <p:nvSpPr>
          <p:cNvPr id="17" name="Text 15"/>
          <p:cNvSpPr txBox="1"/>
          <p:nvPr/>
        </p:nvSpPr>
        <p:spPr>
          <a:xfrm>
            <a:off x="6428232" y="2359152"/>
            <a:ext cx="2743200" cy="201168"/>
          </a:xfrm>
          <a:prstGeom prst="rect">
            <a:avLst/>
          </a:prstGeom>
          <a:noFill/>
          <a:ln/>
        </p:spPr>
        <p:txBody>
          <a:bodyPr wrap="square" lIns="0" tIns="0" rIns="0" bIns="0" rtlCol="0" anchor="t"/>
          <a:lstStyle/>
          <a:p>
            <a:pPr marL="0" indent="0">
              <a:buNone/>
            </a:pPr>
            <a:r>
              <a:rPr lang="en-US" sz="1050" dirty="0">
                <a:solidFill>
                  <a:srgbClr val="5A5E63"/>
                </a:solidFill>
                <a:latin typeface="Inter Medium" pitchFamily="34" charset="0"/>
                <a:ea typeface="Inter Medium" pitchFamily="34" charset="-122"/>
                <a:cs typeface="Inter Medium" pitchFamily="34" charset="-120"/>
              </a:rPr>
              <a:t>Key messages</a:t>
            </a:r>
            <a:endParaRPr lang="en-US" sz="1050" dirty="0"/>
          </a:p>
        </p:txBody>
      </p:sp>
      <p:sp>
        <p:nvSpPr>
          <p:cNvPr id="18" name="Shape 16"/>
          <p:cNvSpPr/>
          <p:nvPr/>
        </p:nvSpPr>
        <p:spPr>
          <a:xfrm>
            <a:off x="6446520" y="2953512"/>
            <a:ext cx="109728" cy="109728"/>
          </a:xfrm>
          <a:prstGeom prst="rect">
            <a:avLst/>
          </a:prstGeom>
          <a:solidFill>
            <a:srgbClr val="6720FF"/>
          </a:solidFill>
          <a:ln/>
        </p:spPr>
      </p:sp>
      <p:sp>
        <p:nvSpPr>
          <p:cNvPr id="19" name="Text 17"/>
          <p:cNvSpPr txBox="1"/>
          <p:nvPr/>
        </p:nvSpPr>
        <p:spPr>
          <a:xfrm>
            <a:off x="6720840" y="2670048"/>
            <a:ext cx="4465015" cy="676656"/>
          </a:xfrm>
          <a:prstGeom prst="rect">
            <a:avLst/>
          </a:prstGeom>
          <a:noFill/>
          <a:ln/>
        </p:spPr>
        <p:txBody>
          <a:bodyPr wrap="square" lIns="0" tIns="0" rIns="0" bIns="0" rtlCol="0" anchor="ctr"/>
          <a:lstStyle/>
          <a:p>
            <a:pPr marL="0" indent="0">
              <a:buNone/>
            </a:pPr>
            <a:r>
              <a:rPr lang="en-US" sz="1200" dirty="0">
                <a:solidFill>
                  <a:srgbClr val="28282E"/>
                </a:solidFill>
                <a:latin typeface="Inter" pitchFamily="34" charset="0"/>
                <a:ea typeface="Inter" pitchFamily="34" charset="-122"/>
                <a:cs typeface="Inter" pitchFamily="34" charset="-120"/>
              </a:rPr>
              <a:t>Month one delivered: Tier-1 automation reached 70.1% in the final week, with faster, better-rated answers.</a:t>
            </a:r>
            <a:endParaRPr lang="en-US" sz="1200" dirty="0"/>
          </a:p>
        </p:txBody>
      </p:sp>
      <p:sp>
        <p:nvSpPr>
          <p:cNvPr id="20" name="Shape 18"/>
          <p:cNvSpPr/>
          <p:nvPr/>
        </p:nvSpPr>
        <p:spPr>
          <a:xfrm>
            <a:off x="6428232" y="3346704"/>
            <a:ext cx="4775911" cy="0"/>
          </a:xfrm>
          <a:prstGeom prst="line">
            <a:avLst/>
          </a:prstGeom>
          <a:noFill/>
          <a:ln w="9525">
            <a:solidFill>
              <a:srgbClr val="E6EAF4"/>
            </a:solidFill>
            <a:prstDash val="solid"/>
          </a:ln>
        </p:spPr>
      </p:sp>
      <p:sp>
        <p:nvSpPr>
          <p:cNvPr id="21" name="Shape 19"/>
          <p:cNvSpPr/>
          <p:nvPr/>
        </p:nvSpPr>
        <p:spPr>
          <a:xfrm>
            <a:off x="6446520" y="3630168"/>
            <a:ext cx="109728" cy="109728"/>
          </a:xfrm>
          <a:prstGeom prst="rect">
            <a:avLst/>
          </a:prstGeom>
          <a:solidFill>
            <a:srgbClr val="6720FF"/>
          </a:solidFill>
          <a:ln/>
        </p:spPr>
      </p:sp>
      <p:sp>
        <p:nvSpPr>
          <p:cNvPr id="22" name="Text 20"/>
          <p:cNvSpPr txBox="1"/>
          <p:nvPr/>
        </p:nvSpPr>
        <p:spPr>
          <a:xfrm>
            <a:off x="6720840" y="3346704"/>
            <a:ext cx="4465015" cy="676656"/>
          </a:xfrm>
          <a:prstGeom prst="rect">
            <a:avLst/>
          </a:prstGeom>
          <a:noFill/>
          <a:ln/>
        </p:spPr>
        <p:txBody>
          <a:bodyPr wrap="square" lIns="0" tIns="0" rIns="0" bIns="0" rtlCol="0" anchor="ctr"/>
          <a:lstStyle/>
          <a:p>
            <a:pPr marL="0" indent="0">
              <a:buNone/>
            </a:pPr>
            <a:r>
              <a:rPr lang="en-US" sz="1200" dirty="0">
                <a:solidFill>
                  <a:srgbClr val="28282E"/>
                </a:solidFill>
                <a:latin typeface="Inter" pitchFamily="34" charset="0"/>
                <a:ea typeface="Inter" pitchFamily="34" charset="-122"/>
                <a:cs typeface="Inter" pitchFamily="34" charset="-120"/>
              </a:rPr>
              <a:t>Quality improved every week, and the evidence is in your dashboard.</a:t>
            </a:r>
            <a:endParaRPr lang="en-US" sz="1200" dirty="0"/>
          </a:p>
        </p:txBody>
      </p:sp>
      <p:sp>
        <p:nvSpPr>
          <p:cNvPr id="23" name="Shape 21"/>
          <p:cNvSpPr/>
          <p:nvPr/>
        </p:nvSpPr>
        <p:spPr>
          <a:xfrm>
            <a:off x="6428232" y="4023360"/>
            <a:ext cx="4775911" cy="0"/>
          </a:xfrm>
          <a:prstGeom prst="line">
            <a:avLst/>
          </a:prstGeom>
          <a:noFill/>
          <a:ln w="9525">
            <a:solidFill>
              <a:srgbClr val="E6EAF4"/>
            </a:solidFill>
            <a:prstDash val="solid"/>
          </a:ln>
        </p:spPr>
      </p:sp>
      <p:sp>
        <p:nvSpPr>
          <p:cNvPr id="24" name="Shape 22"/>
          <p:cNvSpPr/>
          <p:nvPr/>
        </p:nvSpPr>
        <p:spPr>
          <a:xfrm>
            <a:off x="6446520" y="4306824"/>
            <a:ext cx="109728" cy="109728"/>
          </a:xfrm>
          <a:prstGeom prst="rect">
            <a:avLst/>
          </a:prstGeom>
          <a:solidFill>
            <a:srgbClr val="6720FF"/>
          </a:solidFill>
          <a:ln/>
        </p:spPr>
      </p:sp>
      <p:sp>
        <p:nvSpPr>
          <p:cNvPr id="25" name="Text 23"/>
          <p:cNvSpPr txBox="1"/>
          <p:nvPr/>
        </p:nvSpPr>
        <p:spPr>
          <a:xfrm>
            <a:off x="6720840" y="4023360"/>
            <a:ext cx="4465015" cy="676656"/>
          </a:xfrm>
          <a:prstGeom prst="rect">
            <a:avLst/>
          </a:prstGeom>
          <a:noFill/>
          <a:ln/>
        </p:spPr>
        <p:txBody>
          <a:bodyPr wrap="square" lIns="0" tIns="0" rIns="0" bIns="0" rtlCol="0" anchor="ctr"/>
          <a:lstStyle/>
          <a:p>
            <a:pPr marL="0" indent="0">
              <a:buNone/>
            </a:pPr>
            <a:r>
              <a:rPr lang="en-US" sz="1200" dirty="0">
                <a:solidFill>
                  <a:srgbClr val="28282E"/>
                </a:solidFill>
                <a:latin typeface="Inter" pitchFamily="34" charset="0"/>
                <a:ea typeface="Inter" pitchFamily="34" charset="-122"/>
                <a:cs typeface="Inter" pitchFamily="34" charset="-120"/>
              </a:rPr>
              <a:t>99.85% today: we find the cause in telemetry before buying capacity.</a:t>
            </a:r>
            <a:endParaRPr lang="en-US" sz="1200" dirty="0"/>
          </a:p>
        </p:txBody>
      </p:sp>
      <p:sp>
        <p:nvSpPr>
          <p:cNvPr id="26" name="Shape 24"/>
          <p:cNvSpPr/>
          <p:nvPr/>
        </p:nvSpPr>
        <p:spPr>
          <a:xfrm>
            <a:off x="6428232" y="4700016"/>
            <a:ext cx="4775911" cy="0"/>
          </a:xfrm>
          <a:prstGeom prst="line">
            <a:avLst/>
          </a:prstGeom>
          <a:noFill/>
          <a:ln w="9525">
            <a:solidFill>
              <a:srgbClr val="E6EAF4"/>
            </a:solidFill>
            <a:prstDash val="solid"/>
          </a:ln>
        </p:spPr>
      </p:sp>
      <p:sp>
        <p:nvSpPr>
          <p:cNvPr id="27" name="Shape 25"/>
          <p:cNvSpPr/>
          <p:nvPr/>
        </p:nvSpPr>
        <p:spPr>
          <a:xfrm>
            <a:off x="6446520" y="4983480"/>
            <a:ext cx="109728" cy="109728"/>
          </a:xfrm>
          <a:prstGeom prst="rect">
            <a:avLst/>
          </a:prstGeom>
          <a:solidFill>
            <a:srgbClr val="6720FF"/>
          </a:solidFill>
          <a:ln/>
        </p:spPr>
      </p:sp>
      <p:sp>
        <p:nvSpPr>
          <p:cNvPr id="28" name="Text 26"/>
          <p:cNvSpPr txBox="1"/>
          <p:nvPr/>
        </p:nvSpPr>
        <p:spPr>
          <a:xfrm>
            <a:off x="6720840" y="4700016"/>
            <a:ext cx="4465015" cy="676656"/>
          </a:xfrm>
          <a:prstGeom prst="rect">
            <a:avLst/>
          </a:prstGeom>
          <a:noFill/>
          <a:ln/>
        </p:spPr>
        <p:txBody>
          <a:bodyPr wrap="square" lIns="0" tIns="0" rIns="0" bIns="0" rtlCol="0" anchor="ctr"/>
          <a:lstStyle/>
          <a:p>
            <a:pPr marL="0" indent="0">
              <a:buNone/>
            </a:pPr>
            <a:r>
              <a:rPr lang="en-US" sz="1200" dirty="0">
                <a:solidFill>
                  <a:srgbClr val="28282E"/>
                </a:solidFill>
                <a:latin typeface="Inter" pitchFamily="34" charset="0"/>
                <a:ea typeface="Inter" pitchFamily="34" charset="-122"/>
                <a:cs typeface="Inter" pitchFamily="34" charset="-120"/>
              </a:rPr>
              <a:t>One base, one adapter per brand: each brand keeps its voice and its data.</a:t>
            </a:r>
            <a:endParaRPr lang="en-US" sz="1200" dirty="0"/>
          </a:p>
        </p:txBody>
      </p:sp>
      <p:sp>
        <p:nvSpPr>
          <p:cNvPr id="29" name="Shape 27"/>
          <p:cNvSpPr/>
          <p:nvPr/>
        </p:nvSpPr>
        <p:spPr>
          <a:xfrm>
            <a:off x="6428232" y="5376672"/>
            <a:ext cx="4775911" cy="0"/>
          </a:xfrm>
          <a:prstGeom prst="line">
            <a:avLst/>
          </a:prstGeom>
          <a:noFill/>
          <a:ln w="9525">
            <a:solidFill>
              <a:srgbClr val="E6EAF4"/>
            </a:solidFill>
            <a:prstDash val="solid"/>
          </a:ln>
        </p:spPr>
      </p:sp>
      <p:sp>
        <p:nvSpPr>
          <p:cNvPr id="30" name="Shape 28"/>
          <p:cNvSpPr/>
          <p:nvPr/>
        </p:nvSpPr>
        <p:spPr>
          <a:xfrm>
            <a:off x="6446520" y="5660136"/>
            <a:ext cx="109728" cy="109728"/>
          </a:xfrm>
          <a:prstGeom prst="rect">
            <a:avLst/>
          </a:prstGeom>
          <a:solidFill>
            <a:srgbClr val="1DA28F"/>
          </a:solidFill>
          <a:ln/>
        </p:spPr>
      </p:sp>
      <p:sp>
        <p:nvSpPr>
          <p:cNvPr id="31" name="Text 29"/>
          <p:cNvSpPr txBox="1"/>
          <p:nvPr/>
        </p:nvSpPr>
        <p:spPr>
          <a:xfrm>
            <a:off x="6720840" y="5376672"/>
            <a:ext cx="4465015" cy="676656"/>
          </a:xfrm>
          <a:prstGeom prst="rect">
            <a:avLst/>
          </a:prstGeom>
          <a:noFill/>
          <a:ln/>
        </p:spPr>
        <p:txBody>
          <a:bodyPr wrap="square" lIns="0" tIns="0" rIns="0" bIns="0" rtlCol="0" anchor="ctr"/>
          <a:lstStyle/>
          <a:p>
            <a:pPr marL="0" indent="0">
              <a:buNone/>
            </a:pPr>
            <a:r>
              <a:rPr lang="en-US" sz="1200" dirty="0">
                <a:solidFill>
                  <a:srgbClr val="28282E"/>
                </a:solidFill>
                <a:latin typeface="Inter" pitchFamily="34" charset="0"/>
                <a:ea typeface="Inter" pitchFamily="34" charset="-122"/>
                <a:cs typeface="Inter" pitchFamily="34" charset="-120"/>
              </a:rPr>
              <a:t>We’re asking for a group sponsor today and Ridgeline as the pilot.</a:t>
            </a:r>
            <a:endParaRPr lang="en-US" sz="1200" dirty="0"/>
          </a:p>
        </p:txBody>
      </p:sp>
      <p:sp>
        <p:nvSpPr>
          <p:cNvPr id="32"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ma14="http://schemas.microsoft.com/office/mac/drawingml/2011/main" xmlns=""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Next steps</a:t>
            </a:r>
            <a:endParaRPr lang="en-US" sz="1100" dirty="0"/>
          </a:p>
        </p:txBody>
      </p:sp>
      <p:sp>
        <p:nvSpPr>
          <p:cNvPr id="3" name="Text 1"/>
          <p:cNvSpPr txBox="1"/>
          <p:nvPr/>
        </p:nvSpPr>
        <p:spPr>
          <a:xfrm>
            <a:off x="731520" y="1371600"/>
            <a:ext cx="5486400" cy="914400"/>
          </a:xfrm>
          <a:prstGeom prst="rect">
            <a:avLst/>
          </a:prstGeom>
          <a:noFill/>
          <a:ln/>
        </p:spPr>
        <p:txBody>
          <a:bodyPr wrap="square" lIns="0" tIns="0" rIns="0" bIns="0" rtlCol="0" anchor="t"/>
          <a:lstStyle/>
          <a:p>
            <a:pPr marL="0" indent="0">
              <a:buNone/>
            </a:pPr>
            <a:r>
              <a:rPr lang="en-US" sz="5400" kern="0" spc="-220" dirty="0">
                <a:solidFill>
                  <a:srgbClr val="16181D"/>
                </a:solidFill>
                <a:latin typeface="Inter Medium" pitchFamily="34" charset="0"/>
                <a:ea typeface="Inter Medium" pitchFamily="34" charset="-122"/>
                <a:cs typeface="Inter Medium" pitchFamily="34" charset="-120"/>
              </a:rPr>
              <a:t>Thank you</a:t>
            </a:r>
            <a:endParaRPr lang="en-US" sz="5400" dirty="0"/>
          </a:p>
        </p:txBody>
      </p:sp>
      <p:sp>
        <p:nvSpPr>
          <p:cNvPr id="4" name="Text 2"/>
          <p:cNvSpPr txBox="1"/>
          <p:nvPr/>
        </p:nvSpPr>
        <p:spPr>
          <a:xfrm>
            <a:off x="731520" y="2331720"/>
            <a:ext cx="5486400" cy="411480"/>
          </a:xfrm>
          <a:prstGeom prst="rect">
            <a:avLst/>
          </a:prstGeom>
          <a:noFill/>
          <a:ln/>
        </p:spPr>
        <p:txBody>
          <a:bodyPr wrap="square" lIns="0" tIns="0" rIns="0" bIns="0" rtlCol="0" anchor="t"/>
          <a:lstStyle/>
          <a:p>
            <a:pPr marL="0" indent="0">
              <a:buNone/>
            </a:pPr>
            <a:r>
              <a:rPr lang="en-US" sz="2000" dirty="0">
                <a:solidFill>
                  <a:srgbClr val="5A5E63"/>
                </a:solidFill>
                <a:latin typeface="Inter" pitchFamily="34" charset="0"/>
                <a:ea typeface="Inter" pitchFamily="34" charset="-122"/>
                <a:cs typeface="Inter" pitchFamily="34" charset="-120"/>
              </a:rPr>
              <a:t>Questions and discussion</a:t>
            </a:r>
            <a:endParaRPr lang="en-US" sz="2000" dirty="0"/>
          </a:p>
        </p:txBody>
      </p:sp>
      <p:sp>
        <p:nvSpPr>
          <p:cNvPr id="5" name="Shape 3"/>
          <p:cNvSpPr/>
          <p:nvPr/>
        </p:nvSpPr>
        <p:spPr>
          <a:xfrm>
            <a:off x="1865376" y="3785616"/>
            <a:ext cx="219456" cy="219456"/>
          </a:xfrm>
          <a:prstGeom prst="rect">
            <a:avLst/>
          </a:prstGeom>
          <a:solidFill>
            <a:srgbClr val="6720FF"/>
          </a:solidFill>
          <a:ln/>
        </p:spPr>
      </p:sp>
      <p:sp>
        <p:nvSpPr>
          <p:cNvPr id="6" name="Shape 4"/>
          <p:cNvSpPr/>
          <p:nvPr/>
        </p:nvSpPr>
        <p:spPr>
          <a:xfrm>
            <a:off x="2148840" y="3785616"/>
            <a:ext cx="219456" cy="219456"/>
          </a:xfrm>
          <a:prstGeom prst="rect">
            <a:avLst/>
          </a:prstGeom>
          <a:solidFill>
            <a:srgbClr val="6720FF"/>
          </a:solidFill>
          <a:ln/>
        </p:spPr>
      </p:sp>
      <p:sp>
        <p:nvSpPr>
          <p:cNvPr id="7" name="Shape 5"/>
          <p:cNvSpPr/>
          <p:nvPr/>
        </p:nvSpPr>
        <p:spPr>
          <a:xfrm>
            <a:off x="1581912" y="4069080"/>
            <a:ext cx="219456" cy="219456"/>
          </a:xfrm>
          <a:prstGeom prst="rect">
            <a:avLst/>
          </a:prstGeom>
          <a:solidFill>
            <a:srgbClr val="6720FF"/>
          </a:solidFill>
          <a:ln/>
        </p:spPr>
      </p:sp>
      <p:sp>
        <p:nvSpPr>
          <p:cNvPr id="8" name="Shape 6"/>
          <p:cNvSpPr/>
          <p:nvPr/>
        </p:nvSpPr>
        <p:spPr>
          <a:xfrm>
            <a:off x="1865376" y="4069080"/>
            <a:ext cx="219456" cy="219456"/>
          </a:xfrm>
          <a:prstGeom prst="rect">
            <a:avLst/>
          </a:prstGeom>
          <a:solidFill>
            <a:srgbClr val="CEB4FF"/>
          </a:solidFill>
          <a:ln/>
        </p:spPr>
      </p:sp>
      <p:sp>
        <p:nvSpPr>
          <p:cNvPr id="9" name="Shape 7"/>
          <p:cNvSpPr/>
          <p:nvPr/>
        </p:nvSpPr>
        <p:spPr>
          <a:xfrm>
            <a:off x="2148840" y="4069080"/>
            <a:ext cx="219456" cy="219456"/>
          </a:xfrm>
          <a:prstGeom prst="rect">
            <a:avLst/>
          </a:prstGeom>
          <a:solidFill>
            <a:srgbClr val="6720FF"/>
          </a:solidFill>
          <a:ln/>
        </p:spPr>
      </p:sp>
      <p:sp>
        <p:nvSpPr>
          <p:cNvPr id="10" name="Shape 8"/>
          <p:cNvSpPr/>
          <p:nvPr/>
        </p:nvSpPr>
        <p:spPr>
          <a:xfrm>
            <a:off x="1298448" y="4352544"/>
            <a:ext cx="219456" cy="219456"/>
          </a:xfrm>
          <a:prstGeom prst="rect">
            <a:avLst/>
          </a:prstGeom>
          <a:solidFill>
            <a:srgbClr val="6720FF"/>
          </a:solidFill>
          <a:ln/>
        </p:spPr>
      </p:sp>
      <p:sp>
        <p:nvSpPr>
          <p:cNvPr id="11" name="Shape 9"/>
          <p:cNvSpPr/>
          <p:nvPr/>
        </p:nvSpPr>
        <p:spPr>
          <a:xfrm>
            <a:off x="1581912" y="4352544"/>
            <a:ext cx="219456" cy="219456"/>
          </a:xfrm>
          <a:prstGeom prst="rect">
            <a:avLst/>
          </a:prstGeom>
          <a:solidFill>
            <a:srgbClr val="CEB4FF"/>
          </a:solidFill>
          <a:ln/>
        </p:spPr>
      </p:sp>
      <p:sp>
        <p:nvSpPr>
          <p:cNvPr id="12" name="Shape 10"/>
          <p:cNvSpPr/>
          <p:nvPr/>
        </p:nvSpPr>
        <p:spPr>
          <a:xfrm>
            <a:off x="1865376" y="4352544"/>
            <a:ext cx="219456" cy="219456"/>
          </a:xfrm>
          <a:prstGeom prst="rect">
            <a:avLst/>
          </a:prstGeom>
          <a:solidFill>
            <a:srgbClr val="E0D2FD"/>
          </a:solidFill>
          <a:ln/>
        </p:spPr>
      </p:sp>
      <p:sp>
        <p:nvSpPr>
          <p:cNvPr id="13" name="Shape 11"/>
          <p:cNvSpPr/>
          <p:nvPr/>
        </p:nvSpPr>
        <p:spPr>
          <a:xfrm>
            <a:off x="2148840" y="4352544"/>
            <a:ext cx="219456" cy="219456"/>
          </a:xfrm>
          <a:prstGeom prst="rect">
            <a:avLst/>
          </a:prstGeom>
          <a:solidFill>
            <a:srgbClr val="CEB4FF"/>
          </a:solidFill>
          <a:ln/>
        </p:spPr>
      </p:sp>
      <p:sp>
        <p:nvSpPr>
          <p:cNvPr id="14" name="Shape 12"/>
          <p:cNvSpPr/>
          <p:nvPr/>
        </p:nvSpPr>
        <p:spPr>
          <a:xfrm>
            <a:off x="1014984" y="4636008"/>
            <a:ext cx="219456" cy="219456"/>
          </a:xfrm>
          <a:prstGeom prst="rect">
            <a:avLst/>
          </a:prstGeom>
          <a:solidFill>
            <a:srgbClr val="6720FF"/>
          </a:solidFill>
          <a:ln/>
        </p:spPr>
      </p:sp>
      <p:sp>
        <p:nvSpPr>
          <p:cNvPr id="15" name="Shape 13"/>
          <p:cNvSpPr/>
          <p:nvPr/>
        </p:nvSpPr>
        <p:spPr>
          <a:xfrm>
            <a:off x="1298448" y="4636008"/>
            <a:ext cx="219456" cy="219456"/>
          </a:xfrm>
          <a:prstGeom prst="rect">
            <a:avLst/>
          </a:prstGeom>
          <a:solidFill>
            <a:srgbClr val="CEB4FF"/>
          </a:solidFill>
          <a:ln/>
        </p:spPr>
      </p:sp>
      <p:sp>
        <p:nvSpPr>
          <p:cNvPr id="16" name="Shape 14"/>
          <p:cNvSpPr/>
          <p:nvPr/>
        </p:nvSpPr>
        <p:spPr>
          <a:xfrm>
            <a:off x="1581912" y="4636008"/>
            <a:ext cx="219456" cy="219456"/>
          </a:xfrm>
          <a:prstGeom prst="rect">
            <a:avLst/>
          </a:prstGeom>
          <a:solidFill>
            <a:srgbClr val="E0D2FD"/>
          </a:solidFill>
          <a:ln/>
        </p:spPr>
      </p:sp>
      <p:sp>
        <p:nvSpPr>
          <p:cNvPr id="17" name="Shape 15"/>
          <p:cNvSpPr/>
          <p:nvPr/>
        </p:nvSpPr>
        <p:spPr>
          <a:xfrm>
            <a:off x="731520" y="4919472"/>
            <a:ext cx="219456" cy="219456"/>
          </a:xfrm>
          <a:prstGeom prst="rect">
            <a:avLst/>
          </a:prstGeom>
          <a:solidFill>
            <a:srgbClr val="6720FF"/>
          </a:solidFill>
          <a:ln/>
        </p:spPr>
      </p:sp>
      <p:sp>
        <p:nvSpPr>
          <p:cNvPr id="18" name="Shape 16"/>
          <p:cNvSpPr/>
          <p:nvPr/>
        </p:nvSpPr>
        <p:spPr>
          <a:xfrm>
            <a:off x="1014984" y="4919472"/>
            <a:ext cx="219456" cy="219456"/>
          </a:xfrm>
          <a:prstGeom prst="rect">
            <a:avLst/>
          </a:prstGeom>
          <a:solidFill>
            <a:srgbClr val="CEB4FF"/>
          </a:solidFill>
          <a:ln/>
        </p:spPr>
      </p:sp>
      <p:sp>
        <p:nvSpPr>
          <p:cNvPr id="19" name="Shape 17"/>
          <p:cNvSpPr/>
          <p:nvPr/>
        </p:nvSpPr>
        <p:spPr>
          <a:xfrm>
            <a:off x="1298448" y="4919472"/>
            <a:ext cx="219456" cy="219456"/>
          </a:xfrm>
          <a:prstGeom prst="rect">
            <a:avLst/>
          </a:prstGeom>
          <a:solidFill>
            <a:srgbClr val="E0D2FD"/>
          </a:solidFill>
          <a:ln/>
        </p:spPr>
      </p:sp>
      <p:sp>
        <p:nvSpPr>
          <p:cNvPr id="20" name="Text 18"/>
          <p:cNvSpPr txBox="1"/>
          <p:nvPr/>
        </p:nvSpPr>
        <p:spPr>
          <a:xfrm>
            <a:off x="5303520" y="1005840"/>
            <a:ext cx="3657600" cy="219456"/>
          </a:xfrm>
          <a:prstGeom prst="rect">
            <a:avLst/>
          </a:prstGeom>
          <a:noFill/>
          <a:ln/>
        </p:spPr>
        <p:txBody>
          <a:bodyPr wrap="square" lIns="0" tIns="0" rIns="0" bIns="0" rtlCol="0" anchor="t"/>
          <a:lstStyle/>
          <a:p>
            <a:pPr marL="0" indent="0">
              <a:buNone/>
            </a:pPr>
            <a:r>
              <a:rPr lang="en-US" sz="1100" dirty="0">
                <a:solidFill>
                  <a:srgbClr val="501BC4"/>
                </a:solidFill>
                <a:latin typeface="Inter Medium" pitchFamily="34" charset="0"/>
                <a:ea typeface="Inter Medium" pitchFamily="34" charset="-122"/>
                <a:cs typeface="Inter Medium" pitchFamily="34" charset="-120"/>
              </a:rPr>
              <a:t>Joint next actions</a:t>
            </a:r>
            <a:endParaRPr lang="en-US" sz="1100" dirty="0"/>
          </a:p>
        </p:txBody>
      </p:sp>
      <p:sp>
        <p:nvSpPr>
          <p:cNvPr id="21" name="Shape 19"/>
          <p:cNvSpPr/>
          <p:nvPr/>
        </p:nvSpPr>
        <p:spPr>
          <a:xfrm>
            <a:off x="5303520" y="1371600"/>
            <a:ext cx="6156655" cy="3767328"/>
          </a:xfrm>
          <a:prstGeom prst="roundRect">
            <a:avLst>
              <a:gd name="adj" fmla="val 2913"/>
            </a:avLst>
          </a:prstGeom>
          <a:solidFill>
            <a:srgbClr val="FFFFFF"/>
          </a:solidFill>
          <a:ln/>
        </p:spPr>
      </p:sp>
      <p:sp>
        <p:nvSpPr>
          <p:cNvPr id="22" name="Shape 20"/>
          <p:cNvSpPr/>
          <p:nvPr/>
        </p:nvSpPr>
        <p:spPr>
          <a:xfrm>
            <a:off x="5303520" y="1371600"/>
            <a:ext cx="6156655" cy="365760"/>
          </a:xfrm>
          <a:prstGeom prst="round2SameRect">
            <a:avLst/>
          </a:prstGeom>
          <a:solidFill>
            <a:srgbClr val="FAF7FF"/>
          </a:solidFill>
          <a:ln/>
        </p:spPr>
      </p:sp>
      <p:sp>
        <p:nvSpPr>
          <p:cNvPr id="23" name="Shape 21"/>
          <p:cNvSpPr/>
          <p:nvPr/>
        </p:nvSpPr>
        <p:spPr>
          <a:xfrm>
            <a:off x="5303520" y="1737360"/>
            <a:ext cx="6156655" cy="0"/>
          </a:xfrm>
          <a:prstGeom prst="line">
            <a:avLst/>
          </a:prstGeom>
          <a:noFill/>
          <a:ln w="9525">
            <a:solidFill>
              <a:srgbClr val="E6EAF4"/>
            </a:solidFill>
            <a:prstDash val="solid"/>
          </a:ln>
        </p:spPr>
      </p:sp>
      <p:sp>
        <p:nvSpPr>
          <p:cNvPr id="24" name="Text 22"/>
          <p:cNvSpPr txBox="1"/>
          <p:nvPr/>
        </p:nvSpPr>
        <p:spPr>
          <a:xfrm>
            <a:off x="5486400" y="1371600"/>
            <a:ext cx="3200400" cy="365760"/>
          </a:xfrm>
          <a:prstGeom prst="rect">
            <a:avLst/>
          </a:prstGeom>
          <a:noFill/>
          <a:ln/>
        </p:spPr>
        <p:txBody>
          <a:bodyPr wrap="square" lIns="0" tIns="0" rIns="0" bIns="0" rtlCol="0" anchor="ctr"/>
          <a:lstStyle/>
          <a:p>
            <a:pPr marL="0" indent="0">
              <a:buNone/>
            </a:pPr>
            <a:r>
              <a:rPr lang="en-US" sz="950" dirty="0">
                <a:solidFill>
                  <a:srgbClr val="5A5E63"/>
                </a:solidFill>
                <a:latin typeface="Inter Medium" pitchFamily="34" charset="0"/>
                <a:ea typeface="Inter Medium" pitchFamily="34" charset="-122"/>
                <a:cs typeface="Inter Medium" pitchFamily="34" charset="-120"/>
              </a:rPr>
              <a:t>Action</a:t>
            </a:r>
            <a:endParaRPr lang="en-US" sz="950" dirty="0"/>
          </a:p>
        </p:txBody>
      </p:sp>
      <p:sp>
        <p:nvSpPr>
          <p:cNvPr id="25" name="Text 23"/>
          <p:cNvSpPr txBox="1"/>
          <p:nvPr/>
        </p:nvSpPr>
        <p:spPr>
          <a:xfrm>
            <a:off x="8823960" y="1371600"/>
            <a:ext cx="1783080" cy="365760"/>
          </a:xfrm>
          <a:prstGeom prst="rect">
            <a:avLst/>
          </a:prstGeom>
          <a:noFill/>
          <a:ln/>
        </p:spPr>
        <p:txBody>
          <a:bodyPr wrap="square" lIns="0" tIns="0" rIns="0" bIns="0" rtlCol="0" anchor="ctr"/>
          <a:lstStyle/>
          <a:p>
            <a:pPr marL="0" indent="0">
              <a:buNone/>
            </a:pPr>
            <a:r>
              <a:rPr lang="en-US" sz="950" dirty="0">
                <a:solidFill>
                  <a:srgbClr val="5A5E63"/>
                </a:solidFill>
                <a:latin typeface="Inter Medium" pitchFamily="34" charset="0"/>
                <a:ea typeface="Inter Medium" pitchFamily="34" charset="-122"/>
                <a:cs typeface="Inter Medium" pitchFamily="34" charset="-120"/>
              </a:rPr>
              <a:t>Owner</a:t>
            </a:r>
            <a:endParaRPr lang="en-US" sz="950" dirty="0"/>
          </a:p>
        </p:txBody>
      </p:sp>
      <p:sp>
        <p:nvSpPr>
          <p:cNvPr id="26" name="Text 24"/>
          <p:cNvSpPr txBox="1"/>
          <p:nvPr/>
        </p:nvSpPr>
        <p:spPr>
          <a:xfrm>
            <a:off x="10618927" y="1371600"/>
            <a:ext cx="731520" cy="365760"/>
          </a:xfrm>
          <a:prstGeom prst="rect">
            <a:avLst/>
          </a:prstGeom>
          <a:noFill/>
          <a:ln/>
        </p:spPr>
        <p:txBody>
          <a:bodyPr wrap="square" lIns="0" tIns="0" rIns="0" bIns="0" rtlCol="0" anchor="ctr"/>
          <a:lstStyle/>
          <a:p>
            <a:pPr marL="0" indent="0">
              <a:buNone/>
            </a:pPr>
            <a:r>
              <a:rPr lang="en-US" sz="950" dirty="0">
                <a:solidFill>
                  <a:srgbClr val="5A5E63"/>
                </a:solidFill>
                <a:latin typeface="Inter Medium" pitchFamily="34" charset="0"/>
                <a:ea typeface="Inter Medium" pitchFamily="34" charset="-122"/>
                <a:cs typeface="Inter Medium" pitchFamily="34" charset="-120"/>
              </a:rPr>
              <a:t>Due</a:t>
            </a:r>
            <a:endParaRPr lang="en-US" sz="950" dirty="0"/>
          </a:p>
        </p:txBody>
      </p:sp>
      <p:sp>
        <p:nvSpPr>
          <p:cNvPr id="27" name="Text 25"/>
          <p:cNvSpPr txBox="1"/>
          <p:nvPr/>
        </p:nvSpPr>
        <p:spPr>
          <a:xfrm>
            <a:off x="5486400" y="1737360"/>
            <a:ext cx="3200400" cy="566928"/>
          </a:xfrm>
          <a:prstGeom prst="rect">
            <a:avLst/>
          </a:prstGeom>
          <a:noFill/>
          <a:ln/>
        </p:spPr>
        <p:txBody>
          <a:bodyPr wrap="square" lIns="0" tIns="0" rIns="0" bIns="0" rtlCol="0" anchor="ctr"/>
          <a:lstStyle/>
          <a:p>
            <a:pPr marL="0" indent="0">
              <a:buNone/>
            </a:pPr>
            <a:r>
              <a:rPr lang="en-US" sz="1050" dirty="0">
                <a:solidFill>
                  <a:srgbClr val="16181D"/>
                </a:solidFill>
                <a:latin typeface="Inter" pitchFamily="34" charset="0"/>
                <a:ea typeface="Inter" pitchFamily="34" charset="-122"/>
                <a:cs typeface="Inter" pitchFamily="34" charset="-120"/>
              </a:rPr>
              <a:t>Retune scale-up thresholds and agree a pre-warm runbook for planned promotions</a:t>
            </a:r>
            <a:endParaRPr lang="en-US" sz="1050" dirty="0"/>
          </a:p>
        </p:txBody>
      </p:sp>
      <p:sp>
        <p:nvSpPr>
          <p:cNvPr id="28" name="Text 26"/>
          <p:cNvSpPr txBox="1"/>
          <p:nvPr/>
        </p:nvSpPr>
        <p:spPr>
          <a:xfrm>
            <a:off x="8823960" y="1737360"/>
            <a:ext cx="1783080" cy="566928"/>
          </a:xfrm>
          <a:prstGeom prst="rect">
            <a:avLst/>
          </a:prstGeom>
          <a:noFill/>
          <a:ln/>
        </p:spPr>
        <p:txBody>
          <a:bodyPr wrap="square" lIns="0" tIns="0" rIns="0" bIns="0" rtlCol="0" anchor="ctr"/>
          <a:lstStyle/>
          <a:p>
            <a:pPr marL="0" indent="0">
              <a:buNone/>
            </a:pPr>
            <a:r>
              <a:rPr lang="en-US" sz="900" dirty="0">
                <a:solidFill>
                  <a:srgbClr val="5A5E63"/>
                </a:solidFill>
                <a:latin typeface="Inter" pitchFamily="34" charset="0"/>
                <a:ea typeface="Inter" pitchFamily="34" charset="-122"/>
                <a:cs typeface="Inter" pitchFamily="34" charset="-120"/>
              </a:rPr>
              <a:t>Fireworks Engineering + Northstar CX operations</a:t>
            </a:r>
            <a:endParaRPr lang="en-US" sz="900" dirty="0"/>
          </a:p>
        </p:txBody>
      </p:sp>
      <p:sp>
        <p:nvSpPr>
          <p:cNvPr id="29" name="Text 27"/>
          <p:cNvSpPr txBox="1"/>
          <p:nvPr/>
        </p:nvSpPr>
        <p:spPr>
          <a:xfrm>
            <a:off x="10618927" y="1737360"/>
            <a:ext cx="731520" cy="566928"/>
          </a:xfrm>
          <a:prstGeom prst="rect">
            <a:avLst/>
          </a:prstGeom>
          <a:noFill/>
          <a:ln/>
        </p:spPr>
        <p:txBody>
          <a:bodyPr wrap="square" lIns="0" tIns="0" rIns="0" bIns="0" rtlCol="0" anchor="ctr"/>
          <a:lstStyle/>
          <a:p>
            <a:pPr marL="0" indent="0">
              <a:buNone/>
            </a:pPr>
            <a:r>
              <a:rPr lang="en-US" sz="1050" dirty="0">
                <a:solidFill>
                  <a:srgbClr val="16181D"/>
                </a:solidFill>
                <a:latin typeface="Inter Medium" pitchFamily="34" charset="0"/>
                <a:ea typeface="Inter Medium" pitchFamily="34" charset="-122"/>
                <a:cs typeface="Inter Medium" pitchFamily="34" charset="-120"/>
              </a:rPr>
              <a:t>16 Oct</a:t>
            </a:r>
            <a:endParaRPr lang="en-US" sz="1050" dirty="0"/>
          </a:p>
        </p:txBody>
      </p:sp>
      <p:sp>
        <p:nvSpPr>
          <p:cNvPr id="30" name="Shape 28"/>
          <p:cNvSpPr/>
          <p:nvPr/>
        </p:nvSpPr>
        <p:spPr>
          <a:xfrm>
            <a:off x="5303520" y="2304288"/>
            <a:ext cx="6156655" cy="0"/>
          </a:xfrm>
          <a:prstGeom prst="line">
            <a:avLst/>
          </a:prstGeom>
          <a:noFill/>
          <a:ln w="9525">
            <a:solidFill>
              <a:srgbClr val="E6EAF4"/>
            </a:solidFill>
            <a:prstDash val="solid"/>
          </a:ln>
        </p:spPr>
      </p:sp>
      <p:sp>
        <p:nvSpPr>
          <p:cNvPr id="31" name="Text 29"/>
          <p:cNvSpPr txBox="1"/>
          <p:nvPr/>
        </p:nvSpPr>
        <p:spPr>
          <a:xfrm>
            <a:off x="5486400" y="2304288"/>
            <a:ext cx="3200400" cy="566928"/>
          </a:xfrm>
          <a:prstGeom prst="rect">
            <a:avLst/>
          </a:prstGeom>
          <a:noFill/>
          <a:ln/>
        </p:spPr>
        <p:txBody>
          <a:bodyPr wrap="square" lIns="0" tIns="0" rIns="0" bIns="0" rtlCol="0" anchor="ctr"/>
          <a:lstStyle/>
          <a:p>
            <a:pPr marL="0" indent="0">
              <a:buNone/>
            </a:pPr>
            <a:r>
              <a:rPr lang="en-US" sz="1050" dirty="0">
                <a:solidFill>
                  <a:srgbClr val="16181D"/>
                </a:solidFill>
                <a:latin typeface="Inter" pitchFamily="34" charset="0"/>
                <a:ea typeface="Inter" pitchFamily="34" charset="-122"/>
                <a:cs typeface="Inter" pitchFamily="34" charset="-120"/>
              </a:rPr>
              <a:t>Share pre-launch handle-time and CSAT baselines for Atlas</a:t>
            </a:r>
            <a:endParaRPr lang="en-US" sz="1050" dirty="0"/>
          </a:p>
        </p:txBody>
      </p:sp>
      <p:sp>
        <p:nvSpPr>
          <p:cNvPr id="32" name="Text 30"/>
          <p:cNvSpPr txBox="1"/>
          <p:nvPr/>
        </p:nvSpPr>
        <p:spPr>
          <a:xfrm>
            <a:off x="8823960" y="2304288"/>
            <a:ext cx="1783080" cy="566928"/>
          </a:xfrm>
          <a:prstGeom prst="rect">
            <a:avLst/>
          </a:prstGeom>
          <a:noFill/>
          <a:ln/>
        </p:spPr>
        <p:txBody>
          <a:bodyPr wrap="square" lIns="0" tIns="0" rIns="0" bIns="0" rtlCol="0" anchor="ctr"/>
          <a:lstStyle/>
          <a:p>
            <a:pPr marL="0" indent="0">
              <a:buNone/>
            </a:pPr>
            <a:r>
              <a:rPr lang="en-US" sz="900" dirty="0">
                <a:solidFill>
                  <a:srgbClr val="5A5E63"/>
                </a:solidFill>
                <a:latin typeface="Inter" pitchFamily="34" charset="0"/>
                <a:ea typeface="Inter" pitchFamily="34" charset="-122"/>
                <a:cs typeface="Inter" pitchFamily="34" charset="-120"/>
              </a:rPr>
              <a:t>Deployment Strategist + Northstar CX</a:t>
            </a:r>
            <a:endParaRPr lang="en-US" sz="900" dirty="0"/>
          </a:p>
        </p:txBody>
      </p:sp>
      <p:sp>
        <p:nvSpPr>
          <p:cNvPr id="33" name="Text 31"/>
          <p:cNvSpPr txBox="1"/>
          <p:nvPr/>
        </p:nvSpPr>
        <p:spPr>
          <a:xfrm>
            <a:off x="10618927" y="2304288"/>
            <a:ext cx="731520" cy="566928"/>
          </a:xfrm>
          <a:prstGeom prst="rect">
            <a:avLst/>
          </a:prstGeom>
          <a:noFill/>
          <a:ln/>
        </p:spPr>
        <p:txBody>
          <a:bodyPr wrap="square" lIns="0" tIns="0" rIns="0" bIns="0" rtlCol="0" anchor="ctr"/>
          <a:lstStyle/>
          <a:p>
            <a:pPr marL="0" indent="0">
              <a:buNone/>
            </a:pPr>
            <a:r>
              <a:rPr lang="en-US" sz="1050" dirty="0">
                <a:solidFill>
                  <a:srgbClr val="16181D"/>
                </a:solidFill>
                <a:latin typeface="Inter Medium" pitchFamily="34" charset="0"/>
                <a:ea typeface="Inter Medium" pitchFamily="34" charset="-122"/>
                <a:cs typeface="Inter Medium" pitchFamily="34" charset="-120"/>
              </a:rPr>
              <a:t>16 Oct</a:t>
            </a:r>
            <a:endParaRPr lang="en-US" sz="1050" dirty="0"/>
          </a:p>
        </p:txBody>
      </p:sp>
      <p:sp>
        <p:nvSpPr>
          <p:cNvPr id="34" name="Shape 32"/>
          <p:cNvSpPr/>
          <p:nvPr/>
        </p:nvSpPr>
        <p:spPr>
          <a:xfrm>
            <a:off x="5303520" y="2871216"/>
            <a:ext cx="6156655" cy="0"/>
          </a:xfrm>
          <a:prstGeom prst="line">
            <a:avLst/>
          </a:prstGeom>
          <a:noFill/>
          <a:ln w="9525">
            <a:solidFill>
              <a:srgbClr val="E6EAF4"/>
            </a:solidFill>
            <a:prstDash val="solid"/>
          </a:ln>
        </p:spPr>
      </p:sp>
      <p:sp>
        <p:nvSpPr>
          <p:cNvPr id="35" name="Text 33"/>
          <p:cNvSpPr txBox="1"/>
          <p:nvPr/>
        </p:nvSpPr>
        <p:spPr>
          <a:xfrm>
            <a:off x="5486400" y="2871216"/>
            <a:ext cx="3200400" cy="566928"/>
          </a:xfrm>
          <a:prstGeom prst="rect">
            <a:avLst/>
          </a:prstGeom>
          <a:noFill/>
          <a:ln/>
        </p:spPr>
        <p:txBody>
          <a:bodyPr wrap="square" lIns="0" tIns="0" rIns="0" bIns="0" rtlCol="0" anchor="ctr"/>
          <a:lstStyle/>
          <a:p>
            <a:pPr marL="0" indent="0">
              <a:buNone/>
            </a:pPr>
            <a:r>
              <a:rPr lang="en-US" sz="1050" dirty="0">
                <a:solidFill>
                  <a:srgbClr val="16181D"/>
                </a:solidFill>
                <a:latin typeface="Inter" pitchFamily="34" charset="0"/>
                <a:ea typeface="Inter" pitchFamily="34" charset="-122"/>
                <a:cs typeface="Inter" pitchFamily="34" charset="-120"/>
              </a:rPr>
              <a:t>Executive review: agree a group sponsor, the Ridgeline pilot and its success criteria</a:t>
            </a:r>
            <a:endParaRPr lang="en-US" sz="1050" dirty="0"/>
          </a:p>
        </p:txBody>
      </p:sp>
      <p:sp>
        <p:nvSpPr>
          <p:cNvPr id="36" name="Text 34"/>
          <p:cNvSpPr txBox="1"/>
          <p:nvPr/>
        </p:nvSpPr>
        <p:spPr>
          <a:xfrm>
            <a:off x="8823960" y="2871216"/>
            <a:ext cx="1783080" cy="566928"/>
          </a:xfrm>
          <a:prstGeom prst="rect">
            <a:avLst/>
          </a:prstGeom>
          <a:noFill/>
          <a:ln/>
        </p:spPr>
        <p:txBody>
          <a:bodyPr wrap="square" lIns="0" tIns="0" rIns="0" bIns="0" rtlCol="0" anchor="ctr"/>
          <a:lstStyle/>
          <a:p>
            <a:pPr marL="0" indent="0">
              <a:buNone/>
            </a:pPr>
            <a:r>
              <a:rPr lang="en-US" sz="900" dirty="0">
                <a:solidFill>
                  <a:srgbClr val="5A5E63"/>
                </a:solidFill>
                <a:latin typeface="Inter" pitchFamily="34" charset="0"/>
                <a:ea typeface="Inter" pitchFamily="34" charset="-122"/>
                <a:cs typeface="Inter" pitchFamily="34" charset="-120"/>
              </a:rPr>
              <a:t>Deployment Strategist + Account Executive</a:t>
            </a:r>
            <a:endParaRPr lang="en-US" sz="900" dirty="0"/>
          </a:p>
        </p:txBody>
      </p:sp>
      <p:sp>
        <p:nvSpPr>
          <p:cNvPr id="37" name="Text 35"/>
          <p:cNvSpPr txBox="1"/>
          <p:nvPr/>
        </p:nvSpPr>
        <p:spPr>
          <a:xfrm>
            <a:off x="10618927" y="2871216"/>
            <a:ext cx="731520" cy="566928"/>
          </a:xfrm>
          <a:prstGeom prst="rect">
            <a:avLst/>
          </a:prstGeom>
          <a:noFill/>
          <a:ln/>
        </p:spPr>
        <p:txBody>
          <a:bodyPr wrap="square" lIns="0" tIns="0" rIns="0" bIns="0" rtlCol="0" anchor="ctr"/>
          <a:lstStyle/>
          <a:p>
            <a:pPr marL="0" indent="0">
              <a:buNone/>
            </a:pPr>
            <a:r>
              <a:rPr lang="en-US" sz="1050" dirty="0">
                <a:solidFill>
                  <a:srgbClr val="16181D"/>
                </a:solidFill>
                <a:latin typeface="Inter Medium" pitchFamily="34" charset="0"/>
                <a:ea typeface="Inter Medium" pitchFamily="34" charset="-122"/>
                <a:cs typeface="Inter Medium" pitchFamily="34" charset="-120"/>
              </a:rPr>
              <a:t>22 Oct</a:t>
            </a:r>
            <a:endParaRPr lang="en-US" sz="1050" dirty="0"/>
          </a:p>
        </p:txBody>
      </p:sp>
      <p:sp>
        <p:nvSpPr>
          <p:cNvPr id="38" name="Shape 36"/>
          <p:cNvSpPr/>
          <p:nvPr/>
        </p:nvSpPr>
        <p:spPr>
          <a:xfrm>
            <a:off x="5303520" y="3438144"/>
            <a:ext cx="6156655" cy="0"/>
          </a:xfrm>
          <a:prstGeom prst="line">
            <a:avLst/>
          </a:prstGeom>
          <a:noFill/>
          <a:ln w="9525">
            <a:solidFill>
              <a:srgbClr val="E6EAF4"/>
            </a:solidFill>
            <a:prstDash val="solid"/>
          </a:ln>
        </p:spPr>
      </p:sp>
      <p:sp>
        <p:nvSpPr>
          <p:cNvPr id="39" name="Text 37"/>
          <p:cNvSpPr txBox="1"/>
          <p:nvPr/>
        </p:nvSpPr>
        <p:spPr>
          <a:xfrm>
            <a:off x="5486400" y="3438144"/>
            <a:ext cx="3200400" cy="566928"/>
          </a:xfrm>
          <a:prstGeom prst="rect">
            <a:avLst/>
          </a:prstGeom>
          <a:noFill/>
          <a:ln/>
        </p:spPr>
        <p:txBody>
          <a:bodyPr wrap="square" lIns="0" tIns="0" rIns="0" bIns="0" rtlCol="0" anchor="ctr"/>
          <a:lstStyle/>
          <a:p>
            <a:pPr marL="0" indent="0">
              <a:buNone/>
            </a:pPr>
            <a:r>
              <a:rPr lang="en-US" sz="1050" dirty="0">
                <a:solidFill>
                  <a:srgbClr val="16181D"/>
                </a:solidFill>
                <a:latin typeface="Inter" pitchFamily="34" charset="0"/>
                <a:ea typeface="Inter" pitchFamily="34" charset="-122"/>
                <a:cs typeface="Inter" pitchFamily="34" charset="-120"/>
              </a:rPr>
              <a:t>Joint review of rising requests per ticket (4.6 → 6.2)</a:t>
            </a:r>
            <a:endParaRPr lang="en-US" sz="1050" dirty="0"/>
          </a:p>
        </p:txBody>
      </p:sp>
      <p:sp>
        <p:nvSpPr>
          <p:cNvPr id="40" name="Text 38"/>
          <p:cNvSpPr txBox="1"/>
          <p:nvPr/>
        </p:nvSpPr>
        <p:spPr>
          <a:xfrm>
            <a:off x="8823960" y="3438144"/>
            <a:ext cx="1783080" cy="566928"/>
          </a:xfrm>
          <a:prstGeom prst="rect">
            <a:avLst/>
          </a:prstGeom>
          <a:noFill/>
          <a:ln/>
        </p:spPr>
        <p:txBody>
          <a:bodyPr wrap="square" lIns="0" tIns="0" rIns="0" bIns="0" rtlCol="0" anchor="ctr"/>
          <a:lstStyle/>
          <a:p>
            <a:pPr marL="0" indent="0">
              <a:buNone/>
            </a:pPr>
            <a:r>
              <a:rPr lang="en-US" sz="900" dirty="0">
                <a:solidFill>
                  <a:srgbClr val="5A5E63"/>
                </a:solidFill>
                <a:latin typeface="Inter" pitchFamily="34" charset="0"/>
                <a:ea typeface="Inter" pitchFamily="34" charset="-122"/>
                <a:cs typeface="Inter" pitchFamily="34" charset="-120"/>
              </a:rPr>
              <a:t>Deployment Strategist + Northstar Engineering</a:t>
            </a:r>
            <a:endParaRPr lang="en-US" sz="900" dirty="0"/>
          </a:p>
        </p:txBody>
      </p:sp>
      <p:sp>
        <p:nvSpPr>
          <p:cNvPr id="41" name="Text 39"/>
          <p:cNvSpPr txBox="1"/>
          <p:nvPr/>
        </p:nvSpPr>
        <p:spPr>
          <a:xfrm>
            <a:off x="10618927" y="3438144"/>
            <a:ext cx="731520" cy="566928"/>
          </a:xfrm>
          <a:prstGeom prst="rect">
            <a:avLst/>
          </a:prstGeom>
          <a:noFill/>
          <a:ln/>
        </p:spPr>
        <p:txBody>
          <a:bodyPr wrap="square" lIns="0" tIns="0" rIns="0" bIns="0" rtlCol="0" anchor="ctr"/>
          <a:lstStyle/>
          <a:p>
            <a:pPr marL="0" indent="0">
              <a:buNone/>
            </a:pPr>
            <a:r>
              <a:rPr lang="en-US" sz="1050" dirty="0">
                <a:solidFill>
                  <a:srgbClr val="16181D"/>
                </a:solidFill>
                <a:latin typeface="Inter Medium" pitchFamily="34" charset="0"/>
                <a:ea typeface="Inter Medium" pitchFamily="34" charset="-122"/>
                <a:cs typeface="Inter Medium" pitchFamily="34" charset="-120"/>
              </a:rPr>
              <a:t>23 Oct</a:t>
            </a:r>
            <a:endParaRPr lang="en-US" sz="1050" dirty="0"/>
          </a:p>
        </p:txBody>
      </p:sp>
      <p:sp>
        <p:nvSpPr>
          <p:cNvPr id="42" name="Shape 40"/>
          <p:cNvSpPr/>
          <p:nvPr/>
        </p:nvSpPr>
        <p:spPr>
          <a:xfrm>
            <a:off x="5303520" y="4005072"/>
            <a:ext cx="6156655" cy="0"/>
          </a:xfrm>
          <a:prstGeom prst="line">
            <a:avLst/>
          </a:prstGeom>
          <a:noFill/>
          <a:ln w="9525">
            <a:solidFill>
              <a:srgbClr val="E6EAF4"/>
            </a:solidFill>
            <a:prstDash val="solid"/>
          </a:ln>
        </p:spPr>
      </p:sp>
      <p:sp>
        <p:nvSpPr>
          <p:cNvPr id="43" name="Text 41"/>
          <p:cNvSpPr txBox="1"/>
          <p:nvPr/>
        </p:nvSpPr>
        <p:spPr>
          <a:xfrm>
            <a:off x="5486400" y="4005072"/>
            <a:ext cx="3200400" cy="566928"/>
          </a:xfrm>
          <a:prstGeom prst="rect">
            <a:avLst/>
          </a:prstGeom>
          <a:noFill/>
          <a:ln/>
        </p:spPr>
        <p:txBody>
          <a:bodyPr wrap="square" lIns="0" tIns="0" rIns="0" bIns="0" rtlCol="0" anchor="ctr"/>
          <a:lstStyle/>
          <a:p>
            <a:pPr marL="0" indent="0">
              <a:buNone/>
            </a:pPr>
            <a:r>
              <a:rPr lang="en-US" sz="1050" dirty="0">
                <a:solidFill>
                  <a:srgbClr val="16181D"/>
                </a:solidFill>
                <a:latin typeface="Inter" pitchFamily="34" charset="0"/>
                <a:ea typeface="Inter" pitchFamily="34" charset="-122"/>
                <a:cs typeface="Inter" pitchFamily="34" charset="-120"/>
              </a:rPr>
              <a:t>Train the Ridgeline adapter and run the two-arm pilot</a:t>
            </a:r>
            <a:endParaRPr lang="en-US" sz="1050" dirty="0"/>
          </a:p>
        </p:txBody>
      </p:sp>
      <p:sp>
        <p:nvSpPr>
          <p:cNvPr id="44" name="Text 42"/>
          <p:cNvSpPr txBox="1"/>
          <p:nvPr/>
        </p:nvSpPr>
        <p:spPr>
          <a:xfrm>
            <a:off x="8823960" y="4005072"/>
            <a:ext cx="1783080" cy="566928"/>
          </a:xfrm>
          <a:prstGeom prst="rect">
            <a:avLst/>
          </a:prstGeom>
          <a:noFill/>
          <a:ln/>
        </p:spPr>
        <p:txBody>
          <a:bodyPr wrap="square" lIns="0" tIns="0" rIns="0" bIns="0" rtlCol="0" anchor="ctr"/>
          <a:lstStyle/>
          <a:p>
            <a:pPr marL="0" indent="0">
              <a:buNone/>
            </a:pPr>
            <a:r>
              <a:rPr lang="en-US" sz="900" dirty="0">
                <a:solidFill>
                  <a:srgbClr val="5A5E63"/>
                </a:solidFill>
                <a:latin typeface="Inter" pitchFamily="34" charset="0"/>
                <a:ea typeface="Inter" pitchFamily="34" charset="-122"/>
                <a:cs typeface="Inter" pitchFamily="34" charset="-120"/>
              </a:rPr>
              <a:t>Fireworks Applied ML + Northstar Engineering</a:t>
            </a:r>
            <a:endParaRPr lang="en-US" sz="900" dirty="0"/>
          </a:p>
        </p:txBody>
      </p:sp>
      <p:sp>
        <p:nvSpPr>
          <p:cNvPr id="45" name="Text 43"/>
          <p:cNvSpPr txBox="1"/>
          <p:nvPr/>
        </p:nvSpPr>
        <p:spPr>
          <a:xfrm>
            <a:off x="10618927" y="4005072"/>
            <a:ext cx="731520" cy="566928"/>
          </a:xfrm>
          <a:prstGeom prst="rect">
            <a:avLst/>
          </a:prstGeom>
          <a:noFill/>
          <a:ln/>
        </p:spPr>
        <p:txBody>
          <a:bodyPr wrap="square" lIns="0" tIns="0" rIns="0" bIns="0" rtlCol="0" anchor="ctr"/>
          <a:lstStyle/>
          <a:p>
            <a:pPr marL="0" indent="0">
              <a:buNone/>
            </a:pPr>
            <a:r>
              <a:rPr lang="en-US" sz="1050" dirty="0">
                <a:solidFill>
                  <a:srgbClr val="16181D"/>
                </a:solidFill>
                <a:latin typeface="Inter Medium" pitchFamily="34" charset="0"/>
                <a:ea typeface="Inter Medium" pitchFamily="34" charset="-122"/>
                <a:cs typeface="Inter Medium" pitchFamily="34" charset="-120"/>
              </a:rPr>
              <a:t>18 Dec</a:t>
            </a:r>
            <a:endParaRPr lang="en-US" sz="1050" dirty="0"/>
          </a:p>
        </p:txBody>
      </p:sp>
      <p:sp>
        <p:nvSpPr>
          <p:cNvPr id="46" name="Shape 44"/>
          <p:cNvSpPr/>
          <p:nvPr/>
        </p:nvSpPr>
        <p:spPr>
          <a:xfrm>
            <a:off x="5303520" y="4572000"/>
            <a:ext cx="6156655" cy="0"/>
          </a:xfrm>
          <a:prstGeom prst="line">
            <a:avLst/>
          </a:prstGeom>
          <a:noFill/>
          <a:ln w="9525">
            <a:solidFill>
              <a:srgbClr val="E6EAF4"/>
            </a:solidFill>
            <a:prstDash val="solid"/>
          </a:ln>
        </p:spPr>
      </p:sp>
      <p:sp>
        <p:nvSpPr>
          <p:cNvPr id="47" name="Text 45"/>
          <p:cNvSpPr txBox="1"/>
          <p:nvPr/>
        </p:nvSpPr>
        <p:spPr>
          <a:xfrm>
            <a:off x="5486400" y="4572000"/>
            <a:ext cx="3200400" cy="566928"/>
          </a:xfrm>
          <a:prstGeom prst="rect">
            <a:avLst/>
          </a:prstGeom>
          <a:noFill/>
          <a:ln/>
        </p:spPr>
        <p:txBody>
          <a:bodyPr wrap="square" lIns="0" tIns="0" rIns="0" bIns="0" rtlCol="0" anchor="ctr"/>
          <a:lstStyle/>
          <a:p>
            <a:pPr marL="0" indent="0">
              <a:buNone/>
            </a:pPr>
            <a:r>
              <a:rPr lang="en-US" sz="1050" dirty="0">
                <a:solidFill>
                  <a:srgbClr val="16181D"/>
                </a:solidFill>
                <a:latin typeface="Inter" pitchFamily="34" charset="0"/>
                <a:ea typeface="Inter" pitchFamily="34" charset="-122"/>
                <a:cs typeface="Inter" pitchFamily="34" charset="-120"/>
              </a:rPr>
              <a:t>Pilot readout and wave-2 decision</a:t>
            </a:r>
            <a:endParaRPr lang="en-US" sz="1050" dirty="0"/>
          </a:p>
        </p:txBody>
      </p:sp>
      <p:sp>
        <p:nvSpPr>
          <p:cNvPr id="48" name="Text 46"/>
          <p:cNvSpPr txBox="1"/>
          <p:nvPr/>
        </p:nvSpPr>
        <p:spPr>
          <a:xfrm>
            <a:off x="8823960" y="4572000"/>
            <a:ext cx="1783080" cy="566928"/>
          </a:xfrm>
          <a:prstGeom prst="rect">
            <a:avLst/>
          </a:prstGeom>
          <a:noFill/>
          <a:ln/>
        </p:spPr>
        <p:txBody>
          <a:bodyPr wrap="square" lIns="0" tIns="0" rIns="0" bIns="0" rtlCol="0" anchor="ctr"/>
          <a:lstStyle/>
          <a:p>
            <a:pPr marL="0" indent="0">
              <a:buNone/>
            </a:pPr>
            <a:r>
              <a:rPr lang="en-US" sz="900" dirty="0">
                <a:solidFill>
                  <a:srgbClr val="5A5E63"/>
                </a:solidFill>
                <a:latin typeface="Inter" pitchFamily="34" charset="0"/>
                <a:ea typeface="Inter" pitchFamily="34" charset="-122"/>
                <a:cs typeface="Inter" pitchFamily="34" charset="-120"/>
              </a:rPr>
              <a:t>Deployment Strategist + Northstar sponsor</a:t>
            </a:r>
            <a:endParaRPr lang="en-US" sz="900" dirty="0"/>
          </a:p>
        </p:txBody>
      </p:sp>
      <p:sp>
        <p:nvSpPr>
          <p:cNvPr id="49" name="Text 47"/>
          <p:cNvSpPr txBox="1"/>
          <p:nvPr/>
        </p:nvSpPr>
        <p:spPr>
          <a:xfrm>
            <a:off x="10618927" y="4572000"/>
            <a:ext cx="731520" cy="566928"/>
          </a:xfrm>
          <a:prstGeom prst="rect">
            <a:avLst/>
          </a:prstGeom>
          <a:noFill/>
          <a:ln/>
        </p:spPr>
        <p:txBody>
          <a:bodyPr wrap="square" lIns="0" tIns="0" rIns="0" bIns="0" rtlCol="0" anchor="ctr"/>
          <a:lstStyle/>
          <a:p>
            <a:pPr marL="0" indent="0">
              <a:buNone/>
            </a:pPr>
            <a:r>
              <a:rPr lang="en-US" sz="1050" dirty="0">
                <a:solidFill>
                  <a:srgbClr val="16181D"/>
                </a:solidFill>
                <a:latin typeface="Inter Medium" pitchFamily="34" charset="0"/>
                <a:ea typeface="Inter Medium" pitchFamily="34" charset="-122"/>
                <a:cs typeface="Inter Medium" pitchFamily="34" charset="-120"/>
              </a:rPr>
              <a:t>8 Jan 2027</a:t>
            </a:r>
            <a:endParaRPr lang="en-US" sz="1050" dirty="0"/>
          </a:p>
        </p:txBody>
      </p:sp>
      <p:sp>
        <p:nvSpPr>
          <p:cNvPr id="50" name="joint-next-actions"/>
          <p:cNvSpPr/>
          <p:nvPr/>
        </p:nvSpPr>
        <p:spPr>
          <a:xfrm>
            <a:off x="5303520" y="1371600"/>
            <a:ext cx="6156655" cy="3767328"/>
          </a:xfrm>
          <a:prstGeom prst="roundRect">
            <a:avLst>
              <a:gd name="adj" fmla="val 2913"/>
            </a:avLst>
          </a:prstGeom>
          <a:ln w="9525">
            <a:solidFill>
              <a:srgbClr val="E6EAF4"/>
            </a:solidFill>
            <a:prstDash val="solid"/>
          </a:ln>
        </p:spPr>
      </p:sp>
    </p:spTree>
  </p:cSld>
  <p:clrMapOvr>
    <a:masterClrMapping/>
  </p:clrMapOvr>
</p:sld>
</file>

<file path=ppt/theme/theme1.xml><?xml version="1.0" encoding="utf-8"?>
<a:theme xmlns:a="http://schemas.openxmlformats.org/drawingml/2006/main" name="Fireworks">
  <a:themeElements>
    <a:clrScheme name="Fireworks">
      <a:dk1>
        <a:srgbClr val="16181D"/>
      </a:dk1>
      <a:lt1>
        <a:srgbClr val="FFFFFF"/>
      </a:lt1>
      <a:dk2>
        <a:srgbClr val="28282E"/>
      </a:dk2>
      <a:lt2>
        <a:srgbClr val="FAF7FF"/>
      </a:lt2>
      <a:accent1>
        <a:srgbClr val="6720FF"/>
      </a:accent1>
      <a:accent2>
        <a:srgbClr val="1DA28F"/>
      </a:accent2>
      <a:accent3>
        <a:srgbClr val="1756FF"/>
      </a:accent3>
      <a:accent4>
        <a:srgbClr val="9D72FE"/>
      </a:accent4>
      <a:accent5>
        <a:srgbClr val="F14539"/>
      </a:accent5>
      <a:accent6>
        <a:srgbClr val="E8A127"/>
      </a:accent6>
      <a:hlink>
        <a:srgbClr val="6720FF"/>
      </a:hlink>
      <a:folHlink>
        <a:srgbClr val="501BC4"/>
      </a:folHlink>
    </a:clrScheme>
    <a:fontScheme name="Fireworks">
      <a:majorFont>
        <a:latin typeface="Inter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2363</Words>
  <Application>Microsoft Office PowerPoint</Application>
  <PresentationFormat>Widescreen</PresentationFormat>
  <Paragraphs>252</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Inter</vt:lpstr>
      <vt:lpstr>Inter Medium</vt:lpstr>
      <vt:lpstr>Consolas</vt:lpstr>
      <vt:lpstr>Fireworks</vt:lpstr>
      <vt:lpstr>PowerPoint Presentation</vt:lpstr>
      <vt:lpstr>Month one: Tier-1 automation reached 70% by the final week</vt:lpstr>
      <vt:lpstr>Operational health is 3.58 / 5, led by quality and outcomes</vt:lpstr>
      <vt:lpstr>Quality improved every week, and adoption is still rising</vt:lpstr>
      <vt:lpstr>Find the cause before buying capacity</vt:lpstr>
      <vt:lpstr>One base model, one adapter per brand, data kept apart</vt:lpstr>
      <vt:lpstr>Ridgeline pilot: two arms, criteria agreed up front</vt:lpstr>
      <vt:lpstr>From pilot to five brands by mid-2027</vt:lpstr>
      <vt:lpstr>The rollout must not stall at one brand</vt:lpstr>
      <vt:lpstr>PowerPoint Presentation</vt:lpstr>
    </vt:vector>
  </TitlesOfParts>
  <Company>Fireworks 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Northstar Retail Group — Atlas: Executive Business Review, October 2026</dc:title>
  <dc:subject>Month one results and the plan for four more brands</dc:subject>
  <dc:creator>Fireworks AI</dc:creator>
  <cp:lastModifiedBy>Abubakar Olafusi</cp:lastModifiedBy>
  <cp:revision>2</cp:revision>
  <dcterms:created xsi:type="dcterms:W3CDTF">2026-10-05T14:47:45Z</dcterms:created>
  <dcterms:modified xsi:type="dcterms:W3CDTF">2026-10-05T14:49:24Z</dcterms:modified>
</cp:coreProperties>
</file>